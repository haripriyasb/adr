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2" r:id="rId6"/>
    <p:sldId id="260" r:id="rId7"/>
    <p:sldId id="284" r:id="rId8"/>
    <p:sldId id="263" r:id="rId9"/>
    <p:sldId id="291" r:id="rId10"/>
    <p:sldId id="282" r:id="rId11"/>
    <p:sldId id="264" r:id="rId12"/>
    <p:sldId id="266" r:id="rId13"/>
    <p:sldId id="292" r:id="rId14"/>
    <p:sldId id="279" r:id="rId15"/>
    <p:sldId id="267" r:id="rId16"/>
    <p:sldId id="287" r:id="rId17"/>
    <p:sldId id="288" r:id="rId18"/>
    <p:sldId id="289" r:id="rId19"/>
    <p:sldId id="290" r:id="rId20"/>
    <p:sldId id="272" r:id="rId21"/>
    <p:sldId id="293" r:id="rId22"/>
    <p:sldId id="280" r:id="rId23"/>
    <p:sldId id="269" r:id="rId24"/>
    <p:sldId id="261" r:id="rId25"/>
    <p:sldId id="281" r:id="rId26"/>
    <p:sldId id="295" r:id="rId27"/>
    <p:sldId id="270" r:id="rId28"/>
    <p:sldId id="286" r:id="rId29"/>
    <p:sldId id="294" r:id="rId30"/>
    <p:sldId id="271" r:id="rId31"/>
    <p:sldId id="285" r:id="rId32"/>
    <p:sldId id="273" r:id="rId33"/>
    <p:sldId id="2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BD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34" d="100"/>
          <a:sy n="34" d="100"/>
        </p:scale>
        <p:origin x="1068" y="4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575A9-5056-4A15-A756-B4D33948FADF}"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25B77-6EB4-4B9D-AA80-95CB3C01051E}" type="slidenum">
              <a:rPr lang="en-US" smtClean="0"/>
              <a:t>‹#›</a:t>
            </a:fld>
            <a:endParaRPr lang="en-US"/>
          </a:p>
        </p:txBody>
      </p:sp>
    </p:spTree>
    <p:extLst>
      <p:ext uri="{BB962C8B-B14F-4D97-AF65-F5344CB8AC3E}">
        <p14:creationId xmlns:p14="http://schemas.microsoft.com/office/powerpoint/2010/main" val="945469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Today: why SQL Server recovery and rollback can take hours, how Accelerated Database Recovery makes them near-instant, and a live demo at the end.</a:t>
            </a:r>
          </a:p>
        </p:txBody>
      </p:sp>
      <p:sp>
        <p:nvSpPr>
          <p:cNvPr id="4" name="Slide Number Placeholder 3"/>
          <p:cNvSpPr>
            <a:spLocks noGrp="1"/>
          </p:cNvSpPr>
          <p:nvPr>
            <p:ph type="sldNum" sz="quarter" idx="5"/>
          </p:nvPr>
        </p:nvSpPr>
        <p:spPr/>
        <p:txBody>
          <a:bodyPr/>
          <a:lstStyle/>
          <a:p>
            <a:fld id="{58825B77-6EB4-4B9D-AA80-95CB3C01051E}" type="slidenum">
              <a:rPr lang="en-US" smtClean="0"/>
              <a:t>1</a:t>
            </a:fld>
            <a:endParaRPr lang="en-US"/>
          </a:p>
        </p:txBody>
      </p:sp>
    </p:spTree>
    <p:extLst>
      <p:ext uri="{BB962C8B-B14F-4D97-AF65-F5344CB8AC3E}">
        <p14:creationId xmlns:p14="http://schemas.microsoft.com/office/powerpoint/2010/main" val="270153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intro. Demo scripts and slides are on GitHub - link at the bottom.</a:t>
            </a:r>
          </a:p>
        </p:txBody>
      </p:sp>
      <p:sp>
        <p:nvSpPr>
          <p:cNvPr id="4" name="Slide Number Placeholder 3"/>
          <p:cNvSpPr>
            <a:spLocks noGrp="1"/>
          </p:cNvSpPr>
          <p:nvPr>
            <p:ph type="sldNum" sz="quarter" idx="5"/>
          </p:nvPr>
        </p:nvSpPr>
        <p:spPr/>
        <p:txBody>
          <a:bodyPr/>
          <a:lstStyle/>
          <a:p>
            <a:fld id="{58825B77-6EB4-4B9D-AA80-95CB3C01051E}" type="slidenum">
              <a:rPr lang="en-US" smtClean="0"/>
              <a:t>2</a:t>
            </a:fld>
            <a:endParaRPr lang="en-US"/>
          </a:p>
        </p:txBody>
      </p:sp>
    </p:spTree>
    <p:extLst>
      <p:ext uri="{BB962C8B-B14F-4D97-AF65-F5344CB8AC3E}">
        <p14:creationId xmlns:p14="http://schemas.microsoft.com/office/powerpoint/2010/main" val="809067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stops: the problem, what ADR is, how it works under the hood, the results, a live demo, and what you need to know to run it in production.</a:t>
            </a:r>
          </a:p>
        </p:txBody>
      </p:sp>
      <p:sp>
        <p:nvSpPr>
          <p:cNvPr id="4" name="Slide Number Placeholder 3"/>
          <p:cNvSpPr>
            <a:spLocks noGrp="1"/>
          </p:cNvSpPr>
          <p:nvPr>
            <p:ph type="sldNum" sz="quarter" idx="5"/>
          </p:nvPr>
        </p:nvSpPr>
        <p:spPr/>
        <p:txBody>
          <a:bodyPr/>
          <a:lstStyle/>
          <a:p>
            <a:fld id="{58825B77-6EB4-4B9D-AA80-95CB3C01051E}" type="slidenum">
              <a:rPr lang="en-US" smtClean="0"/>
              <a:t>3</a:t>
            </a:fld>
            <a:endParaRPr lang="en-US"/>
          </a:p>
        </p:txBody>
      </p:sp>
    </p:spTree>
    <p:extLst>
      <p:ext uri="{BB962C8B-B14F-4D97-AF65-F5344CB8AC3E}">
        <p14:creationId xmlns:p14="http://schemas.microsoft.com/office/powerpoint/2010/main" val="4231763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has cancelled a long-running query and then waited even longer for the rollback? Rollback takes about as long as the work itself. Microsoft's own paper describes a customer whose recovery took 12 hours, with the tables locked the entire time. Transition: to see why, let's look at how traditional recovery works.</a:t>
            </a:r>
          </a:p>
        </p:txBody>
      </p:sp>
      <p:sp>
        <p:nvSpPr>
          <p:cNvPr id="4" name="Slide Number Placeholder 3"/>
          <p:cNvSpPr>
            <a:spLocks noGrp="1"/>
          </p:cNvSpPr>
          <p:nvPr>
            <p:ph type="sldNum" sz="quarter" idx="5"/>
          </p:nvPr>
        </p:nvSpPr>
        <p:spPr/>
        <p:txBody>
          <a:bodyPr/>
          <a:lstStyle/>
          <a:p>
            <a:fld id="{58825B77-6EB4-4B9D-AA80-95CB3C01051E}" type="slidenum">
              <a:rPr lang="en-US" smtClean="0"/>
              <a:t>4</a:t>
            </a:fld>
            <a:endParaRPr lang="en-US"/>
          </a:p>
        </p:txBody>
      </p:sp>
    </p:spTree>
    <p:extLst>
      <p:ext uri="{BB962C8B-B14F-4D97-AF65-F5344CB8AC3E}">
        <p14:creationId xmlns:p14="http://schemas.microsoft.com/office/powerpoint/2010/main" val="89346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Classic ARIES recovery has three phases. Analysis scans forward from the last checkpoint. Redo replays from the oldest uncommitted transaction. Undo walks the log backward for every transaction that was still open. On Enterprise edition, fast recovery brings the database online after Redo, but anything the open transaction locked stays blocked until Undo finishes; on Standard, the whole database waits. Either way, the cost grows with your longest transaction, and the log can't be truncated past it. Transition: what if rollback didn't need the log at all?</a:t>
            </a:r>
            <a:endParaRPr lang="en-US" dirty="0"/>
          </a:p>
        </p:txBody>
      </p:sp>
      <p:sp>
        <p:nvSpPr>
          <p:cNvPr id="4" name="Slide Number Placeholder 3"/>
          <p:cNvSpPr>
            <a:spLocks noGrp="1"/>
          </p:cNvSpPr>
          <p:nvPr>
            <p:ph type="sldNum" sz="quarter" idx="5"/>
          </p:nvPr>
        </p:nvSpPr>
        <p:spPr/>
        <p:txBody>
          <a:bodyPr/>
          <a:lstStyle/>
          <a:p>
            <a:fld id="{58825B77-6EB4-4B9D-AA80-95CB3C01051E}" type="slidenum">
              <a:rPr lang="en-US" smtClean="0"/>
              <a:t>5</a:t>
            </a:fld>
            <a:endParaRPr lang="en-US"/>
          </a:p>
        </p:txBody>
      </p:sp>
    </p:spTree>
    <p:extLst>
      <p:ext uri="{BB962C8B-B14F-4D97-AF65-F5344CB8AC3E}">
        <p14:creationId xmlns:p14="http://schemas.microsoft.com/office/powerpoint/2010/main" val="3477586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ADR shipped in SQL Server 2019, Standard and Enterprise. It's off by default on SQL Server and always on in Azure SQL. The core idea fits in one sentence: keep row versions in the database, so rollback no longer has to walk the log. That delivers three things: fast, consistent recovery; instant rollback; and aggressive log truncation.</a:t>
            </a:r>
          </a:p>
        </p:txBody>
      </p:sp>
      <p:sp>
        <p:nvSpPr>
          <p:cNvPr id="4" name="Slide Number Placeholder 3"/>
          <p:cNvSpPr>
            <a:spLocks noGrp="1"/>
          </p:cNvSpPr>
          <p:nvPr>
            <p:ph type="sldNum" sz="quarter" idx="5"/>
          </p:nvPr>
        </p:nvSpPr>
        <p:spPr/>
        <p:txBody>
          <a:bodyPr/>
          <a:lstStyle/>
          <a:p>
            <a:fld id="{58825B77-6EB4-4B9D-AA80-95CB3C01051E}" type="slidenum">
              <a:rPr lang="en-US" smtClean="0"/>
              <a:t>6</a:t>
            </a:fld>
            <a:endParaRPr lang="en-US"/>
          </a:p>
        </p:txBody>
      </p:sp>
    </p:spTree>
    <p:extLst>
      <p:ext uri="{BB962C8B-B14F-4D97-AF65-F5344CB8AC3E}">
        <p14:creationId xmlns:p14="http://schemas.microsoft.com/office/powerpoint/2010/main" val="2842457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PVS keeps row versions inside the user database instead of tempdb. Versions are logged, so they survive a crash. Small changes are stored in-row as a diff; larger ones go to an internal off-row table.</a:t>
            </a:r>
          </a:p>
        </p:txBody>
      </p:sp>
      <p:sp>
        <p:nvSpPr>
          <p:cNvPr id="4" name="Slide Number Placeholder 3"/>
          <p:cNvSpPr>
            <a:spLocks noGrp="1"/>
          </p:cNvSpPr>
          <p:nvPr>
            <p:ph type="sldNum" sz="quarter" idx="5"/>
          </p:nvPr>
        </p:nvSpPr>
        <p:spPr/>
        <p:txBody>
          <a:bodyPr/>
          <a:lstStyle/>
          <a:p>
            <a:fld id="{58825B77-6EB4-4B9D-AA80-95CB3C01051E}" type="slidenum">
              <a:rPr lang="en-US" smtClean="0"/>
              <a:t>7</a:t>
            </a:fld>
            <a:endParaRPr lang="en-US"/>
          </a:p>
        </p:txBody>
      </p:sp>
    </p:spTree>
    <p:extLst>
      <p:ext uri="{BB962C8B-B14F-4D97-AF65-F5344CB8AC3E}">
        <p14:creationId xmlns:p14="http://schemas.microsoft.com/office/powerpoint/2010/main" val="2041377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Same idea as the tempdb version store used by RCSI and snapshot isolation - but persistent. With ADR on, that database's row versions go to PVS instead of tempdb.</a:t>
            </a:r>
          </a:p>
        </p:txBody>
      </p:sp>
      <p:sp>
        <p:nvSpPr>
          <p:cNvPr id="4" name="Slide Number Placeholder 3"/>
          <p:cNvSpPr>
            <a:spLocks noGrp="1"/>
          </p:cNvSpPr>
          <p:nvPr>
            <p:ph type="sldNum" sz="quarter" idx="5"/>
          </p:nvPr>
        </p:nvSpPr>
        <p:spPr/>
        <p:txBody>
          <a:bodyPr/>
          <a:lstStyle/>
          <a:p>
            <a:fld id="{58825B77-6EB4-4B9D-AA80-95CB3C01051E}" type="slidenum">
              <a:rPr lang="en-US" smtClean="0"/>
              <a:t>8</a:t>
            </a:fld>
            <a:endParaRPr lang="en-US"/>
          </a:p>
        </p:txBody>
      </p:sp>
    </p:spTree>
    <p:extLst>
      <p:ext uri="{BB962C8B-B14F-4D97-AF65-F5344CB8AC3E}">
        <p14:creationId xmlns:p14="http://schemas.microsoft.com/office/powerpoint/2010/main" val="743743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versions are logged, PVS replicates to secondaries automatically. Secondary queries always run under snapshot isolation. Watch out: a long-running query on a readable secondary holds back PVS cleanup on the primary.</a:t>
            </a:r>
          </a:p>
        </p:txBody>
      </p:sp>
      <p:sp>
        <p:nvSpPr>
          <p:cNvPr id="4" name="Slide Number Placeholder 3"/>
          <p:cNvSpPr>
            <a:spLocks noGrp="1"/>
          </p:cNvSpPr>
          <p:nvPr>
            <p:ph type="sldNum" sz="quarter" idx="5"/>
          </p:nvPr>
        </p:nvSpPr>
        <p:spPr/>
        <p:txBody>
          <a:bodyPr/>
          <a:lstStyle/>
          <a:p>
            <a:fld id="{58825B77-6EB4-4B9D-AA80-95CB3C01051E}" type="slidenum">
              <a:rPr lang="en-US" smtClean="0"/>
              <a:t>9</a:t>
            </a:fld>
            <a:endParaRPr lang="en-US"/>
          </a:p>
        </p:txBody>
      </p:sp>
    </p:spTree>
    <p:extLst>
      <p:ext uri="{BB962C8B-B14F-4D97-AF65-F5344CB8AC3E}">
        <p14:creationId xmlns:p14="http://schemas.microsoft.com/office/powerpoint/2010/main" val="1215082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Rollback becomes 'mark aborted'. Readers skip aborted versions and read the last committed one from PVS. A background task later copies the committed version back to the data page. Locks are released immediately. Small transactions still roll back the classic way from the log, because that takes milliseconds.</a:t>
            </a:r>
            <a:endParaRPr lang="en-US" dirty="0"/>
          </a:p>
        </p:txBody>
      </p:sp>
      <p:sp>
        <p:nvSpPr>
          <p:cNvPr id="4" name="Slide Number Placeholder 3"/>
          <p:cNvSpPr>
            <a:spLocks noGrp="1"/>
          </p:cNvSpPr>
          <p:nvPr>
            <p:ph type="sldNum" sz="quarter" idx="5"/>
          </p:nvPr>
        </p:nvSpPr>
        <p:spPr/>
        <p:txBody>
          <a:bodyPr/>
          <a:lstStyle/>
          <a:p>
            <a:fld id="{58825B77-6EB4-4B9D-AA80-95CB3C01051E}" type="slidenum">
              <a:rPr lang="en-US" smtClean="0"/>
              <a:t>10</a:t>
            </a:fld>
            <a:endParaRPr lang="en-US"/>
          </a:p>
        </p:txBody>
      </p:sp>
    </p:spTree>
    <p:extLst>
      <p:ext uri="{BB962C8B-B14F-4D97-AF65-F5344CB8AC3E}">
        <p14:creationId xmlns:p14="http://schemas.microsoft.com/office/powerpoint/2010/main" val="1834881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SLOG handles what can't be versioned: locks, cache invalidation, some metadata. It lives in memory and is saved at checkpoints. Example: altering a column on a huge table touches millions of rows but writes only a handful of SLOG records. Microsoft's diagrams spell it sLog - same thing.</a:t>
            </a:r>
          </a:p>
        </p:txBody>
      </p:sp>
      <p:sp>
        <p:nvSpPr>
          <p:cNvPr id="4" name="Slide Number Placeholder 3"/>
          <p:cNvSpPr>
            <a:spLocks noGrp="1"/>
          </p:cNvSpPr>
          <p:nvPr>
            <p:ph type="sldNum" sz="quarter" idx="5"/>
          </p:nvPr>
        </p:nvSpPr>
        <p:spPr/>
        <p:txBody>
          <a:bodyPr/>
          <a:lstStyle/>
          <a:p>
            <a:fld id="{58825B77-6EB4-4B9D-AA80-95CB3C01051E}" type="slidenum">
              <a:rPr lang="en-US" smtClean="0"/>
              <a:t>11</a:t>
            </a:fld>
            <a:endParaRPr lang="en-US"/>
          </a:p>
        </p:txBody>
      </p:sp>
    </p:spTree>
    <p:extLst>
      <p:ext uri="{BB962C8B-B14F-4D97-AF65-F5344CB8AC3E}">
        <p14:creationId xmlns:p14="http://schemas.microsoft.com/office/powerpoint/2010/main" val="2773420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cleaner runs every few minutes. It reverts rows from aborted transactions, then frees versions nobody needs. In SQL Server 2022 it can be multi-threaded. You can also trigger it manually.</a:t>
            </a:r>
          </a:p>
        </p:txBody>
      </p:sp>
      <p:sp>
        <p:nvSpPr>
          <p:cNvPr id="4" name="Slide Number Placeholder 3"/>
          <p:cNvSpPr>
            <a:spLocks noGrp="1"/>
          </p:cNvSpPr>
          <p:nvPr>
            <p:ph type="sldNum" sz="quarter" idx="5"/>
          </p:nvPr>
        </p:nvSpPr>
        <p:spPr/>
        <p:txBody>
          <a:bodyPr/>
          <a:lstStyle/>
          <a:p>
            <a:fld id="{58825B77-6EB4-4B9D-AA80-95CB3C01051E}" type="slidenum">
              <a:rPr lang="en-US" smtClean="0"/>
              <a:t>12</a:t>
            </a:fld>
            <a:endParaRPr lang="en-US"/>
          </a:p>
        </p:txBody>
      </p:sp>
    </p:spTree>
    <p:extLst>
      <p:ext uri="{BB962C8B-B14F-4D97-AF65-F5344CB8AC3E}">
        <p14:creationId xmlns:p14="http://schemas.microsoft.com/office/powerpoint/2010/main" val="4204249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that we've seen each piece, here's how they fit together - this is the mental model from Microsoft's paper. Data changes, the bulk of the work, are versioned in PVS. Internal operations like page allocations run in tiny system transactions that commit immediately. Only a small remainder can't be versioned; that goes to SLOG. That's why recovery no longer depends on transaction size.</a:t>
            </a:r>
          </a:p>
        </p:txBody>
      </p:sp>
      <p:sp>
        <p:nvSpPr>
          <p:cNvPr id="4" name="Slide Number Placeholder 3"/>
          <p:cNvSpPr>
            <a:spLocks noGrp="1"/>
          </p:cNvSpPr>
          <p:nvPr>
            <p:ph type="sldNum" sz="quarter" idx="5"/>
          </p:nvPr>
        </p:nvSpPr>
        <p:spPr/>
        <p:txBody>
          <a:bodyPr/>
          <a:lstStyle/>
          <a:p>
            <a:fld id="{58825B77-6EB4-4B9D-AA80-95CB3C01051E}" type="slidenum">
              <a:rPr lang="en-US" smtClean="0"/>
              <a:t>13</a:t>
            </a:fld>
            <a:endParaRPr lang="en-US"/>
          </a:p>
        </p:txBody>
      </p:sp>
    </p:spTree>
    <p:extLst>
      <p:ext uri="{BB962C8B-B14F-4D97-AF65-F5344CB8AC3E}">
        <p14:creationId xmlns:p14="http://schemas.microsoft.com/office/powerpoint/2010/main" val="1781501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One-line recap before we walk through recovery: version the data, log only what can't be versioned, mark failures as aborted, clean up later. (Optional: skip this slide if short on time.)</a:t>
            </a:r>
          </a:p>
        </p:txBody>
      </p:sp>
      <p:sp>
        <p:nvSpPr>
          <p:cNvPr id="4" name="Slide Number Placeholder 3"/>
          <p:cNvSpPr>
            <a:spLocks noGrp="1"/>
          </p:cNvSpPr>
          <p:nvPr>
            <p:ph type="sldNum" sz="quarter" idx="5"/>
          </p:nvPr>
        </p:nvSpPr>
        <p:spPr/>
        <p:txBody>
          <a:bodyPr/>
          <a:lstStyle/>
          <a:p>
            <a:fld id="{58825B77-6EB4-4B9D-AA80-95CB3C01051E}" type="slidenum">
              <a:rPr lang="en-US" smtClean="0"/>
              <a:t>14</a:t>
            </a:fld>
            <a:endParaRPr lang="en-US"/>
          </a:p>
        </p:txBody>
      </p:sp>
    </p:spTree>
    <p:extLst>
      <p:ext uri="{BB962C8B-B14F-4D97-AF65-F5344CB8AC3E}">
        <p14:creationId xmlns:p14="http://schemas.microsoft.com/office/powerpoint/2010/main" val="1357338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Same three phases as before - but each does very different work. Let's take them one at a time.</a:t>
            </a:r>
          </a:p>
        </p:txBody>
      </p:sp>
      <p:sp>
        <p:nvSpPr>
          <p:cNvPr id="4" name="Slide Number Placeholder 3"/>
          <p:cNvSpPr>
            <a:spLocks noGrp="1"/>
          </p:cNvSpPr>
          <p:nvPr>
            <p:ph type="sldNum" sz="quarter" idx="5"/>
          </p:nvPr>
        </p:nvSpPr>
        <p:spPr/>
        <p:txBody>
          <a:bodyPr/>
          <a:lstStyle/>
          <a:p>
            <a:fld id="{58825B77-6EB4-4B9D-AA80-95CB3C01051E}" type="slidenum">
              <a:rPr lang="en-US" smtClean="0"/>
              <a:t>15</a:t>
            </a:fld>
            <a:endParaRPr lang="en-US"/>
          </a:p>
        </p:txBody>
      </p:sp>
    </p:spTree>
    <p:extLst>
      <p:ext uri="{BB962C8B-B14F-4D97-AF65-F5344CB8AC3E}">
        <p14:creationId xmlns:p14="http://schemas.microsoft.com/office/powerpoint/2010/main" val="3190604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Analysis starts at the same place in both models: the last checkpoint. ADR additionally rebuilds SLOG and the list of aborted transactions.</a:t>
            </a:r>
          </a:p>
        </p:txBody>
      </p:sp>
      <p:sp>
        <p:nvSpPr>
          <p:cNvPr id="4" name="Slide Number Placeholder 3"/>
          <p:cNvSpPr>
            <a:spLocks noGrp="1"/>
          </p:cNvSpPr>
          <p:nvPr>
            <p:ph type="sldNum" sz="quarter" idx="5"/>
          </p:nvPr>
        </p:nvSpPr>
        <p:spPr/>
        <p:txBody>
          <a:bodyPr/>
          <a:lstStyle/>
          <a:p>
            <a:fld id="{58825B77-6EB4-4B9D-AA80-95CB3C01051E}" type="slidenum">
              <a:rPr lang="en-US" smtClean="0"/>
              <a:t>16</a:t>
            </a:fld>
            <a:endParaRPr lang="en-US"/>
          </a:p>
        </p:txBody>
      </p:sp>
    </p:spTree>
    <p:extLst>
      <p:ext uri="{BB962C8B-B14F-4D97-AF65-F5344CB8AC3E}">
        <p14:creationId xmlns:p14="http://schemas.microsoft.com/office/powerpoint/2010/main" val="3854467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first big difference. Traditional Redo reads the whole log back to the oldest open transaction. ADR replays only SLOG for that older range, then the log from the checkpoint. Checkpoints are frequent, so this is bounded.</a:t>
            </a:r>
          </a:p>
        </p:txBody>
      </p:sp>
      <p:sp>
        <p:nvSpPr>
          <p:cNvPr id="4" name="Slide Number Placeholder 3"/>
          <p:cNvSpPr>
            <a:spLocks noGrp="1"/>
          </p:cNvSpPr>
          <p:nvPr>
            <p:ph type="sldNum" sz="quarter" idx="5"/>
          </p:nvPr>
        </p:nvSpPr>
        <p:spPr/>
        <p:txBody>
          <a:bodyPr/>
          <a:lstStyle/>
          <a:p>
            <a:fld id="{58825B77-6EB4-4B9D-AA80-95CB3C01051E}" type="slidenum">
              <a:rPr lang="en-US" smtClean="0"/>
              <a:t>17</a:t>
            </a:fld>
            <a:endParaRPr lang="en-US"/>
          </a:p>
        </p:txBody>
      </p:sp>
    </p:spTree>
    <p:extLst>
      <p:ext uri="{BB962C8B-B14F-4D97-AF65-F5344CB8AC3E}">
        <p14:creationId xmlns:p14="http://schemas.microsoft.com/office/powerpoint/2010/main" val="300782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big difference. Traditional Undo walks backward through every operation of T1 - its rows stay locked the whole time, and on Standard edition the entire database waits. ADR marks T1 aborted, undoes the few SLOG records, and everything is available.</a:t>
            </a:r>
          </a:p>
        </p:txBody>
      </p:sp>
      <p:sp>
        <p:nvSpPr>
          <p:cNvPr id="4" name="Slide Number Placeholder 3"/>
          <p:cNvSpPr>
            <a:spLocks noGrp="1"/>
          </p:cNvSpPr>
          <p:nvPr>
            <p:ph type="sldNum" sz="quarter" idx="5"/>
          </p:nvPr>
        </p:nvSpPr>
        <p:spPr/>
        <p:txBody>
          <a:bodyPr/>
          <a:lstStyle/>
          <a:p>
            <a:fld id="{58825B77-6EB4-4B9D-AA80-95CB3C01051E}" type="slidenum">
              <a:rPr lang="en-US" smtClean="0"/>
              <a:t>18</a:t>
            </a:fld>
            <a:endParaRPr lang="en-US"/>
          </a:p>
        </p:txBody>
      </p:sp>
    </p:spTree>
    <p:extLst>
      <p:ext uri="{BB962C8B-B14F-4D97-AF65-F5344CB8AC3E}">
        <p14:creationId xmlns:p14="http://schemas.microsoft.com/office/powerpoint/2010/main" val="2167250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expensive work hasn't disappeared - it's moved off the critical path. Logical revert and the PVS cleaner run in the background while users are already working.</a:t>
            </a:r>
          </a:p>
        </p:txBody>
      </p:sp>
      <p:sp>
        <p:nvSpPr>
          <p:cNvPr id="4" name="Slide Number Placeholder 3"/>
          <p:cNvSpPr>
            <a:spLocks noGrp="1"/>
          </p:cNvSpPr>
          <p:nvPr>
            <p:ph type="sldNum" sz="quarter" idx="5"/>
          </p:nvPr>
        </p:nvSpPr>
        <p:spPr/>
        <p:txBody>
          <a:bodyPr/>
          <a:lstStyle/>
          <a:p>
            <a:fld id="{58825B77-6EB4-4B9D-AA80-95CB3C01051E}" type="slidenum">
              <a:rPr lang="en-US" smtClean="0"/>
              <a:t>19</a:t>
            </a:fld>
            <a:endParaRPr lang="en-US"/>
          </a:p>
        </p:txBody>
      </p:sp>
    </p:spTree>
    <p:extLst>
      <p:ext uri="{BB962C8B-B14F-4D97-AF65-F5344CB8AC3E}">
        <p14:creationId xmlns:p14="http://schemas.microsoft.com/office/powerpoint/2010/main" val="1128773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ADR component answers one problem from the traditional recovery slide. PVS and Logical Revert replace the backward log walk. SLOG handles the few things that can't be versioned and lets Redo skip the old part of the log. The Cleaner keeps versions from piling up. Let's take them one at a time.</a:t>
            </a:r>
          </a:p>
        </p:txBody>
      </p:sp>
      <p:sp>
        <p:nvSpPr>
          <p:cNvPr id="4" name="Slide Number Placeholder 3"/>
          <p:cNvSpPr>
            <a:spLocks noGrp="1"/>
          </p:cNvSpPr>
          <p:nvPr>
            <p:ph type="sldNum" sz="quarter" idx="5"/>
          </p:nvPr>
        </p:nvSpPr>
        <p:spPr/>
        <p:txBody>
          <a:bodyPr/>
          <a:lstStyle/>
          <a:p>
            <a:fld id="{58825B77-6EB4-4B9D-AA80-95CB3C01051E}" type="slidenum">
              <a:rPr lang="en-US" smtClean="0"/>
              <a:t>20</a:t>
            </a:fld>
            <a:endParaRPr lang="en-US"/>
          </a:p>
        </p:txBody>
      </p:sp>
    </p:spTree>
    <p:extLst>
      <p:ext uri="{BB962C8B-B14F-4D97-AF65-F5344CB8AC3E}">
        <p14:creationId xmlns:p14="http://schemas.microsoft.com/office/powerpoint/2010/main" val="78813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 numbers from Microsoft. Across three million Azure SQL databases, typical recovery barely changed, but the worst cases went from more than an hour to three minutes. In the lab, a 50-million-row transaction needed tens of GB of log without ADR and under 200 MB with it.</a:t>
            </a:r>
          </a:p>
        </p:txBody>
      </p:sp>
      <p:sp>
        <p:nvSpPr>
          <p:cNvPr id="4" name="Slide Number Placeholder 3"/>
          <p:cNvSpPr>
            <a:spLocks noGrp="1"/>
          </p:cNvSpPr>
          <p:nvPr>
            <p:ph type="sldNum" sz="quarter" idx="5"/>
          </p:nvPr>
        </p:nvSpPr>
        <p:spPr/>
        <p:txBody>
          <a:bodyPr/>
          <a:lstStyle/>
          <a:p>
            <a:fld id="{58825B77-6EB4-4B9D-AA80-95CB3C01051E}" type="slidenum">
              <a:rPr lang="en-US" smtClean="0"/>
              <a:t>21</a:t>
            </a:fld>
            <a:endParaRPr lang="en-US"/>
          </a:p>
        </p:txBody>
      </p:sp>
    </p:spTree>
    <p:extLst>
      <p:ext uri="{BB962C8B-B14F-4D97-AF65-F5344CB8AC3E}">
        <p14:creationId xmlns:p14="http://schemas.microsoft.com/office/powerpoint/2010/main" val="1306886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undo no longer needs the log, it can be truncated at checkpoints and backups even with a long transaction open. Exception: transactional replication and CDC still hold the log for the log reader.</a:t>
            </a:r>
          </a:p>
        </p:txBody>
      </p:sp>
      <p:sp>
        <p:nvSpPr>
          <p:cNvPr id="4" name="Slide Number Placeholder 3"/>
          <p:cNvSpPr>
            <a:spLocks noGrp="1"/>
          </p:cNvSpPr>
          <p:nvPr>
            <p:ph type="sldNum" sz="quarter" idx="5"/>
          </p:nvPr>
        </p:nvSpPr>
        <p:spPr/>
        <p:txBody>
          <a:bodyPr/>
          <a:lstStyle/>
          <a:p>
            <a:fld id="{58825B77-6EB4-4B9D-AA80-95CB3C01051E}" type="slidenum">
              <a:rPr lang="en-US" smtClean="0"/>
              <a:t>22</a:t>
            </a:fld>
            <a:endParaRPr lang="en-US"/>
          </a:p>
        </p:txBody>
      </p:sp>
    </p:spTree>
    <p:extLst>
      <p:ext uri="{BB962C8B-B14F-4D97-AF65-F5344CB8AC3E}">
        <p14:creationId xmlns:p14="http://schemas.microsoft.com/office/powerpoint/2010/main" val="1273269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Biggest wins: long transactions, big rollbacks, runaway logs. The cost: Microsoft measured about 2 percent throughput overhead for a typical OLTP mix and about 14 percent for an extremely update-heavy one, compared with tempdb versioning.</a:t>
            </a:r>
          </a:p>
        </p:txBody>
      </p:sp>
      <p:sp>
        <p:nvSpPr>
          <p:cNvPr id="4" name="Slide Number Placeholder 3"/>
          <p:cNvSpPr>
            <a:spLocks noGrp="1"/>
          </p:cNvSpPr>
          <p:nvPr>
            <p:ph type="sldNum" sz="quarter" idx="5"/>
          </p:nvPr>
        </p:nvSpPr>
        <p:spPr/>
        <p:txBody>
          <a:bodyPr/>
          <a:lstStyle/>
          <a:p>
            <a:fld id="{58825B77-6EB4-4B9D-AA80-95CB3C01051E}" type="slidenum">
              <a:rPr lang="en-US" smtClean="0"/>
              <a:t>23</a:t>
            </a:fld>
            <a:endParaRPr lang="en-US"/>
          </a:p>
        </p:txBody>
      </p:sp>
    </p:spTree>
    <p:extLst>
      <p:ext uri="{BB962C8B-B14F-4D97-AF65-F5344CB8AC3E}">
        <p14:creationId xmlns:p14="http://schemas.microsoft.com/office/powerpoint/2010/main" val="2118083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ALTER DATABASE statement, but it needs an exclusive lock - use WITH ROLLBACK IMMEDIATE in a maintenance window. Optionally put PVS on its own filegroup. If you disable ADR later, existing versions remain until active transactions finish, and optimized locking must be turned off first. Transition: let's see it.</a:t>
            </a:r>
          </a:p>
        </p:txBody>
      </p:sp>
      <p:sp>
        <p:nvSpPr>
          <p:cNvPr id="4" name="Slide Number Placeholder 3"/>
          <p:cNvSpPr>
            <a:spLocks noGrp="1"/>
          </p:cNvSpPr>
          <p:nvPr>
            <p:ph type="sldNum" sz="quarter" idx="5"/>
          </p:nvPr>
        </p:nvSpPr>
        <p:spPr/>
        <p:txBody>
          <a:bodyPr/>
          <a:lstStyle/>
          <a:p>
            <a:fld id="{58825B77-6EB4-4B9D-AA80-95CB3C01051E}" type="slidenum">
              <a:rPr lang="en-US" smtClean="0"/>
              <a:t>24</a:t>
            </a:fld>
            <a:endParaRPr lang="en-US"/>
          </a:p>
        </p:txBody>
      </p:sp>
    </p:spTree>
    <p:extLst>
      <p:ext uri="{BB962C8B-B14F-4D97-AF65-F5344CB8AC3E}">
        <p14:creationId xmlns:p14="http://schemas.microsoft.com/office/powerpoint/2010/main" val="669464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run the same large transaction in ADR_Demo_Off and ADR_Demo_On, cancel it, and compare rollback time. Then show PVS size in the DMV. Fallback: recorded video if the live demo fails.</a:t>
            </a:r>
          </a:p>
        </p:txBody>
      </p:sp>
      <p:sp>
        <p:nvSpPr>
          <p:cNvPr id="4" name="Slide Number Placeholder 3"/>
          <p:cNvSpPr>
            <a:spLocks noGrp="1"/>
          </p:cNvSpPr>
          <p:nvPr>
            <p:ph type="sldNum" sz="quarter" idx="5"/>
          </p:nvPr>
        </p:nvSpPr>
        <p:spPr/>
        <p:txBody>
          <a:bodyPr/>
          <a:lstStyle/>
          <a:p>
            <a:fld id="{58825B77-6EB4-4B9D-AA80-95CB3C01051E}" type="slidenum">
              <a:rPr lang="en-US" smtClean="0"/>
              <a:t>25</a:t>
            </a:fld>
            <a:endParaRPr lang="en-US"/>
          </a:p>
        </p:txBody>
      </p:sp>
    </p:spTree>
    <p:extLst>
      <p:ext uri="{BB962C8B-B14F-4D97-AF65-F5344CB8AC3E}">
        <p14:creationId xmlns:p14="http://schemas.microsoft.com/office/powerpoint/2010/main" val="2591212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SQL Server 2022 focused on making PVS cleanup faster and more robust. SQL Server 2025 brings ADR to tempdb and adds optimized locking, which requires ADR - another reason to enable it.</a:t>
            </a:r>
          </a:p>
        </p:txBody>
      </p:sp>
      <p:sp>
        <p:nvSpPr>
          <p:cNvPr id="4" name="Slide Number Placeholder 3"/>
          <p:cNvSpPr>
            <a:spLocks noGrp="1"/>
          </p:cNvSpPr>
          <p:nvPr>
            <p:ph type="sldNum" sz="quarter" idx="5"/>
          </p:nvPr>
        </p:nvSpPr>
        <p:spPr/>
        <p:txBody>
          <a:bodyPr/>
          <a:lstStyle/>
          <a:p>
            <a:fld id="{58825B77-6EB4-4B9D-AA80-95CB3C01051E}" type="slidenum">
              <a:rPr lang="en-US" smtClean="0"/>
              <a:t>26</a:t>
            </a:fld>
            <a:endParaRPr lang="en-US"/>
          </a:p>
        </p:txBody>
      </p:sp>
    </p:spTree>
    <p:extLst>
      <p:ext uri="{BB962C8B-B14F-4D97-AF65-F5344CB8AC3E}">
        <p14:creationId xmlns:p14="http://schemas.microsoft.com/office/powerpoint/2010/main" val="1108837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of these come down to: give PVS room, and keep the cleaner unblocked. Avoid unnecessarily long transactions, huge DDL transactions, and high abort rates.</a:t>
            </a:r>
          </a:p>
        </p:txBody>
      </p:sp>
      <p:sp>
        <p:nvSpPr>
          <p:cNvPr id="4" name="Slide Number Placeholder 3"/>
          <p:cNvSpPr>
            <a:spLocks noGrp="1"/>
          </p:cNvSpPr>
          <p:nvPr>
            <p:ph type="sldNum" sz="quarter" idx="5"/>
          </p:nvPr>
        </p:nvSpPr>
        <p:spPr/>
        <p:txBody>
          <a:bodyPr/>
          <a:lstStyle/>
          <a:p>
            <a:fld id="{58825B77-6EB4-4B9D-AA80-95CB3C01051E}" type="slidenum">
              <a:rPr lang="en-US" smtClean="0"/>
              <a:t>27</a:t>
            </a:fld>
            <a:endParaRPr lang="en-US"/>
          </a:p>
        </p:txBody>
      </p:sp>
    </p:spTree>
    <p:extLst>
      <p:ext uri="{BB962C8B-B14F-4D97-AF65-F5344CB8AC3E}">
        <p14:creationId xmlns:p14="http://schemas.microsoft.com/office/powerpoint/2010/main" val="5704674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D8A43-AD60-B46A-58C5-B55225983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068EA-5060-4037-DEBE-8E84B61AD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17E5E-3F0F-1728-2DD4-421A7CE4E9B1}"/>
              </a:ext>
            </a:extLst>
          </p:cNvPr>
          <p:cNvSpPr>
            <a:spLocks noGrp="1"/>
          </p:cNvSpPr>
          <p:nvPr>
            <p:ph type="body" idx="1"/>
          </p:nvPr>
        </p:nvSpPr>
        <p:spPr/>
        <p:txBody>
          <a:bodyPr/>
          <a:lstStyle/>
          <a:p>
            <a:r>
              <a:rPr lang="en-US"/>
              <a:t>One DMV tells you most of what you need. Baseline PVS size during normal activity, and alert when it approaches 50 percent of the database or grows well past your baseline.</a:t>
            </a:r>
            <a:endParaRPr lang="en-US" dirty="0"/>
          </a:p>
        </p:txBody>
      </p:sp>
      <p:sp>
        <p:nvSpPr>
          <p:cNvPr id="4" name="Slide Number Placeholder 3">
            <a:extLst>
              <a:ext uri="{FF2B5EF4-FFF2-40B4-BE49-F238E27FC236}">
                <a16:creationId xmlns:a16="http://schemas.microsoft.com/office/drawing/2014/main" id="{36B54364-5F5B-609C-2793-D0E1DFC36F5B}"/>
              </a:ext>
            </a:extLst>
          </p:cNvPr>
          <p:cNvSpPr>
            <a:spLocks noGrp="1"/>
          </p:cNvSpPr>
          <p:nvPr>
            <p:ph type="sldNum" sz="quarter" idx="5"/>
          </p:nvPr>
        </p:nvSpPr>
        <p:spPr/>
        <p:txBody>
          <a:bodyPr/>
          <a:lstStyle/>
          <a:p>
            <a:fld id="{58825B77-6EB4-4B9D-AA80-95CB3C01051E}" type="slidenum">
              <a:rPr lang="en-US" smtClean="0"/>
              <a:t>28</a:t>
            </a:fld>
            <a:endParaRPr lang="en-US"/>
          </a:p>
        </p:txBody>
      </p:sp>
    </p:spTree>
    <p:extLst>
      <p:ext uri="{BB962C8B-B14F-4D97-AF65-F5344CB8AC3E}">
        <p14:creationId xmlns:p14="http://schemas.microsoft.com/office/powerpoint/2010/main" val="3004547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common causes, each with a DMV to confirm it. Fix the cause first; use the manual cleanup procedure between workloads.</a:t>
            </a:r>
          </a:p>
        </p:txBody>
      </p:sp>
      <p:sp>
        <p:nvSpPr>
          <p:cNvPr id="4" name="Slide Number Placeholder 3"/>
          <p:cNvSpPr>
            <a:spLocks noGrp="1"/>
          </p:cNvSpPr>
          <p:nvPr>
            <p:ph type="sldNum" sz="quarter" idx="5"/>
          </p:nvPr>
        </p:nvSpPr>
        <p:spPr/>
        <p:txBody>
          <a:bodyPr/>
          <a:lstStyle/>
          <a:p>
            <a:fld id="{58825B77-6EB4-4B9D-AA80-95CB3C01051E}" type="slidenum">
              <a:rPr lang="en-US" smtClean="0"/>
              <a:t>29</a:t>
            </a:fld>
            <a:endParaRPr lang="en-US"/>
          </a:p>
        </p:txBody>
      </p:sp>
    </p:spTree>
    <p:extLst>
      <p:ext uri="{BB962C8B-B14F-4D97-AF65-F5344CB8AC3E}">
        <p14:creationId xmlns:p14="http://schemas.microsoft.com/office/powerpoint/2010/main" val="3325455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ADR in tempdb is new in 2025. Microsoft documents a known latch-contention issue when temp tables are created and dropped at a high rate - test before enabling. It also needs a restart.</a:t>
            </a:r>
            <a:endParaRPr lang="en-US" dirty="0"/>
          </a:p>
        </p:txBody>
      </p:sp>
      <p:sp>
        <p:nvSpPr>
          <p:cNvPr id="4" name="Slide Number Placeholder 3"/>
          <p:cNvSpPr>
            <a:spLocks noGrp="1"/>
          </p:cNvSpPr>
          <p:nvPr>
            <p:ph type="sldNum" sz="quarter" idx="5"/>
          </p:nvPr>
        </p:nvSpPr>
        <p:spPr/>
        <p:txBody>
          <a:bodyPr/>
          <a:lstStyle/>
          <a:p>
            <a:fld id="{58825B77-6EB4-4B9D-AA80-95CB3C01051E}" type="slidenum">
              <a:rPr lang="en-US" smtClean="0"/>
              <a:t>30</a:t>
            </a:fld>
            <a:endParaRPr lang="en-US"/>
          </a:p>
        </p:txBody>
      </p:sp>
    </p:spTree>
    <p:extLst>
      <p:ext uri="{BB962C8B-B14F-4D97-AF65-F5344CB8AC3E}">
        <p14:creationId xmlns:p14="http://schemas.microsoft.com/office/powerpoint/2010/main" val="24798882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41B4B-7AB8-201D-73BB-68C406811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1F5F8-68A7-DE66-01CC-D30E59F71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39C53-CFE8-C416-261B-24EC074C7650}"/>
              </a:ext>
            </a:extLst>
          </p:cNvPr>
          <p:cNvSpPr>
            <a:spLocks noGrp="1"/>
          </p:cNvSpPr>
          <p:nvPr>
            <p:ph type="body" idx="1"/>
          </p:nvPr>
        </p:nvSpPr>
        <p:spPr/>
        <p:txBody>
          <a:bodyPr/>
          <a:lstStyle/>
          <a:p>
            <a:r>
              <a:rPr lang="en-US"/>
              <a:t>If you remember one thing: with ADR, recovery and rollback time no longer depend on the size of your transactions.</a:t>
            </a:r>
            <a:endParaRPr lang="en-US" dirty="0"/>
          </a:p>
        </p:txBody>
      </p:sp>
      <p:sp>
        <p:nvSpPr>
          <p:cNvPr id="4" name="Slide Number Placeholder 3">
            <a:extLst>
              <a:ext uri="{FF2B5EF4-FFF2-40B4-BE49-F238E27FC236}">
                <a16:creationId xmlns:a16="http://schemas.microsoft.com/office/drawing/2014/main" id="{1A9273A3-C12F-7D19-C051-2BF7C69A30EA}"/>
              </a:ext>
            </a:extLst>
          </p:cNvPr>
          <p:cNvSpPr>
            <a:spLocks noGrp="1"/>
          </p:cNvSpPr>
          <p:nvPr>
            <p:ph type="sldNum" sz="quarter" idx="5"/>
          </p:nvPr>
        </p:nvSpPr>
        <p:spPr/>
        <p:txBody>
          <a:bodyPr/>
          <a:lstStyle/>
          <a:p>
            <a:fld id="{58825B77-6EB4-4B9D-AA80-95CB3C01051E}" type="slidenum">
              <a:rPr lang="en-US" smtClean="0"/>
              <a:t>31</a:t>
            </a:fld>
            <a:endParaRPr lang="en-US"/>
          </a:p>
        </p:txBody>
      </p:sp>
    </p:spTree>
    <p:extLst>
      <p:ext uri="{BB962C8B-B14F-4D97-AF65-F5344CB8AC3E}">
        <p14:creationId xmlns:p14="http://schemas.microsoft.com/office/powerpoint/2010/main" val="29047400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Learn docs, the troubleshooting guide, and the Constant Time Recovery paper from VLDB 2019.</a:t>
            </a:r>
          </a:p>
        </p:txBody>
      </p:sp>
      <p:sp>
        <p:nvSpPr>
          <p:cNvPr id="4" name="Slide Number Placeholder 3"/>
          <p:cNvSpPr>
            <a:spLocks noGrp="1"/>
          </p:cNvSpPr>
          <p:nvPr>
            <p:ph type="sldNum" sz="quarter" idx="5"/>
          </p:nvPr>
        </p:nvSpPr>
        <p:spPr/>
        <p:txBody>
          <a:bodyPr/>
          <a:lstStyle/>
          <a:p>
            <a:fld id="{58825B77-6EB4-4B9D-AA80-95CB3C01051E}" type="slidenum">
              <a:rPr lang="en-US" smtClean="0"/>
              <a:t>32</a:t>
            </a:fld>
            <a:endParaRPr lang="en-US"/>
          </a:p>
        </p:txBody>
      </p:sp>
    </p:spTree>
    <p:extLst>
      <p:ext uri="{BB962C8B-B14F-4D97-AF65-F5344CB8AC3E}">
        <p14:creationId xmlns:p14="http://schemas.microsoft.com/office/powerpoint/2010/main" val="36444859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attendees and sponsors; share the feedback link.</a:t>
            </a:r>
          </a:p>
        </p:txBody>
      </p:sp>
      <p:sp>
        <p:nvSpPr>
          <p:cNvPr id="4" name="Slide Number Placeholder 3"/>
          <p:cNvSpPr>
            <a:spLocks noGrp="1"/>
          </p:cNvSpPr>
          <p:nvPr>
            <p:ph type="sldNum" sz="quarter" idx="5"/>
          </p:nvPr>
        </p:nvSpPr>
        <p:spPr/>
        <p:txBody>
          <a:bodyPr/>
          <a:lstStyle/>
          <a:p>
            <a:fld id="{58825B77-6EB4-4B9D-AA80-95CB3C01051E}" type="slidenum">
              <a:rPr lang="en-US" smtClean="0"/>
              <a:t>33</a:t>
            </a:fld>
            <a:endParaRPr lang="en-US"/>
          </a:p>
        </p:txBody>
      </p:sp>
    </p:spTree>
    <p:extLst>
      <p:ext uri="{BB962C8B-B14F-4D97-AF65-F5344CB8AC3E}">
        <p14:creationId xmlns:p14="http://schemas.microsoft.com/office/powerpoint/2010/main" val="121718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F7F76-41ED-4963-EA65-F3245BB1F1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DF5A6C-2538-500B-B620-E06E4C5394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335D3F-5BD7-9560-CE2C-F812CF7C4D6C}"/>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5" name="Footer Placeholder 4">
            <a:extLst>
              <a:ext uri="{FF2B5EF4-FFF2-40B4-BE49-F238E27FC236}">
                <a16:creationId xmlns:a16="http://schemas.microsoft.com/office/drawing/2014/main" id="{766D39D4-00A0-B1E0-F1BB-F149D81485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E70ADF-923A-C4DA-A2C0-600F0699AE92}"/>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1313437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4241-3457-61DF-F831-FF27258AFC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068A4-69D8-6DFA-9699-7945ECDE14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96E1D-B75E-F401-1769-D4C4BFC42B37}"/>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5" name="Footer Placeholder 4">
            <a:extLst>
              <a:ext uri="{FF2B5EF4-FFF2-40B4-BE49-F238E27FC236}">
                <a16:creationId xmlns:a16="http://schemas.microsoft.com/office/drawing/2014/main" id="{B414F430-214F-0B57-0FB3-3A1CFA42A5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CBE27-89FE-74E2-DD04-761E8B4A0AA7}"/>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2383581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C7F8F-1B67-D468-C4BF-F4B4AF74FB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86E3EE-733D-F160-7FCC-5ED1A4BC0D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7E30D3-F35F-9591-D2E2-B9403464964C}"/>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5" name="Footer Placeholder 4">
            <a:extLst>
              <a:ext uri="{FF2B5EF4-FFF2-40B4-BE49-F238E27FC236}">
                <a16:creationId xmlns:a16="http://schemas.microsoft.com/office/drawing/2014/main" id="{DB758285-8395-2ECD-F8C9-7900D823DE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5D6D6B-2E49-4B48-A9C2-704A7F0B3B67}"/>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2886769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965E4-166B-353F-6995-07A8723CC6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1C980C-A027-1BFD-8165-896EC2EA30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146A64-C796-50AF-3178-73472C1083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5988DF-10F1-0305-AB0E-142A778BE05E}"/>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6" name="Footer Placeholder 5">
            <a:extLst>
              <a:ext uri="{FF2B5EF4-FFF2-40B4-BE49-F238E27FC236}">
                <a16:creationId xmlns:a16="http://schemas.microsoft.com/office/drawing/2014/main" id="{FA535B1A-565F-DB35-2127-3977B50DC7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29E96A-A9EE-88D8-EBE1-6AA6EB7AB0F0}"/>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222489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E5B58-C53F-50AB-0D08-4D3950739C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B15FF1-B8A6-E752-A221-E0BE95710C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0546EB-5D57-4749-E5F8-461769ACEE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628F66-9715-4FE5-EBD9-CFA3933554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F2B287-6E11-DDD9-1A6E-01BDD54C3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0B4D61-A13D-BC71-FC5A-99AEEA0ABCC4}"/>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8" name="Footer Placeholder 7">
            <a:extLst>
              <a:ext uri="{FF2B5EF4-FFF2-40B4-BE49-F238E27FC236}">
                <a16:creationId xmlns:a16="http://schemas.microsoft.com/office/drawing/2014/main" id="{6A9665F1-1BBF-B73A-1BB7-A9BE161581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F7314C-89B0-9E1B-AD4D-140FF7700228}"/>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2488676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EC6DF-4719-A6C8-CA6F-B705F5C563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E71BDD-9022-0B76-C113-B9267FDE8517}"/>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4" name="Footer Placeholder 3">
            <a:extLst>
              <a:ext uri="{FF2B5EF4-FFF2-40B4-BE49-F238E27FC236}">
                <a16:creationId xmlns:a16="http://schemas.microsoft.com/office/drawing/2014/main" id="{3AF17B82-3429-07CE-6CBE-035EB14E20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86FD1E-B894-1DB2-2E74-040C3BB488EB}"/>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3545560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ED5B23-F4F7-0536-513C-9A9E049AE562}"/>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3" name="Footer Placeholder 2">
            <a:extLst>
              <a:ext uri="{FF2B5EF4-FFF2-40B4-BE49-F238E27FC236}">
                <a16:creationId xmlns:a16="http://schemas.microsoft.com/office/drawing/2014/main" id="{E56EE209-34DD-E822-0537-527B8B773E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486395-3F7B-959D-EC7D-F5B577846A0C}"/>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3114222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4EE84-5A79-FE72-F9D0-172BB51F3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058EC3-AA9F-C878-C6DF-CB9D07679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DA9EA8-2F9D-13EC-4611-18CEF27167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B99BF-69AA-D30F-BFCB-6BDB227DBF86}"/>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6" name="Footer Placeholder 5">
            <a:extLst>
              <a:ext uri="{FF2B5EF4-FFF2-40B4-BE49-F238E27FC236}">
                <a16:creationId xmlns:a16="http://schemas.microsoft.com/office/drawing/2014/main" id="{F03DE00B-3E2E-481F-DE34-F0CFD4DDFA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29DA6-09C2-8065-932C-8600BE9249B8}"/>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1764815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5B78-2799-2B82-60FA-B82A79A8D8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4F0284-06A4-8A53-6CC7-813E3F8410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2FCDD1-AB9A-F418-8D91-4679C2822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C91284-858E-F743-E9B3-E15460CF5ADC}"/>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6" name="Footer Placeholder 5">
            <a:extLst>
              <a:ext uri="{FF2B5EF4-FFF2-40B4-BE49-F238E27FC236}">
                <a16:creationId xmlns:a16="http://schemas.microsoft.com/office/drawing/2014/main" id="{82BD3043-60CA-0EBA-AFCA-3DE27C235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6CF36A-84C3-6D03-DB23-BFACC4B2140D}"/>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333840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D684-4364-9185-A8B0-DD17CF9708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1FAAD2-2F0E-3E7E-F717-DA313CC990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BAC1B8-9F96-3D15-ACE5-A43B7C1830B2}"/>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5" name="Footer Placeholder 4">
            <a:extLst>
              <a:ext uri="{FF2B5EF4-FFF2-40B4-BE49-F238E27FC236}">
                <a16:creationId xmlns:a16="http://schemas.microsoft.com/office/drawing/2014/main" id="{3FFF711B-5E76-30CD-B294-DEA0F149F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15BBF-88ED-A2C0-0351-BCCC5A42153B}"/>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248062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078489-BBF1-2686-F375-5F52EDF75B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740B55-367E-9B27-3D07-8872F2F718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2315E-5F58-281C-130A-7E09F1C9A550}"/>
              </a:ext>
            </a:extLst>
          </p:cNvPr>
          <p:cNvSpPr>
            <a:spLocks noGrp="1"/>
          </p:cNvSpPr>
          <p:nvPr>
            <p:ph type="dt" sz="half" idx="10"/>
          </p:nvPr>
        </p:nvSpPr>
        <p:spPr/>
        <p:txBody>
          <a:bodyPr/>
          <a:lstStyle/>
          <a:p>
            <a:fld id="{8555F1F9-A2FA-4266-A6EF-28D391E09117}" type="datetimeFigureOut">
              <a:rPr lang="en-US" smtClean="0"/>
              <a:t>10/1/2026</a:t>
            </a:fld>
            <a:endParaRPr lang="en-US"/>
          </a:p>
        </p:txBody>
      </p:sp>
      <p:sp>
        <p:nvSpPr>
          <p:cNvPr id="5" name="Footer Placeholder 4">
            <a:extLst>
              <a:ext uri="{FF2B5EF4-FFF2-40B4-BE49-F238E27FC236}">
                <a16:creationId xmlns:a16="http://schemas.microsoft.com/office/drawing/2014/main" id="{71A93865-BF8E-FB4C-1316-B471074B0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A4111A-548E-CB0F-B434-B94307D388EC}"/>
              </a:ext>
            </a:extLst>
          </p:cNvPr>
          <p:cNvSpPr>
            <a:spLocks noGrp="1"/>
          </p:cNvSpPr>
          <p:nvPr>
            <p:ph type="sldNum" sz="quarter" idx="12"/>
          </p:nvPr>
        </p:nvSpPr>
        <p:spPr/>
        <p:txBody>
          <a:bodyPr/>
          <a:lstStyle/>
          <a:p>
            <a:fld id="{50FCFE4A-4B75-486D-809C-B56E49AFCE60}" type="slidenum">
              <a:rPr lang="en-US" smtClean="0"/>
              <a:t>‹#›</a:t>
            </a:fld>
            <a:endParaRPr lang="en-US"/>
          </a:p>
        </p:txBody>
      </p:sp>
    </p:spTree>
    <p:extLst>
      <p:ext uri="{BB962C8B-B14F-4D97-AF65-F5344CB8AC3E}">
        <p14:creationId xmlns:p14="http://schemas.microsoft.com/office/powerpoint/2010/main" val="2298252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645CE8-C17E-92BD-FB8F-8CD9EEC8B6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583D6B-87B0-153C-C010-914B3A640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D10A9-2C81-0244-A3F5-1CC21DE879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55F1F9-A2FA-4266-A6EF-28D391E09117}" type="datetimeFigureOut">
              <a:rPr lang="en-US" smtClean="0"/>
              <a:t>10/1/2026</a:t>
            </a:fld>
            <a:endParaRPr lang="en-US"/>
          </a:p>
        </p:txBody>
      </p:sp>
      <p:sp>
        <p:nvSpPr>
          <p:cNvPr id="5" name="Footer Placeholder 4">
            <a:extLst>
              <a:ext uri="{FF2B5EF4-FFF2-40B4-BE49-F238E27FC236}">
                <a16:creationId xmlns:a16="http://schemas.microsoft.com/office/drawing/2014/main" id="{59008C18-E043-829B-9964-0556960E51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AF6526-3E2D-AA0E-74B1-8ADC79167D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FCFE4A-4B75-486D-809C-B56E49AFCE60}" type="slidenum">
              <a:rPr lang="en-US" smtClean="0"/>
              <a:t>‹#›</a:t>
            </a:fld>
            <a:endParaRPr lang="en-US"/>
          </a:p>
        </p:txBody>
      </p:sp>
    </p:spTree>
    <p:extLst>
      <p:ext uri="{BB962C8B-B14F-4D97-AF65-F5344CB8AC3E}">
        <p14:creationId xmlns:p14="http://schemas.microsoft.com/office/powerpoint/2010/main" val="3198714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linkedin.com/in/haripriya-naidu1215/" TargetMode="External"/><Relationship Id="rId4" Type="http://schemas.openxmlformats.org/officeDocument/2006/relationships/hyperlink" Target="gohigh.substack.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learn.microsoft.com/en-us/sql/relational-databases/accelerated-database-recovery-concepts?view=sql-server-ver17"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www.youtube.com/watch?v=ro-iryiNkrg" TargetMode="External"/><Relationship Id="rId5" Type="http://schemas.openxmlformats.org/officeDocument/2006/relationships/hyperlink" Target="https://www.microsoft.com/en-us/research/publication/constant-time-recovery-in-azure-sql-database/" TargetMode="External"/><Relationship Id="rId4" Type="http://schemas.openxmlformats.org/officeDocument/2006/relationships/hyperlink" Target="https://learn.microsoft.com/en-us/sql/relational-databases/accelerated-database-recovery-troubleshoot?view=sql-server-ver17&amp;tabs=sql-server-sql-mi"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B6CB-7E81-699E-8510-EF0005731D2E}"/>
              </a:ext>
            </a:extLst>
          </p:cNvPr>
          <p:cNvSpPr>
            <a:spLocks noGrp="1"/>
          </p:cNvSpPr>
          <p:nvPr>
            <p:ph type="ctrTitle"/>
          </p:nvPr>
        </p:nvSpPr>
        <p:spPr>
          <a:xfrm>
            <a:off x="914400" y="1141413"/>
            <a:ext cx="10668000" cy="2387600"/>
          </a:xfrm>
        </p:spPr>
        <p:txBody>
          <a:bodyPr/>
          <a:lstStyle/>
          <a:p>
            <a:r>
              <a:rPr lang="en-US" dirty="0"/>
              <a:t>Accelerated Database Recovery (ADR)</a:t>
            </a:r>
          </a:p>
        </p:txBody>
      </p:sp>
      <p:sp>
        <p:nvSpPr>
          <p:cNvPr id="3" name="Subtitle 2">
            <a:extLst>
              <a:ext uri="{FF2B5EF4-FFF2-40B4-BE49-F238E27FC236}">
                <a16:creationId xmlns:a16="http://schemas.microsoft.com/office/drawing/2014/main" id="{75206518-FE9B-F785-A331-3C07921D0A38}"/>
              </a:ext>
            </a:extLst>
          </p:cNvPr>
          <p:cNvSpPr>
            <a:spLocks noGrp="1"/>
          </p:cNvSpPr>
          <p:nvPr>
            <p:ph type="subTitle" idx="1"/>
          </p:nvPr>
        </p:nvSpPr>
        <p:spPr>
          <a:xfrm>
            <a:off x="6245352" y="5215366"/>
            <a:ext cx="5730240" cy="1040542"/>
          </a:xfrm>
        </p:spPr>
        <p:txBody>
          <a:bodyPr>
            <a:noAutofit/>
          </a:bodyPr>
          <a:lstStyle/>
          <a:p>
            <a:r>
              <a:rPr lang="en-US" dirty="0"/>
              <a:t>Haripriya Naidu</a:t>
            </a:r>
          </a:p>
          <a:p>
            <a:r>
              <a:rPr lang="en-US" dirty="0"/>
              <a:t>Lead Database Reliability Engineer</a:t>
            </a:r>
          </a:p>
          <a:p>
            <a:r>
              <a:rPr lang="en-US" dirty="0"/>
              <a:t>SQL Saturday Boston – October 3</a:t>
            </a:r>
            <a:r>
              <a:rPr lang="en-US" baseline="30000" dirty="0"/>
              <a:t>rd</a:t>
            </a:r>
            <a:r>
              <a:rPr lang="en-US" dirty="0"/>
              <a:t>, 2026</a:t>
            </a:r>
          </a:p>
        </p:txBody>
      </p:sp>
    </p:spTree>
    <p:extLst>
      <p:ext uri="{BB962C8B-B14F-4D97-AF65-F5344CB8AC3E}">
        <p14:creationId xmlns:p14="http://schemas.microsoft.com/office/powerpoint/2010/main" val="2976769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5804B-91B3-75BD-BEB6-D99366FE9EBF}"/>
              </a:ext>
            </a:extLst>
          </p:cNvPr>
          <p:cNvSpPr>
            <a:spLocks noGrp="1"/>
          </p:cNvSpPr>
          <p:nvPr>
            <p:ph type="title"/>
          </p:nvPr>
        </p:nvSpPr>
        <p:spPr/>
        <p:txBody>
          <a:bodyPr/>
          <a:lstStyle/>
          <a:p>
            <a:r>
              <a:rPr lang="en-US" dirty="0"/>
              <a:t>Haripriya Naidu</a:t>
            </a:r>
          </a:p>
        </p:txBody>
      </p:sp>
      <p:sp>
        <p:nvSpPr>
          <p:cNvPr id="7" name="Content Placeholder 6">
            <a:extLst>
              <a:ext uri="{FF2B5EF4-FFF2-40B4-BE49-F238E27FC236}">
                <a16:creationId xmlns:a16="http://schemas.microsoft.com/office/drawing/2014/main" id="{3BFA6AF0-2CD8-5A8A-EC07-CE1D92F1F523}"/>
              </a:ext>
            </a:extLst>
          </p:cNvPr>
          <p:cNvSpPr>
            <a:spLocks noGrp="1"/>
          </p:cNvSpPr>
          <p:nvPr>
            <p:ph idx="1"/>
          </p:nvPr>
        </p:nvSpPr>
        <p:spPr/>
        <p:txBody>
          <a:bodyPr/>
          <a:lstStyle/>
          <a:p>
            <a:r>
              <a:rPr lang="en-US" dirty="0"/>
              <a:t>Database Reliability Engineer</a:t>
            </a:r>
          </a:p>
          <a:p>
            <a:r>
              <a:rPr lang="en-US"/>
              <a:t>12 </a:t>
            </a:r>
            <a:r>
              <a:rPr lang="en-US" dirty="0"/>
              <a:t>years</a:t>
            </a:r>
          </a:p>
          <a:p>
            <a:r>
              <a:rPr lang="en-US" dirty="0"/>
              <a:t>Speaker</a:t>
            </a:r>
          </a:p>
          <a:p>
            <a:r>
              <a:rPr lang="en-US" dirty="0"/>
              <a:t>Blogger</a:t>
            </a:r>
          </a:p>
          <a:p>
            <a:pPr marL="0" lvl="1" indent="0">
              <a:spcBef>
                <a:spcPts val="1000"/>
              </a:spcBef>
              <a:buNone/>
            </a:pPr>
            <a:r>
              <a:rPr lang="fr-FR" sz="2800" dirty="0">
                <a:solidFill>
                  <a:schemeClr val="accent2">
                    <a:lumMod val="75000"/>
                  </a:schemeClr>
                </a:solidFill>
              </a:rPr>
              <a:t> </a:t>
            </a:r>
            <a:endParaRPr lang="en-US" dirty="0"/>
          </a:p>
        </p:txBody>
      </p:sp>
      <p:pic>
        <p:nvPicPr>
          <p:cNvPr id="9" name="Picture 8" descr="A blue and white rectangular sign with white text&#10;&#10;AI-generated content may be incorrect.">
            <a:extLst>
              <a:ext uri="{FF2B5EF4-FFF2-40B4-BE49-F238E27FC236}">
                <a16:creationId xmlns:a16="http://schemas.microsoft.com/office/drawing/2014/main" id="{F560CAE1-DF8F-5E25-E469-944EABCC6C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0909" y="1368335"/>
            <a:ext cx="1912621" cy="2955869"/>
          </a:xfrm>
          <a:prstGeom prst="rect">
            <a:avLst/>
          </a:prstGeom>
        </p:spPr>
      </p:pic>
      <p:sp>
        <p:nvSpPr>
          <p:cNvPr id="13" name="Content Placeholder 3">
            <a:extLst>
              <a:ext uri="{FF2B5EF4-FFF2-40B4-BE49-F238E27FC236}">
                <a16:creationId xmlns:a16="http://schemas.microsoft.com/office/drawing/2014/main" id="{9ED34A0A-413B-18D7-A7B6-9DA4657D1C7A}"/>
              </a:ext>
            </a:extLst>
          </p:cNvPr>
          <p:cNvSpPr txBox="1">
            <a:spLocks/>
          </p:cNvSpPr>
          <p:nvPr/>
        </p:nvSpPr>
        <p:spPr>
          <a:xfrm>
            <a:off x="1001769" y="3201552"/>
            <a:ext cx="8275841" cy="285908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457200" lvl="1" indent="0">
              <a:buFont typeface="Arial" panose="020B0604020202020204" pitchFamily="34" charset="0"/>
              <a:buNone/>
            </a:pPr>
            <a:endParaRPr lang="fr-FR" sz="2800" dirty="0">
              <a:solidFill>
                <a:schemeClr val="accent2">
                  <a:lumMod val="75000"/>
                </a:schemeClr>
              </a:solidFill>
            </a:endParaRPr>
          </a:p>
          <a:p>
            <a:pPr marL="0" lvl="1" indent="0">
              <a:spcBef>
                <a:spcPts val="1000"/>
              </a:spcBef>
              <a:buNone/>
            </a:pPr>
            <a:r>
              <a:rPr lang="fr-FR" sz="2800" dirty="0">
                <a:solidFill>
                  <a:schemeClr val="accent2">
                    <a:lumMod val="75000"/>
                  </a:schemeClr>
                </a:solidFill>
              </a:rPr>
              <a:t> </a:t>
            </a:r>
            <a:r>
              <a:rPr lang="fr-FR" sz="2800" dirty="0">
                <a:solidFill>
                  <a:schemeClr val="accent3">
                    <a:lumMod val="75000"/>
                  </a:schemeClr>
                </a:solidFill>
                <a:latin typeface="+mj-lt"/>
                <a:ea typeface="+mj-ea"/>
                <a:cs typeface="+mj-cs"/>
                <a:hlinkClick r:id="rId4" action="ppaction://hlinkfile">
                  <a:extLst>
                    <a:ext uri="{A12FA001-AC4F-418D-AE19-62706E023703}">
                      <ahyp:hlinkClr xmlns:ahyp="http://schemas.microsoft.com/office/drawing/2018/hyperlinkcolor" val="tx"/>
                    </a:ext>
                  </a:extLst>
                </a:hlinkClick>
              </a:rPr>
              <a:t>gohigh.substack.com</a:t>
            </a:r>
            <a:endParaRPr lang="fr-FR" sz="2800" dirty="0">
              <a:solidFill>
                <a:schemeClr val="accent3">
                  <a:lumMod val="75000"/>
                </a:schemeClr>
              </a:solidFill>
              <a:latin typeface="+mj-lt"/>
              <a:ea typeface="+mj-ea"/>
              <a:cs typeface="+mj-cs"/>
            </a:endParaRPr>
          </a:p>
          <a:p>
            <a:pPr marL="0" lvl="1" indent="0">
              <a:spcBef>
                <a:spcPts val="1000"/>
              </a:spcBef>
              <a:buNone/>
            </a:pPr>
            <a:r>
              <a:rPr lang="fr-FR" sz="2800" dirty="0">
                <a:solidFill>
                  <a:schemeClr val="accent3">
                    <a:lumMod val="75000"/>
                  </a:schemeClr>
                </a:solidFill>
                <a:latin typeface="+mj-lt"/>
                <a:ea typeface="+mj-ea"/>
                <a:cs typeface="+mj-cs"/>
              </a:rPr>
              <a:t> </a:t>
            </a:r>
            <a:r>
              <a:rPr lang="fr-FR" sz="2800" dirty="0">
                <a:solidFill>
                  <a:schemeClr val="accent3">
                    <a:lumMod val="75000"/>
                  </a:schemeClr>
                </a:solidFill>
                <a:latin typeface="+mj-lt"/>
                <a:ea typeface="+mj-ea"/>
                <a:cs typeface="+mj-cs"/>
                <a:hlinkClick r:id="rId5" action="ppaction://hlinkfile">
                  <a:extLst>
                    <a:ext uri="{A12FA001-AC4F-418D-AE19-62706E023703}">
                      <ahyp:hlinkClr xmlns:ahyp="http://schemas.microsoft.com/office/drawing/2018/hyperlinkcolor" val="tx"/>
                    </a:ext>
                  </a:extLst>
                </a:hlinkClick>
              </a:rPr>
              <a:t>linkedin.com/in/haripriya-naidu1215/</a:t>
            </a:r>
            <a:endParaRPr lang="fr-FR" sz="2800" dirty="0">
              <a:solidFill>
                <a:schemeClr val="accent3">
                  <a:lumMod val="75000"/>
                </a:schemeClr>
              </a:solidFill>
              <a:latin typeface="+mj-lt"/>
              <a:ea typeface="+mj-ea"/>
              <a:cs typeface="+mj-cs"/>
            </a:endParaRPr>
          </a:p>
          <a:p>
            <a:pPr marL="0" lvl="1" indent="0">
              <a:spcBef>
                <a:spcPts val="1000"/>
              </a:spcBef>
              <a:buNone/>
            </a:pPr>
            <a:r>
              <a:rPr lang="fr-FR" sz="2800" dirty="0">
                <a:solidFill>
                  <a:schemeClr val="accent3">
                    <a:lumMod val="75000"/>
                  </a:schemeClr>
                </a:solidFill>
                <a:latin typeface="+mj-lt"/>
                <a:ea typeface="+mj-ea"/>
                <a:cs typeface="+mj-cs"/>
              </a:rPr>
              <a:t> </a:t>
            </a:r>
            <a:r>
              <a:rPr lang="fr-FR" sz="2800" u="sng" dirty="0">
                <a:solidFill>
                  <a:schemeClr val="accent3">
                    <a:lumMod val="75000"/>
                  </a:schemeClr>
                </a:solidFill>
                <a:latin typeface="+mj-lt"/>
                <a:ea typeface="+mj-ea"/>
                <a:cs typeface="+mj-cs"/>
              </a:rPr>
              <a:t>github.com/haripriyasb/ADR</a:t>
            </a:r>
            <a:endParaRPr lang="en-US" u="sng" dirty="0">
              <a:solidFill>
                <a:schemeClr val="accent3">
                  <a:lumMod val="75000"/>
                </a:schemeClr>
              </a:solidFill>
            </a:endParaRPr>
          </a:p>
        </p:txBody>
      </p:sp>
      <p:pic>
        <p:nvPicPr>
          <p:cNvPr id="15" name="Picture 14">
            <a:extLst>
              <a:ext uri="{FF2B5EF4-FFF2-40B4-BE49-F238E27FC236}">
                <a16:creationId xmlns:a16="http://schemas.microsoft.com/office/drawing/2014/main" id="{EC92F176-8ABB-6F1D-D255-8E4C8E0D0473}"/>
              </a:ext>
            </a:extLst>
          </p:cNvPr>
          <p:cNvPicPr>
            <a:picLocks noChangeAspect="1"/>
          </p:cNvPicPr>
          <p:nvPr/>
        </p:nvPicPr>
        <p:blipFill>
          <a:blip r:embed="rId6"/>
          <a:stretch>
            <a:fillRect/>
          </a:stretch>
        </p:blipFill>
        <p:spPr>
          <a:xfrm>
            <a:off x="834527" y="5057328"/>
            <a:ext cx="254517" cy="259260"/>
          </a:xfrm>
          <a:prstGeom prst="rect">
            <a:avLst/>
          </a:prstGeom>
        </p:spPr>
      </p:pic>
      <p:pic>
        <p:nvPicPr>
          <p:cNvPr id="17" name="Picture 16">
            <a:extLst>
              <a:ext uri="{FF2B5EF4-FFF2-40B4-BE49-F238E27FC236}">
                <a16:creationId xmlns:a16="http://schemas.microsoft.com/office/drawing/2014/main" id="{B9711CDD-21EF-A0B7-D87D-4579F8CF1442}"/>
              </a:ext>
            </a:extLst>
          </p:cNvPr>
          <p:cNvPicPr>
            <a:picLocks noChangeAspect="1"/>
          </p:cNvPicPr>
          <p:nvPr/>
        </p:nvPicPr>
        <p:blipFill>
          <a:blip r:embed="rId7"/>
          <a:stretch>
            <a:fillRect/>
          </a:stretch>
        </p:blipFill>
        <p:spPr>
          <a:xfrm>
            <a:off x="813648" y="5487514"/>
            <a:ext cx="284071" cy="259261"/>
          </a:xfrm>
          <a:prstGeom prst="rect">
            <a:avLst/>
          </a:prstGeom>
        </p:spPr>
      </p:pic>
      <p:pic>
        <p:nvPicPr>
          <p:cNvPr id="19" name="Picture 18">
            <a:extLst>
              <a:ext uri="{FF2B5EF4-FFF2-40B4-BE49-F238E27FC236}">
                <a16:creationId xmlns:a16="http://schemas.microsoft.com/office/drawing/2014/main" id="{96F52AA1-1FE6-17AD-E79D-721BBCBB8572}"/>
              </a:ext>
            </a:extLst>
          </p:cNvPr>
          <p:cNvPicPr>
            <a:picLocks noChangeAspect="1"/>
          </p:cNvPicPr>
          <p:nvPr/>
        </p:nvPicPr>
        <p:blipFill>
          <a:blip r:embed="rId8"/>
          <a:stretch>
            <a:fillRect/>
          </a:stretch>
        </p:blipFill>
        <p:spPr>
          <a:xfrm>
            <a:off x="813648" y="4557735"/>
            <a:ext cx="254517" cy="259260"/>
          </a:xfrm>
          <a:prstGeom prst="rect">
            <a:avLst/>
          </a:prstGeom>
        </p:spPr>
      </p:pic>
    </p:spTree>
    <p:extLst>
      <p:ext uri="{BB962C8B-B14F-4D97-AF65-F5344CB8AC3E}">
        <p14:creationId xmlns:p14="http://schemas.microsoft.com/office/powerpoint/2010/main" val="214505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EC4B2-EFF8-D297-7344-FD7F1EEF3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03977-F427-3BDE-BF58-03DF96F45440}"/>
              </a:ext>
            </a:extLst>
          </p:cNvPr>
          <p:cNvSpPr>
            <a:spLocks noGrp="1"/>
          </p:cNvSpPr>
          <p:nvPr>
            <p:ph type="title"/>
          </p:nvPr>
        </p:nvSpPr>
        <p:spPr/>
        <p:txBody>
          <a:bodyPr/>
          <a:lstStyle/>
          <a:p>
            <a:r>
              <a:rPr lang="en-US" dirty="0"/>
              <a:t>Agenda</a:t>
            </a:r>
          </a:p>
        </p:txBody>
      </p:sp>
      <p:sp>
        <p:nvSpPr>
          <p:cNvPr id="4" name="Content Placeholder 3">
            <a:extLst>
              <a:ext uri="{FF2B5EF4-FFF2-40B4-BE49-F238E27FC236}">
                <a16:creationId xmlns:a16="http://schemas.microsoft.com/office/drawing/2014/main" id="{C53A78BE-8F51-D994-B64A-90EA7F90E244}"/>
              </a:ext>
            </a:extLst>
          </p:cNvPr>
          <p:cNvSpPr>
            <a:spLocks noGrp="1"/>
          </p:cNvSpPr>
          <p:nvPr>
            <p:ph idx="1"/>
          </p:nvPr>
        </p:nvSpPr>
        <p:spPr/>
        <p:txBody>
          <a:bodyPr>
            <a:normAutofit/>
          </a:bodyPr>
          <a:lstStyle/>
          <a:p>
            <a:pPr marL="330200" indent="-330200">
              <a:spcAft>
                <a:spcPts val="1600"/>
              </a:spcAft>
            </a:pPr>
            <a:r>
              <a:rPr lang="en-US" sz="2600" dirty="0"/>
              <a:t>Why recovery is slow</a:t>
            </a:r>
          </a:p>
          <a:p>
            <a:pPr marL="330200" indent="-330200">
              <a:spcAft>
                <a:spcPts val="1600"/>
              </a:spcAft>
            </a:pPr>
            <a:r>
              <a:rPr lang="en-US" sz="2600" dirty="0"/>
              <a:t>What ADR is</a:t>
            </a:r>
          </a:p>
          <a:p>
            <a:pPr marL="330200" indent="-330200">
              <a:spcAft>
                <a:spcPts val="1600"/>
              </a:spcAft>
            </a:pPr>
            <a:r>
              <a:rPr lang="en-US" sz="2600" dirty="0"/>
              <a:t>How it works</a:t>
            </a:r>
          </a:p>
          <a:p>
            <a:pPr marL="330200" indent="-330200">
              <a:spcAft>
                <a:spcPts val="1600"/>
              </a:spcAft>
            </a:pPr>
            <a:r>
              <a:rPr lang="en-US" sz="2600" dirty="0"/>
              <a:t>Benefits and results</a:t>
            </a:r>
          </a:p>
          <a:p>
            <a:pPr marL="330200" indent="-330200">
              <a:spcAft>
                <a:spcPts val="1600"/>
              </a:spcAft>
            </a:pPr>
            <a:r>
              <a:rPr lang="en-US" sz="2600" dirty="0"/>
              <a:t>Live demo</a:t>
            </a:r>
          </a:p>
          <a:p>
            <a:pPr marL="330200" indent="-330200">
              <a:spcAft>
                <a:spcPts val="1600"/>
              </a:spcAft>
            </a:pPr>
            <a:r>
              <a:rPr lang="en-US" sz="2600" dirty="0"/>
              <a:t>Trade-Offs</a:t>
            </a:r>
          </a:p>
        </p:txBody>
      </p:sp>
    </p:spTree>
    <p:extLst>
      <p:ext uri="{BB962C8B-B14F-4D97-AF65-F5344CB8AC3E}">
        <p14:creationId xmlns:p14="http://schemas.microsoft.com/office/powerpoint/2010/main" val="1033275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64876-37AF-2941-3323-3D279FC31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BA72C-56AC-70A0-997F-9BB11C253777}"/>
              </a:ext>
            </a:extLst>
          </p:cNvPr>
          <p:cNvSpPr>
            <a:spLocks noGrp="1"/>
          </p:cNvSpPr>
          <p:nvPr>
            <p:ph type="title"/>
          </p:nvPr>
        </p:nvSpPr>
        <p:spPr/>
        <p:txBody>
          <a:bodyPr/>
          <a:lstStyle/>
          <a:p>
            <a:r>
              <a:rPr lang="en-US" dirty="0"/>
              <a:t>Pain point</a:t>
            </a:r>
          </a:p>
        </p:txBody>
      </p:sp>
      <p:pic>
        <p:nvPicPr>
          <p:cNvPr id="8" name="Content Placeholder 7">
            <a:extLst>
              <a:ext uri="{FF2B5EF4-FFF2-40B4-BE49-F238E27FC236}">
                <a16:creationId xmlns:a16="http://schemas.microsoft.com/office/drawing/2014/main" id="{BD0CBB37-968E-6ED8-CDF5-957427407E3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5572" y="1903751"/>
            <a:ext cx="5940938" cy="2585543"/>
          </a:xfrm>
          <a:prstGeom prst="rect">
            <a:avLst/>
          </a:prstGeom>
        </p:spPr>
      </p:pic>
      <p:pic>
        <p:nvPicPr>
          <p:cNvPr id="9" name="Content Placeholder 8">
            <a:extLst>
              <a:ext uri="{FF2B5EF4-FFF2-40B4-BE49-F238E27FC236}">
                <a16:creationId xmlns:a16="http://schemas.microsoft.com/office/drawing/2014/main" id="{EC985190-E85A-7C84-098E-13C12934FA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3625" y="1822042"/>
            <a:ext cx="4657029" cy="4762871"/>
          </a:xfrm>
          <a:prstGeom prst="rect">
            <a:avLst/>
          </a:prstGeom>
        </p:spPr>
      </p:pic>
    </p:spTree>
    <p:extLst>
      <p:ext uri="{BB962C8B-B14F-4D97-AF65-F5344CB8AC3E}">
        <p14:creationId xmlns:p14="http://schemas.microsoft.com/office/powerpoint/2010/main" val="159367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D3E50-9A41-7564-D073-F8CBC40B8373}"/>
              </a:ext>
            </a:extLst>
          </p:cNvPr>
          <p:cNvSpPr>
            <a:spLocks noGrp="1"/>
          </p:cNvSpPr>
          <p:nvPr>
            <p:ph type="title"/>
          </p:nvPr>
        </p:nvSpPr>
        <p:spPr/>
        <p:txBody>
          <a:bodyPr/>
          <a:lstStyle/>
          <a:p>
            <a:r>
              <a:rPr lang="en-US" dirty="0"/>
              <a:t>Traditional Recovery Process</a:t>
            </a:r>
          </a:p>
        </p:txBody>
      </p:sp>
      <p:sp>
        <p:nvSpPr>
          <p:cNvPr id="3" name="Content Placeholder 2">
            <a:extLst>
              <a:ext uri="{FF2B5EF4-FFF2-40B4-BE49-F238E27FC236}">
                <a16:creationId xmlns:a16="http://schemas.microsoft.com/office/drawing/2014/main" id="{B1BAC8CC-30B3-464C-66C7-DA3AD67FF50A}"/>
              </a:ext>
            </a:extLst>
          </p:cNvPr>
          <p:cNvSpPr>
            <a:spLocks noGrp="1"/>
          </p:cNvSpPr>
          <p:nvPr>
            <p:ph idx="1"/>
          </p:nvPr>
        </p:nvSpPr>
        <p:spPr>
          <a:xfrm>
            <a:off x="838200" y="1825624"/>
            <a:ext cx="11131296" cy="4767199"/>
          </a:xfrm>
        </p:spPr>
        <p:txBody>
          <a:bodyPr/>
          <a:lstStyle/>
          <a:p>
            <a:r>
              <a:rPr lang="en-US" dirty="0"/>
              <a:t>ARIES Model</a:t>
            </a:r>
          </a:p>
        </p:txBody>
      </p:sp>
      <p:cxnSp>
        <p:nvCxnSpPr>
          <p:cNvPr id="5" name="Straight Connector 4">
            <a:extLst>
              <a:ext uri="{FF2B5EF4-FFF2-40B4-BE49-F238E27FC236}">
                <a16:creationId xmlns:a16="http://schemas.microsoft.com/office/drawing/2014/main" id="{FA450A88-B2F6-F9D7-78A9-1AD267536215}"/>
              </a:ext>
            </a:extLst>
          </p:cNvPr>
          <p:cNvCxnSpPr>
            <a:cxnSpLocks/>
          </p:cNvCxnSpPr>
          <p:nvPr/>
        </p:nvCxnSpPr>
        <p:spPr>
          <a:xfrm>
            <a:off x="2441448" y="2542032"/>
            <a:ext cx="0" cy="2679192"/>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9B9C7B40-73AE-C180-4E51-4E64E23A5050}"/>
              </a:ext>
            </a:extLst>
          </p:cNvPr>
          <p:cNvCxnSpPr>
            <a:cxnSpLocks/>
          </p:cNvCxnSpPr>
          <p:nvPr/>
        </p:nvCxnSpPr>
        <p:spPr>
          <a:xfrm>
            <a:off x="2441448" y="5221224"/>
            <a:ext cx="5449824" cy="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FB65A1C0-A99A-ECCB-8A13-9CA208D6DE2D}"/>
              </a:ext>
            </a:extLst>
          </p:cNvPr>
          <p:cNvCxnSpPr>
            <a:cxnSpLocks/>
          </p:cNvCxnSpPr>
          <p:nvPr/>
        </p:nvCxnSpPr>
        <p:spPr>
          <a:xfrm>
            <a:off x="3346704" y="2542032"/>
            <a:ext cx="0" cy="2679192"/>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7FA86C5B-109D-1F2C-7779-5F47441D7A6C}"/>
              </a:ext>
            </a:extLst>
          </p:cNvPr>
          <p:cNvCxnSpPr>
            <a:cxnSpLocks/>
          </p:cNvCxnSpPr>
          <p:nvPr/>
        </p:nvCxnSpPr>
        <p:spPr>
          <a:xfrm>
            <a:off x="6096000" y="2542032"/>
            <a:ext cx="0" cy="2679192"/>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B1DEC5E2-7637-E175-C573-B00BCC1FD902}"/>
              </a:ext>
            </a:extLst>
          </p:cNvPr>
          <p:cNvCxnSpPr>
            <a:cxnSpLocks/>
          </p:cNvCxnSpPr>
          <p:nvPr/>
        </p:nvCxnSpPr>
        <p:spPr>
          <a:xfrm>
            <a:off x="7891272" y="2542032"/>
            <a:ext cx="0" cy="2679192"/>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4DD86E2B-03ED-A7E1-FFE4-54A48ADD7C01}"/>
              </a:ext>
            </a:extLst>
          </p:cNvPr>
          <p:cNvCxnSpPr>
            <a:cxnSpLocks/>
          </p:cNvCxnSpPr>
          <p:nvPr/>
        </p:nvCxnSpPr>
        <p:spPr>
          <a:xfrm>
            <a:off x="6096000" y="2852928"/>
            <a:ext cx="1795272" cy="0"/>
          </a:xfrm>
          <a:prstGeom prst="straightConnector1">
            <a:avLst/>
          </a:prstGeom>
          <a:ln w="57150">
            <a:solidFill>
              <a:schemeClr val="tx2">
                <a:lumMod val="75000"/>
                <a:lumOff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D7620C40-ED83-556E-6ED5-259C5605AB0D}"/>
              </a:ext>
            </a:extLst>
          </p:cNvPr>
          <p:cNvCxnSpPr>
            <a:cxnSpLocks/>
          </p:cNvCxnSpPr>
          <p:nvPr/>
        </p:nvCxnSpPr>
        <p:spPr>
          <a:xfrm>
            <a:off x="3346704" y="3453384"/>
            <a:ext cx="4544568" cy="0"/>
          </a:xfrm>
          <a:prstGeom prst="straightConnector1">
            <a:avLst/>
          </a:prstGeom>
          <a:ln w="57150">
            <a:solidFill>
              <a:schemeClr val="tx2">
                <a:lumMod val="75000"/>
                <a:lumOff val="25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20" name="Straight Arrow Connector 19">
            <a:extLst>
              <a:ext uri="{FF2B5EF4-FFF2-40B4-BE49-F238E27FC236}">
                <a16:creationId xmlns:a16="http://schemas.microsoft.com/office/drawing/2014/main" id="{0519DF3B-1ED6-3F5A-F2AE-793A80841A66}"/>
              </a:ext>
            </a:extLst>
          </p:cNvPr>
          <p:cNvCxnSpPr>
            <a:cxnSpLocks/>
          </p:cNvCxnSpPr>
          <p:nvPr/>
        </p:nvCxnSpPr>
        <p:spPr>
          <a:xfrm flipH="1">
            <a:off x="3352800" y="4361688"/>
            <a:ext cx="4533900" cy="0"/>
          </a:xfrm>
          <a:prstGeom prst="straightConnector1">
            <a:avLst/>
          </a:prstGeom>
          <a:ln w="57150">
            <a:solidFill>
              <a:schemeClr val="tx2">
                <a:lumMod val="75000"/>
                <a:lumOff val="25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29" name="TextBox 28">
            <a:extLst>
              <a:ext uri="{FF2B5EF4-FFF2-40B4-BE49-F238E27FC236}">
                <a16:creationId xmlns:a16="http://schemas.microsoft.com/office/drawing/2014/main" id="{A5E52D63-556B-74E5-EA25-24B0A411CFA0}"/>
              </a:ext>
            </a:extLst>
          </p:cNvPr>
          <p:cNvSpPr txBox="1"/>
          <p:nvPr/>
        </p:nvSpPr>
        <p:spPr>
          <a:xfrm>
            <a:off x="6432804" y="2124160"/>
            <a:ext cx="1344168" cy="646331"/>
          </a:xfrm>
          <a:prstGeom prst="rect">
            <a:avLst/>
          </a:prstGeom>
          <a:noFill/>
        </p:spPr>
        <p:txBody>
          <a:bodyPr wrap="square" rtlCol="0">
            <a:spAutoFit/>
          </a:bodyPr>
          <a:lstStyle/>
          <a:p>
            <a:r>
              <a:rPr lang="en-US" b="1" dirty="0"/>
              <a:t>Phase 1: Analysis</a:t>
            </a:r>
          </a:p>
        </p:txBody>
      </p:sp>
      <p:sp>
        <p:nvSpPr>
          <p:cNvPr id="31" name="TextBox 30">
            <a:extLst>
              <a:ext uri="{FF2B5EF4-FFF2-40B4-BE49-F238E27FC236}">
                <a16:creationId xmlns:a16="http://schemas.microsoft.com/office/drawing/2014/main" id="{77497936-E81E-E9BE-3E29-717909F7FEB8}"/>
              </a:ext>
            </a:extLst>
          </p:cNvPr>
          <p:cNvSpPr txBox="1"/>
          <p:nvPr/>
        </p:nvSpPr>
        <p:spPr>
          <a:xfrm>
            <a:off x="4044697" y="2956299"/>
            <a:ext cx="1754115" cy="369332"/>
          </a:xfrm>
          <a:prstGeom prst="rect">
            <a:avLst/>
          </a:prstGeom>
          <a:noFill/>
        </p:spPr>
        <p:txBody>
          <a:bodyPr wrap="square" rtlCol="0">
            <a:spAutoFit/>
          </a:bodyPr>
          <a:lstStyle/>
          <a:p>
            <a:r>
              <a:rPr lang="en-US" b="1" dirty="0"/>
              <a:t>Phase 2: Redo</a:t>
            </a:r>
          </a:p>
        </p:txBody>
      </p:sp>
      <p:sp>
        <p:nvSpPr>
          <p:cNvPr id="35" name="TextBox 34">
            <a:extLst>
              <a:ext uri="{FF2B5EF4-FFF2-40B4-BE49-F238E27FC236}">
                <a16:creationId xmlns:a16="http://schemas.microsoft.com/office/drawing/2014/main" id="{B4558C5B-B568-1C1E-55A6-FD8B24C141BE}"/>
              </a:ext>
            </a:extLst>
          </p:cNvPr>
          <p:cNvSpPr txBox="1"/>
          <p:nvPr/>
        </p:nvSpPr>
        <p:spPr>
          <a:xfrm>
            <a:off x="4044697" y="3876628"/>
            <a:ext cx="1740409" cy="369332"/>
          </a:xfrm>
          <a:prstGeom prst="rect">
            <a:avLst/>
          </a:prstGeom>
          <a:noFill/>
        </p:spPr>
        <p:txBody>
          <a:bodyPr wrap="square" rtlCol="0">
            <a:spAutoFit/>
          </a:bodyPr>
          <a:lstStyle/>
          <a:p>
            <a:r>
              <a:rPr lang="en-US" b="1"/>
              <a:t>Phase 3: </a:t>
            </a:r>
            <a:r>
              <a:rPr lang="en-US" b="1" dirty="0"/>
              <a:t>Undo</a:t>
            </a:r>
          </a:p>
        </p:txBody>
      </p:sp>
      <p:sp>
        <p:nvSpPr>
          <p:cNvPr id="36" name="TextBox 35">
            <a:extLst>
              <a:ext uri="{FF2B5EF4-FFF2-40B4-BE49-F238E27FC236}">
                <a16:creationId xmlns:a16="http://schemas.microsoft.com/office/drawing/2014/main" id="{D1BB6B71-38AF-7802-5A0B-8FF04DB4D093}"/>
              </a:ext>
            </a:extLst>
          </p:cNvPr>
          <p:cNvSpPr txBox="1"/>
          <p:nvPr/>
        </p:nvSpPr>
        <p:spPr>
          <a:xfrm>
            <a:off x="1755647" y="5248685"/>
            <a:ext cx="1124711" cy="646331"/>
          </a:xfrm>
          <a:prstGeom prst="rect">
            <a:avLst/>
          </a:prstGeom>
          <a:noFill/>
        </p:spPr>
        <p:txBody>
          <a:bodyPr wrap="square" rtlCol="0">
            <a:spAutoFit/>
          </a:bodyPr>
          <a:lstStyle/>
          <a:p>
            <a:pPr algn="ctr"/>
            <a:r>
              <a:rPr lang="en-US" dirty="0"/>
              <a:t>Log </a:t>
            </a:r>
          </a:p>
          <a:p>
            <a:pPr algn="ctr"/>
            <a:r>
              <a:rPr lang="en-US" dirty="0"/>
              <a:t>Start</a:t>
            </a:r>
          </a:p>
        </p:txBody>
      </p:sp>
      <p:sp>
        <p:nvSpPr>
          <p:cNvPr id="38" name="TextBox 37">
            <a:extLst>
              <a:ext uri="{FF2B5EF4-FFF2-40B4-BE49-F238E27FC236}">
                <a16:creationId xmlns:a16="http://schemas.microsoft.com/office/drawing/2014/main" id="{DC92A793-381E-F43C-6A49-33D3410BF568}"/>
              </a:ext>
            </a:extLst>
          </p:cNvPr>
          <p:cNvSpPr txBox="1"/>
          <p:nvPr/>
        </p:nvSpPr>
        <p:spPr>
          <a:xfrm>
            <a:off x="7214616" y="5283232"/>
            <a:ext cx="1124711" cy="369332"/>
          </a:xfrm>
          <a:prstGeom prst="rect">
            <a:avLst/>
          </a:prstGeom>
          <a:noFill/>
        </p:spPr>
        <p:txBody>
          <a:bodyPr wrap="square" rtlCol="0">
            <a:spAutoFit/>
          </a:bodyPr>
          <a:lstStyle/>
          <a:p>
            <a:r>
              <a:rPr lang="en-US" dirty="0"/>
              <a:t>Log End </a:t>
            </a:r>
          </a:p>
        </p:txBody>
      </p:sp>
      <p:sp>
        <p:nvSpPr>
          <p:cNvPr id="42" name="TextBox 41">
            <a:extLst>
              <a:ext uri="{FF2B5EF4-FFF2-40B4-BE49-F238E27FC236}">
                <a16:creationId xmlns:a16="http://schemas.microsoft.com/office/drawing/2014/main" id="{612EF517-776B-B904-E81F-1F3FAE5766F9}"/>
              </a:ext>
            </a:extLst>
          </p:cNvPr>
          <p:cNvSpPr txBox="1"/>
          <p:nvPr/>
        </p:nvSpPr>
        <p:spPr>
          <a:xfrm>
            <a:off x="2430779" y="5263902"/>
            <a:ext cx="2100072" cy="646331"/>
          </a:xfrm>
          <a:prstGeom prst="rect">
            <a:avLst/>
          </a:prstGeom>
          <a:noFill/>
        </p:spPr>
        <p:txBody>
          <a:bodyPr wrap="square" rtlCol="0">
            <a:spAutoFit/>
          </a:bodyPr>
          <a:lstStyle/>
          <a:p>
            <a:pPr algn="ctr"/>
            <a:r>
              <a:rPr lang="en-US" dirty="0"/>
              <a:t>Oldest uncommitted Tx</a:t>
            </a:r>
          </a:p>
        </p:txBody>
      </p:sp>
      <p:sp>
        <p:nvSpPr>
          <p:cNvPr id="44" name="TextBox 43">
            <a:extLst>
              <a:ext uri="{FF2B5EF4-FFF2-40B4-BE49-F238E27FC236}">
                <a16:creationId xmlns:a16="http://schemas.microsoft.com/office/drawing/2014/main" id="{2F924DBE-0557-5AA5-0505-2EB030D91350}"/>
              </a:ext>
            </a:extLst>
          </p:cNvPr>
          <p:cNvSpPr txBox="1"/>
          <p:nvPr/>
        </p:nvSpPr>
        <p:spPr>
          <a:xfrm>
            <a:off x="5533644" y="5303661"/>
            <a:ext cx="1424940" cy="369332"/>
          </a:xfrm>
          <a:prstGeom prst="rect">
            <a:avLst/>
          </a:prstGeom>
          <a:noFill/>
        </p:spPr>
        <p:txBody>
          <a:bodyPr wrap="square" rtlCol="0">
            <a:spAutoFit/>
          </a:bodyPr>
          <a:lstStyle/>
          <a:p>
            <a:r>
              <a:rPr lang="en-US" dirty="0"/>
              <a:t>Checkpoint</a:t>
            </a:r>
          </a:p>
        </p:txBody>
      </p:sp>
      <p:sp>
        <p:nvSpPr>
          <p:cNvPr id="46" name="TextBox 45">
            <a:extLst>
              <a:ext uri="{FF2B5EF4-FFF2-40B4-BE49-F238E27FC236}">
                <a16:creationId xmlns:a16="http://schemas.microsoft.com/office/drawing/2014/main" id="{F702BF6B-11C5-D835-FACE-1ED15917B397}"/>
              </a:ext>
            </a:extLst>
          </p:cNvPr>
          <p:cNvSpPr txBox="1"/>
          <p:nvPr/>
        </p:nvSpPr>
        <p:spPr>
          <a:xfrm>
            <a:off x="7973568" y="2229029"/>
            <a:ext cx="4186428" cy="923330"/>
          </a:xfrm>
          <a:prstGeom prst="rect">
            <a:avLst/>
          </a:prstGeom>
          <a:noFill/>
        </p:spPr>
        <p:txBody>
          <a:bodyPr wrap="square" rtlCol="0">
            <a:spAutoFit/>
          </a:bodyPr>
          <a:lstStyle/>
          <a:p>
            <a:r>
              <a:rPr lang="en-US" dirty="0"/>
              <a:t>Scans forward from the last checkpoint to identify what belongs to the Redo and Undo processes</a:t>
            </a:r>
          </a:p>
        </p:txBody>
      </p:sp>
      <p:sp>
        <p:nvSpPr>
          <p:cNvPr id="48" name="TextBox 47">
            <a:extLst>
              <a:ext uri="{FF2B5EF4-FFF2-40B4-BE49-F238E27FC236}">
                <a16:creationId xmlns:a16="http://schemas.microsoft.com/office/drawing/2014/main" id="{D7C9184C-BB55-2B52-EAF8-C138571D1868}"/>
              </a:ext>
            </a:extLst>
          </p:cNvPr>
          <p:cNvSpPr txBox="1"/>
          <p:nvPr/>
        </p:nvSpPr>
        <p:spPr>
          <a:xfrm>
            <a:off x="8005571" y="3249311"/>
            <a:ext cx="3302000" cy="646331"/>
          </a:xfrm>
          <a:prstGeom prst="rect">
            <a:avLst/>
          </a:prstGeom>
          <a:noFill/>
        </p:spPr>
        <p:txBody>
          <a:bodyPr wrap="square" rtlCol="0">
            <a:spAutoFit/>
          </a:bodyPr>
          <a:lstStyle/>
          <a:p>
            <a:r>
              <a:rPr lang="en-US"/>
              <a:t>Redo committed operations</a:t>
            </a:r>
            <a:endParaRPr lang="en-US" dirty="0"/>
          </a:p>
        </p:txBody>
      </p:sp>
      <p:sp>
        <p:nvSpPr>
          <p:cNvPr id="50" name="TextBox 49">
            <a:extLst>
              <a:ext uri="{FF2B5EF4-FFF2-40B4-BE49-F238E27FC236}">
                <a16:creationId xmlns:a16="http://schemas.microsoft.com/office/drawing/2014/main" id="{58D9BBD4-C57C-1D58-5B18-BE60AB2FF497}"/>
              </a:ext>
            </a:extLst>
          </p:cNvPr>
          <p:cNvSpPr txBox="1"/>
          <p:nvPr/>
        </p:nvSpPr>
        <p:spPr>
          <a:xfrm>
            <a:off x="8005571" y="4111847"/>
            <a:ext cx="2994659" cy="369332"/>
          </a:xfrm>
          <a:prstGeom prst="rect">
            <a:avLst/>
          </a:prstGeom>
          <a:noFill/>
        </p:spPr>
        <p:txBody>
          <a:bodyPr wrap="square" rtlCol="0">
            <a:spAutoFit/>
          </a:bodyPr>
          <a:lstStyle/>
          <a:p>
            <a:r>
              <a:rPr lang="en-US" dirty="0"/>
              <a:t>Rollback uncommitted Tx </a:t>
            </a:r>
          </a:p>
        </p:txBody>
      </p:sp>
      <p:sp>
        <p:nvSpPr>
          <p:cNvPr id="51" name="TextBox 50">
            <a:extLst>
              <a:ext uri="{FF2B5EF4-FFF2-40B4-BE49-F238E27FC236}">
                <a16:creationId xmlns:a16="http://schemas.microsoft.com/office/drawing/2014/main" id="{E59F782F-7B3F-F7A5-B207-B008B50BB7F8}"/>
              </a:ext>
            </a:extLst>
          </p:cNvPr>
          <p:cNvSpPr txBox="1"/>
          <p:nvPr/>
        </p:nvSpPr>
        <p:spPr>
          <a:xfrm>
            <a:off x="8804912" y="5308600"/>
            <a:ext cx="3238500" cy="692497"/>
          </a:xfrm>
          <a:prstGeom prst="rect">
            <a:avLst/>
          </a:prstGeom>
          <a:noFill/>
        </p:spPr>
        <p:txBody>
          <a:bodyPr wrap="square" rtlCol="0">
            <a:spAutoFit/>
          </a:bodyPr>
          <a:lstStyle/>
          <a:p>
            <a:pPr algn="ctr"/>
            <a:r>
              <a:rPr lang="en-US" sz="1300" b="1">
                <a:solidFill>
                  <a:schemeClr val="accent2">
                    <a:lumMod val="75000"/>
                  </a:schemeClr>
                </a:solidFill>
              </a:rPr>
              <a:t>Data locked by the open transaction stays blocked until UNDO finishes</a:t>
            </a:r>
          </a:p>
          <a:p>
            <a:pPr algn="ctr"/>
            <a:r>
              <a:rPr lang="en-US" sz="1300" b="1">
                <a:solidFill>
                  <a:schemeClr val="accent2">
                    <a:lumMod val="75000"/>
                  </a:schemeClr>
                </a:solidFill>
              </a:rPr>
              <a:t>(Standard edition: the whole DB waits)</a:t>
            </a:r>
            <a:endParaRPr lang="en-US" sz="1300" b="1" dirty="0">
              <a:solidFill>
                <a:schemeClr val="accent2">
                  <a:lumMod val="75000"/>
                </a:schemeClr>
              </a:solidFill>
            </a:endParaRPr>
          </a:p>
        </p:txBody>
      </p:sp>
      <p:sp>
        <p:nvSpPr>
          <p:cNvPr id="52" name="Rectangle: Rounded Corners 51">
            <a:extLst>
              <a:ext uri="{FF2B5EF4-FFF2-40B4-BE49-F238E27FC236}">
                <a16:creationId xmlns:a16="http://schemas.microsoft.com/office/drawing/2014/main" id="{AED2011E-800A-8AC1-2DA5-21FCC81B59DB}"/>
              </a:ext>
            </a:extLst>
          </p:cNvPr>
          <p:cNvSpPr/>
          <p:nvPr/>
        </p:nvSpPr>
        <p:spPr>
          <a:xfrm>
            <a:off x="3352800" y="3797795"/>
            <a:ext cx="4533900" cy="966226"/>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EE8B25A9-5873-7370-80DC-4BBDF844AFDA}"/>
              </a:ext>
            </a:extLst>
          </p:cNvPr>
          <p:cNvSpPr/>
          <p:nvPr/>
        </p:nvSpPr>
        <p:spPr>
          <a:xfrm>
            <a:off x="838200" y="6070600"/>
            <a:ext cx="7747000" cy="660400"/>
          </a:xfrm>
          <a:prstGeom prst="roundRect">
            <a:avLst/>
          </a:prstGeom>
          <a:solidFill>
            <a:srgbClr val="FFF3CD"/>
          </a:solidFill>
          <a:ln w="15875">
            <a:solidFill>
              <a:srgbClr val="D6A000"/>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US" sz="1400" dirty="0">
                <a:solidFill>
                  <a:srgbClr val="1A1A2E"/>
                </a:solidFill>
              </a:rPr>
              <a:t>Why it's slow: Redo and Undo both reach back to the oldest uncommitted transaction - recovery time grows with your longest transaction, and the log can't be truncated past it.</a:t>
            </a:r>
          </a:p>
        </p:txBody>
      </p:sp>
    </p:spTree>
    <p:extLst>
      <p:ext uri="{BB962C8B-B14F-4D97-AF65-F5344CB8AC3E}">
        <p14:creationId xmlns:p14="http://schemas.microsoft.com/office/powerpoint/2010/main" val="4046826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5" grpId="0"/>
      <p:bldP spid="36" grpId="0"/>
      <p:bldP spid="38" grpId="0"/>
      <p:bldP spid="42" grpId="0"/>
      <p:bldP spid="44" grpId="0"/>
      <p:bldP spid="46" grpId="0"/>
      <p:bldP spid="48" grpId="0"/>
      <p:bldP spid="50" grpId="0"/>
      <p:bldP spid="51" grpId="0"/>
      <p:bldP spid="52"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C721F-9540-F4D2-7469-27993D297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D07A2-39EA-40C0-CE47-745FAD8BA10E}"/>
              </a:ext>
            </a:extLst>
          </p:cNvPr>
          <p:cNvSpPr>
            <a:spLocks noGrp="1"/>
          </p:cNvSpPr>
          <p:nvPr>
            <p:ph type="title"/>
          </p:nvPr>
        </p:nvSpPr>
        <p:spPr/>
        <p:txBody>
          <a:bodyPr/>
          <a:lstStyle/>
          <a:p>
            <a:r>
              <a:rPr lang="en-US" dirty="0"/>
              <a:t>ADR</a:t>
            </a:r>
          </a:p>
        </p:txBody>
      </p:sp>
      <p:sp>
        <p:nvSpPr>
          <p:cNvPr id="3" name="Content Placeholder 2">
            <a:extLst>
              <a:ext uri="{FF2B5EF4-FFF2-40B4-BE49-F238E27FC236}">
                <a16:creationId xmlns:a16="http://schemas.microsoft.com/office/drawing/2014/main" id="{339DB132-07D1-21B4-558D-CAD8DA0B0FF8}"/>
              </a:ext>
            </a:extLst>
          </p:cNvPr>
          <p:cNvSpPr>
            <a:spLocks noGrp="1"/>
          </p:cNvSpPr>
          <p:nvPr>
            <p:ph idx="1"/>
          </p:nvPr>
        </p:nvSpPr>
        <p:spPr/>
        <p:txBody>
          <a:bodyPr>
            <a:normAutofit fontScale="92500"/>
          </a:bodyPr>
          <a:lstStyle/>
          <a:p>
            <a:r>
              <a:rPr lang="en-US" dirty="0"/>
              <a:t>New database engine feature starting SQL 2019</a:t>
            </a:r>
          </a:p>
          <a:p>
            <a:r>
              <a:rPr lang="en-US" dirty="0"/>
              <a:t>Available in both Standard and Enterprise editions</a:t>
            </a:r>
          </a:p>
          <a:p>
            <a:r>
              <a:rPr lang="en-US" b="1" dirty="0"/>
              <a:t>Disabled by default in SQL Server</a:t>
            </a:r>
          </a:p>
          <a:p>
            <a:r>
              <a:rPr lang="en-US" b="1" dirty="0">
                <a:solidFill>
                  <a:srgbClr val="1A1A2E"/>
                </a:solidFill>
              </a:rPr>
              <a:t>Always enabled in Azure</a:t>
            </a:r>
            <a:r>
              <a:rPr lang="en-US" dirty="0"/>
              <a:t> SQL Database, Azure SQL Managed Instance, and SQL database in Fabric</a:t>
            </a:r>
          </a:p>
          <a:p>
            <a:r>
              <a:rPr lang="en-US" dirty="0"/>
              <a:t>Improves database availability by redesigning the recovery process</a:t>
            </a:r>
          </a:p>
          <a:p>
            <a:pPr marL="0" indent="0" algn="ctr">
              <a:buNone/>
            </a:pPr>
            <a:r>
              <a:rPr lang="en-US" dirty="0">
                <a:solidFill>
                  <a:schemeClr val="accent2">
                    <a:lumMod val="75000"/>
                  </a:schemeClr>
                </a:solidFill>
              </a:rPr>
              <a:t>Fast and Consistent Database Recovery</a:t>
            </a:r>
          </a:p>
          <a:p>
            <a:pPr marL="0" indent="0" algn="ctr">
              <a:buNone/>
            </a:pPr>
            <a:r>
              <a:rPr lang="en-US" dirty="0">
                <a:solidFill>
                  <a:schemeClr val="accent2">
                    <a:lumMod val="75000"/>
                  </a:schemeClr>
                </a:solidFill>
              </a:rPr>
              <a:t>Instantaneous Transaction Rollback</a:t>
            </a:r>
          </a:p>
          <a:p>
            <a:pPr marL="0" indent="0" algn="ctr">
              <a:buNone/>
            </a:pPr>
            <a:r>
              <a:rPr lang="en-US" dirty="0">
                <a:solidFill>
                  <a:schemeClr val="accent2">
                    <a:lumMod val="75000"/>
                  </a:schemeClr>
                </a:solidFill>
              </a:rPr>
              <a:t>Aggressive Log Truncation</a:t>
            </a:r>
            <a:endParaRPr lang="en-US" dirty="0"/>
          </a:p>
        </p:txBody>
      </p:sp>
      <p:sp>
        <p:nvSpPr>
          <p:cNvPr id="4" name="Rectangle: Rounded Corners 3">
            <a:extLst>
              <a:ext uri="{FF2B5EF4-FFF2-40B4-BE49-F238E27FC236}">
                <a16:creationId xmlns:a16="http://schemas.microsoft.com/office/drawing/2014/main" id="{D62CECB2-D429-79A5-328B-D5EAAF1BA2C5}"/>
              </a:ext>
            </a:extLst>
          </p:cNvPr>
          <p:cNvSpPr/>
          <p:nvPr/>
        </p:nvSpPr>
        <p:spPr>
          <a:xfrm>
            <a:off x="838200" y="5994400"/>
            <a:ext cx="10515600" cy="635000"/>
          </a:xfrm>
          <a:prstGeom prst="roundRect">
            <a:avLst/>
          </a:prstGeom>
          <a:solidFill>
            <a:srgbClr val="D6FFD6"/>
          </a:solidFill>
          <a:ln w="15875">
            <a:solidFill>
              <a:srgbClr val="1A7A3C"/>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US">
                <a:solidFill>
                  <a:srgbClr val="1A1A2E"/>
                </a:solidFill>
              </a:rPr>
              <a:t>Core idea: keep row versions inside the database, so rollback no longer has to walk the log.</a:t>
            </a:r>
          </a:p>
        </p:txBody>
      </p:sp>
    </p:spTree>
    <p:extLst>
      <p:ext uri="{BB962C8B-B14F-4D97-AF65-F5344CB8AC3E}">
        <p14:creationId xmlns:p14="http://schemas.microsoft.com/office/powerpoint/2010/main" val="261542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A3841-255D-92D8-81D2-E7604EE9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4A102-8FFC-4AD9-794B-31D874E7912E}"/>
              </a:ext>
            </a:extLst>
          </p:cNvPr>
          <p:cNvSpPr>
            <a:spLocks noGrp="1"/>
          </p:cNvSpPr>
          <p:nvPr>
            <p:ph type="title"/>
          </p:nvPr>
        </p:nvSpPr>
        <p:spPr/>
        <p:txBody>
          <a:bodyPr/>
          <a:lstStyle/>
          <a:p>
            <a:r>
              <a:rPr lang="en-US" dirty="0"/>
              <a:t>1. Persistent Version Store -  PVS</a:t>
            </a:r>
          </a:p>
        </p:txBody>
      </p:sp>
      <p:sp>
        <p:nvSpPr>
          <p:cNvPr id="3" name="Content Placeholder 2">
            <a:extLst>
              <a:ext uri="{FF2B5EF4-FFF2-40B4-BE49-F238E27FC236}">
                <a16:creationId xmlns:a16="http://schemas.microsoft.com/office/drawing/2014/main" id="{72AA755D-E8F4-5AA6-B2B3-74D344213A82}"/>
              </a:ext>
            </a:extLst>
          </p:cNvPr>
          <p:cNvSpPr>
            <a:spLocks noGrp="1"/>
          </p:cNvSpPr>
          <p:nvPr>
            <p:ph idx="1"/>
          </p:nvPr>
        </p:nvSpPr>
        <p:spPr/>
        <p:txBody>
          <a:bodyPr/>
          <a:lstStyle/>
          <a:p>
            <a:r>
              <a:rPr lang="en-US" dirty="0"/>
              <a:t>When DML runs, it persists row versions in the user database itself </a:t>
            </a:r>
          </a:p>
          <a:p>
            <a:r>
              <a:rPr lang="en-US" dirty="0"/>
              <a:t>Traditional way - version store in the tempdb database. </a:t>
            </a:r>
          </a:p>
          <a:p>
            <a:r>
              <a:rPr lang="en-US" dirty="0"/>
              <a:t>Row versions are in data pages being modified, or in a separate system table. </a:t>
            </a:r>
          </a:p>
          <a:p>
            <a:r>
              <a:rPr lang="en-US"/>
              <a:t>Improves availability of readable secondaries in Availability Groups.</a:t>
            </a:r>
            <a:endParaRPr lang="en-US" dirty="0"/>
          </a:p>
        </p:txBody>
      </p:sp>
    </p:spTree>
    <p:extLst>
      <p:ext uri="{BB962C8B-B14F-4D97-AF65-F5344CB8AC3E}">
        <p14:creationId xmlns:p14="http://schemas.microsoft.com/office/powerpoint/2010/main" val="165277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C2AF-7487-5CFB-63C0-7404456C5CA1}"/>
              </a:ext>
            </a:extLst>
          </p:cNvPr>
          <p:cNvSpPr>
            <a:spLocks noGrp="1"/>
          </p:cNvSpPr>
          <p:nvPr>
            <p:ph type="title"/>
          </p:nvPr>
        </p:nvSpPr>
        <p:spPr/>
        <p:txBody>
          <a:bodyPr/>
          <a:lstStyle/>
          <a:p>
            <a:r>
              <a:rPr lang="en-US" dirty="0"/>
              <a:t>Version Store vs Persistent Version Store</a:t>
            </a:r>
          </a:p>
        </p:txBody>
      </p:sp>
      <p:graphicFrame>
        <p:nvGraphicFramePr>
          <p:cNvPr id="6" name="Content Placeholder 5">
            <a:extLst>
              <a:ext uri="{FF2B5EF4-FFF2-40B4-BE49-F238E27FC236}">
                <a16:creationId xmlns:a16="http://schemas.microsoft.com/office/drawing/2014/main" id="{C803AAB7-0F58-0D38-8ACB-AA37E47D1E40}"/>
              </a:ext>
            </a:extLst>
          </p:cNvPr>
          <p:cNvGraphicFramePr>
            <a:graphicFrameLocks noGrp="1"/>
          </p:cNvGraphicFramePr>
          <p:nvPr>
            <p:ph idx="1"/>
            <p:extLst>
              <p:ext uri="{D42A27DB-BD31-4B8C-83A1-F6EECF244321}">
                <p14:modId xmlns:p14="http://schemas.microsoft.com/office/powerpoint/2010/main" val="948218929"/>
              </p:ext>
            </p:extLst>
          </p:nvPr>
        </p:nvGraphicFramePr>
        <p:xfrm>
          <a:off x="838200" y="1905000"/>
          <a:ext cx="10515600" cy="38100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911777002"/>
                    </a:ext>
                  </a:extLst>
                </a:gridCol>
                <a:gridCol w="4178300">
                  <a:extLst>
                    <a:ext uri="{9D8B030D-6E8A-4147-A177-3AD203B41FA5}">
                      <a16:colId xmlns:a16="http://schemas.microsoft.com/office/drawing/2014/main" val="2063970725"/>
                    </a:ext>
                  </a:extLst>
                </a:gridCol>
                <a:gridCol w="4178300">
                  <a:extLst>
                    <a:ext uri="{9D8B030D-6E8A-4147-A177-3AD203B41FA5}">
                      <a16:colId xmlns:a16="http://schemas.microsoft.com/office/drawing/2014/main" val="3341687987"/>
                    </a:ext>
                  </a:extLst>
                </a:gridCol>
              </a:tblGrid>
              <a:tr h="762000">
                <a:tc>
                  <a:txBody>
                    <a:bodyPr/>
                    <a:lstStyle/>
                    <a:p>
                      <a:endParaRPr lang="en-US" sz="1800" b="1"/>
                    </a:p>
                  </a:txBody>
                  <a:tcPr/>
                </a:tc>
                <a:tc>
                  <a:txBody>
                    <a:bodyPr/>
                    <a:lstStyle/>
                    <a:p>
                      <a:r>
                        <a:rPr lang="en-US" sz="1800" b="1"/>
                        <a:t>Version store (tempdb)</a:t>
                      </a:r>
                    </a:p>
                  </a:txBody>
                  <a:tcPr/>
                </a:tc>
                <a:tc>
                  <a:txBody>
                    <a:bodyPr/>
                    <a:lstStyle/>
                    <a:p>
                      <a:r>
                        <a:rPr lang="en-US" sz="1800" b="1"/>
                        <a:t>Persistent version store (PVS)</a:t>
                      </a:r>
                    </a:p>
                  </a:txBody>
                  <a:tcPr/>
                </a:tc>
                <a:extLst>
                  <a:ext uri="{0D108BD9-81ED-4DB2-BD59-A6C34878D82A}">
                    <a16:rowId xmlns:a16="http://schemas.microsoft.com/office/drawing/2014/main" val="1612119165"/>
                  </a:ext>
                </a:extLst>
              </a:tr>
              <a:tr h="762000">
                <a:tc>
                  <a:txBody>
                    <a:bodyPr/>
                    <a:lstStyle/>
                    <a:p>
                      <a:r>
                        <a:rPr lang="en-US" sz="1800" b="1"/>
                        <a:t>Where</a:t>
                      </a:r>
                    </a:p>
                  </a:txBody>
                  <a:tcPr/>
                </a:tc>
                <a:tc>
                  <a:txBody>
                    <a:bodyPr/>
                    <a:lstStyle/>
                    <a:p>
                      <a:r>
                        <a:rPr lang="en-US" sz="1800"/>
                        <a:t>tempdb - shared by all databases</a:t>
                      </a:r>
                    </a:p>
                  </a:txBody>
                  <a:tcPr/>
                </a:tc>
                <a:tc>
                  <a:txBody>
                    <a:bodyPr/>
                    <a:lstStyle/>
                    <a:p>
                      <a:r>
                        <a:rPr lang="en-US" sz="1800"/>
                        <a:t>Inside each user database</a:t>
                      </a:r>
                    </a:p>
                  </a:txBody>
                  <a:tcPr/>
                </a:tc>
                <a:extLst>
                  <a:ext uri="{0D108BD9-81ED-4DB2-BD59-A6C34878D82A}">
                    <a16:rowId xmlns:a16="http://schemas.microsoft.com/office/drawing/2014/main" val="3078203911"/>
                  </a:ext>
                </a:extLst>
              </a:tr>
              <a:tr h="762000">
                <a:tc>
                  <a:txBody>
                    <a:bodyPr/>
                    <a:lstStyle/>
                    <a:p>
                      <a:r>
                        <a:rPr lang="en-US" sz="1800" b="1"/>
                        <a:t>Survives restart?</a:t>
                      </a:r>
                    </a:p>
                  </a:txBody>
                  <a:tcPr/>
                </a:tc>
                <a:tc>
                  <a:txBody>
                    <a:bodyPr/>
                    <a:lstStyle/>
                    <a:p>
                      <a:r>
                        <a:rPr lang="en-US" sz="1800"/>
                        <a:t>No - tempdb is recreated at startup</a:t>
                      </a:r>
                    </a:p>
                  </a:txBody>
                  <a:tcPr/>
                </a:tc>
                <a:tc>
                  <a:txBody>
                    <a:bodyPr/>
                    <a:lstStyle/>
                    <a:p>
                      <a:r>
                        <a:rPr lang="en-US" sz="1800"/>
                        <a:t>Yes - persisted with the database</a:t>
                      </a:r>
                    </a:p>
                  </a:txBody>
                  <a:tcPr/>
                </a:tc>
                <a:extLst>
                  <a:ext uri="{0D108BD9-81ED-4DB2-BD59-A6C34878D82A}">
                    <a16:rowId xmlns:a16="http://schemas.microsoft.com/office/drawing/2014/main" val="1202093692"/>
                  </a:ext>
                </a:extLst>
              </a:tr>
              <a:tr h="762000">
                <a:tc>
                  <a:txBody>
                    <a:bodyPr/>
                    <a:lstStyle/>
                    <a:p>
                      <a:r>
                        <a:rPr lang="en-US" sz="1800" b="1"/>
                        <a:t>Used by</a:t>
                      </a:r>
                    </a:p>
                  </a:txBody>
                  <a:tcPr/>
                </a:tc>
                <a:tc>
                  <a:txBody>
                    <a:bodyPr/>
                    <a:lstStyle/>
                    <a:p>
                      <a:r>
                        <a:rPr lang="en-US" sz="1800"/>
                        <a:t>RCSI / snapshot isolation, triggers, online index builds, MARS</a:t>
                      </a:r>
                    </a:p>
                  </a:txBody>
                  <a:tcPr/>
                </a:tc>
                <a:tc>
                  <a:txBody>
                    <a:bodyPr/>
                    <a:lstStyle/>
                    <a:p>
                      <a:r>
                        <a:rPr lang="en-US" sz="1800"/>
                        <a:t>ADR - also holds that database's row versions instead of tempdb</a:t>
                      </a:r>
                    </a:p>
                  </a:txBody>
                  <a:tcPr/>
                </a:tc>
                <a:extLst>
                  <a:ext uri="{0D108BD9-81ED-4DB2-BD59-A6C34878D82A}">
                    <a16:rowId xmlns:a16="http://schemas.microsoft.com/office/drawing/2014/main" val="4180155971"/>
                  </a:ext>
                </a:extLst>
              </a:tr>
              <a:tr h="762000">
                <a:tc>
                  <a:txBody>
                    <a:bodyPr/>
                    <a:lstStyle/>
                    <a:p>
                      <a:r>
                        <a:rPr lang="en-US" sz="1800" b="1"/>
                        <a:t>Role in recovery</a:t>
                      </a:r>
                    </a:p>
                  </a:txBody>
                  <a:tcPr/>
                </a:tc>
                <a:tc>
                  <a:txBody>
                    <a:bodyPr/>
                    <a:lstStyle/>
                    <a:p>
                      <a:r>
                        <a:rPr lang="en-US" sz="1800"/>
                        <a:t>None</a:t>
                      </a:r>
                    </a:p>
                  </a:txBody>
                  <a:tcPr/>
                </a:tc>
                <a:tc>
                  <a:txBody>
                    <a:bodyPr/>
                    <a:lstStyle/>
                    <a:p>
                      <a:r>
                        <a:rPr lang="en-US" sz="1800"/>
                        <a:t>Enables instant rollback via logical revert</a:t>
                      </a:r>
                    </a:p>
                  </a:txBody>
                  <a:tcPr/>
                </a:tc>
                <a:extLst>
                  <a:ext uri="{0D108BD9-81ED-4DB2-BD59-A6C34878D82A}">
                    <a16:rowId xmlns:a16="http://schemas.microsoft.com/office/drawing/2014/main" val="1741295347"/>
                  </a:ext>
                </a:extLst>
              </a:tr>
            </a:tbl>
          </a:graphicData>
        </a:graphic>
      </p:graphicFrame>
    </p:spTree>
    <p:extLst>
      <p:ext uri="{BB962C8B-B14F-4D97-AF65-F5344CB8AC3E}">
        <p14:creationId xmlns:p14="http://schemas.microsoft.com/office/powerpoint/2010/main" val="3110509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FB128-FCF8-0688-C364-AD0CCAC1EECC}"/>
              </a:ext>
            </a:extLst>
          </p:cNvPr>
          <p:cNvSpPr>
            <a:spLocks noGrp="1"/>
          </p:cNvSpPr>
          <p:nvPr>
            <p:ph type="title"/>
          </p:nvPr>
        </p:nvSpPr>
        <p:spPr/>
        <p:txBody>
          <a:bodyPr/>
          <a:lstStyle/>
          <a:p>
            <a:r>
              <a:rPr lang="en-US"/>
              <a:t>PVS with Availability Groups</a:t>
            </a:r>
          </a:p>
        </p:txBody>
      </p:sp>
      <p:sp>
        <p:nvSpPr>
          <p:cNvPr id="4" name="Rectangle 3">
            <a:extLst>
              <a:ext uri="{FF2B5EF4-FFF2-40B4-BE49-F238E27FC236}">
                <a16:creationId xmlns:a16="http://schemas.microsoft.com/office/drawing/2014/main" id="{6F91AB7B-F55C-3FF5-D410-1C423E74D0E6}"/>
              </a:ext>
            </a:extLst>
          </p:cNvPr>
          <p:cNvSpPr/>
          <p:nvPr/>
        </p:nvSpPr>
        <p:spPr>
          <a:xfrm>
            <a:off x="508000" y="1778000"/>
            <a:ext cx="3810000" cy="3048000"/>
          </a:xfrm>
          <a:prstGeom prst="rect">
            <a:avLst/>
          </a:prstGeom>
          <a:solidFill>
            <a:srgbClr val="F7F7F7"/>
          </a:solidFill>
          <a:ln w="15875">
            <a:solidFill>
              <a:srgbClr val="BEBEBE"/>
            </a:solidFill>
          </a:ln>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endParaRPr lang="en-US" sz="1400">
              <a:solidFill>
                <a:srgbClr val="1A1A2E"/>
              </a:solidFill>
            </a:endParaRPr>
          </a:p>
        </p:txBody>
      </p:sp>
      <p:sp>
        <p:nvSpPr>
          <p:cNvPr id="5" name="TextBox 4">
            <a:extLst>
              <a:ext uri="{FF2B5EF4-FFF2-40B4-BE49-F238E27FC236}">
                <a16:creationId xmlns:a16="http://schemas.microsoft.com/office/drawing/2014/main" id="{1E501A24-C119-47CE-AD91-C6A4F80FAE3E}"/>
              </a:ext>
            </a:extLst>
          </p:cNvPr>
          <p:cNvSpPr txBox="1"/>
          <p:nvPr/>
        </p:nvSpPr>
        <p:spPr>
          <a:xfrm>
            <a:off x="508000" y="1828800"/>
            <a:ext cx="3810000" cy="323165"/>
          </a:xfrm>
          <a:prstGeom prst="rect">
            <a:avLst/>
          </a:prstGeom>
          <a:noFill/>
        </p:spPr>
        <p:txBody>
          <a:bodyPr vert="horz" wrap="square" rtlCol="0">
            <a:spAutoFit/>
          </a:bodyPr>
          <a:lstStyle/>
          <a:p>
            <a:pPr algn="ctr"/>
            <a:r>
              <a:rPr lang="en-US" sz="1500" b="1">
                <a:solidFill>
                  <a:srgbClr val="1A1A2E"/>
                </a:solidFill>
              </a:rPr>
              <a:t>PRIMARY replica</a:t>
            </a:r>
          </a:p>
        </p:txBody>
      </p:sp>
      <p:sp>
        <p:nvSpPr>
          <p:cNvPr id="6" name="Rectangle 5">
            <a:extLst>
              <a:ext uri="{FF2B5EF4-FFF2-40B4-BE49-F238E27FC236}">
                <a16:creationId xmlns:a16="http://schemas.microsoft.com/office/drawing/2014/main" id="{78B79B4C-DAA6-FD17-3EC3-A4C886AA82B2}"/>
              </a:ext>
            </a:extLst>
          </p:cNvPr>
          <p:cNvSpPr/>
          <p:nvPr/>
        </p:nvSpPr>
        <p:spPr>
          <a:xfrm>
            <a:off x="7874000" y="1778000"/>
            <a:ext cx="3810000" cy="3048000"/>
          </a:xfrm>
          <a:prstGeom prst="rect">
            <a:avLst/>
          </a:prstGeom>
          <a:solidFill>
            <a:srgbClr val="F7F7F7"/>
          </a:solidFill>
          <a:ln w="15875">
            <a:solidFill>
              <a:srgbClr val="BEBEBE"/>
            </a:solidFill>
          </a:ln>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endParaRPr lang="en-US" sz="1400">
              <a:solidFill>
                <a:srgbClr val="1A1A2E"/>
              </a:solidFill>
            </a:endParaRPr>
          </a:p>
        </p:txBody>
      </p:sp>
      <p:sp>
        <p:nvSpPr>
          <p:cNvPr id="7" name="TextBox 6">
            <a:extLst>
              <a:ext uri="{FF2B5EF4-FFF2-40B4-BE49-F238E27FC236}">
                <a16:creationId xmlns:a16="http://schemas.microsoft.com/office/drawing/2014/main" id="{DC371E40-2527-8B44-6FB2-EB14DDC11FB7}"/>
              </a:ext>
            </a:extLst>
          </p:cNvPr>
          <p:cNvSpPr txBox="1"/>
          <p:nvPr/>
        </p:nvSpPr>
        <p:spPr>
          <a:xfrm>
            <a:off x="7874000" y="1828800"/>
            <a:ext cx="3810000" cy="323165"/>
          </a:xfrm>
          <a:prstGeom prst="rect">
            <a:avLst/>
          </a:prstGeom>
          <a:noFill/>
        </p:spPr>
        <p:txBody>
          <a:bodyPr vert="horz" wrap="square" rtlCol="0">
            <a:spAutoFit/>
          </a:bodyPr>
          <a:lstStyle/>
          <a:p>
            <a:pPr algn="ctr"/>
            <a:r>
              <a:rPr lang="en-US" sz="1500" b="1">
                <a:solidFill>
                  <a:srgbClr val="1A1A2E"/>
                </a:solidFill>
              </a:rPr>
              <a:t>READABLE SECONDARY replica</a:t>
            </a:r>
          </a:p>
        </p:txBody>
      </p:sp>
      <p:sp>
        <p:nvSpPr>
          <p:cNvPr id="8" name="Rectangle: Rounded Corners 7">
            <a:extLst>
              <a:ext uri="{FF2B5EF4-FFF2-40B4-BE49-F238E27FC236}">
                <a16:creationId xmlns:a16="http://schemas.microsoft.com/office/drawing/2014/main" id="{63C71353-F057-CCBA-9E41-5FB0AD6A6DFB}"/>
              </a:ext>
            </a:extLst>
          </p:cNvPr>
          <p:cNvSpPr/>
          <p:nvPr/>
        </p:nvSpPr>
        <p:spPr>
          <a:xfrm>
            <a:off x="762000" y="2260600"/>
            <a:ext cx="3302000" cy="660400"/>
          </a:xfrm>
          <a:prstGeom prst="roundRect">
            <a:avLst/>
          </a:prstGeom>
          <a:solidFill>
            <a:srgbClr val="CDE4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r>
              <a:rPr lang="en-US" sz="1300">
                <a:solidFill>
                  <a:srgbClr val="1A1A2E"/>
                </a:solidFill>
              </a:rPr>
              <a:t>Data pages</a:t>
            </a:r>
          </a:p>
          <a:p>
            <a:pPr algn="ctr"/>
            <a:r>
              <a:rPr lang="en-US" sz="1300">
                <a:solidFill>
                  <a:srgbClr val="1A1A2E"/>
                </a:solidFill>
              </a:rPr>
              <a:t>(DML writes here)</a:t>
            </a:r>
          </a:p>
        </p:txBody>
      </p:sp>
      <p:sp>
        <p:nvSpPr>
          <p:cNvPr id="9" name="Rectangle: Rounded Corners 8">
            <a:extLst>
              <a:ext uri="{FF2B5EF4-FFF2-40B4-BE49-F238E27FC236}">
                <a16:creationId xmlns:a16="http://schemas.microsoft.com/office/drawing/2014/main" id="{5DA99BE1-0A85-17C2-F2A0-920A79FE7C18}"/>
              </a:ext>
            </a:extLst>
          </p:cNvPr>
          <p:cNvSpPr/>
          <p:nvPr/>
        </p:nvSpPr>
        <p:spPr>
          <a:xfrm>
            <a:off x="762000" y="3048000"/>
            <a:ext cx="3302000" cy="660400"/>
          </a:xfrm>
          <a:prstGeom prst="roundRect">
            <a:avLst/>
          </a:prstGeom>
          <a:solidFill>
            <a:srgbClr val="E0D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r>
              <a:rPr lang="en-US" sz="1300" b="1">
                <a:solidFill>
                  <a:srgbClr val="1A1A2E"/>
                </a:solidFill>
              </a:rPr>
              <a:t>PVS - row versions</a:t>
            </a:r>
          </a:p>
          <a:p>
            <a:pPr algn="ctr"/>
            <a:r>
              <a:rPr lang="en-US" sz="1300" b="1">
                <a:solidFill>
                  <a:srgbClr val="1A1A2E"/>
                </a:solidFill>
              </a:rPr>
              <a:t>inside the user database</a:t>
            </a:r>
          </a:p>
        </p:txBody>
      </p:sp>
      <p:sp>
        <p:nvSpPr>
          <p:cNvPr id="10" name="Rectangle: Rounded Corners 9">
            <a:extLst>
              <a:ext uri="{FF2B5EF4-FFF2-40B4-BE49-F238E27FC236}">
                <a16:creationId xmlns:a16="http://schemas.microsoft.com/office/drawing/2014/main" id="{174EC77D-E7E6-FE46-0BE5-4F425B988843}"/>
              </a:ext>
            </a:extLst>
          </p:cNvPr>
          <p:cNvSpPr/>
          <p:nvPr/>
        </p:nvSpPr>
        <p:spPr>
          <a:xfrm>
            <a:off x="762000" y="3835400"/>
            <a:ext cx="3302000" cy="787400"/>
          </a:xfrm>
          <a:prstGeom prst="roundRect">
            <a:avLst/>
          </a:prstGeom>
          <a:solidFill>
            <a:srgbClr val="FFD6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r>
              <a:rPr lang="en-US" sz="1200">
                <a:solidFill>
                  <a:srgbClr val="1A1A2E"/>
                </a:solidFill>
              </a:rPr>
              <a:t>PVS cleaner</a:t>
            </a:r>
          </a:p>
          <a:p>
            <a:pPr algn="ctr"/>
            <a:r>
              <a:rPr lang="en-US" sz="1200">
                <a:solidFill>
                  <a:srgbClr val="1A1A2E"/>
                </a:solidFill>
              </a:rPr>
              <a:t>can only remove versions no replica still needs</a:t>
            </a:r>
          </a:p>
        </p:txBody>
      </p:sp>
      <p:sp>
        <p:nvSpPr>
          <p:cNvPr id="11" name="Rectangle: Rounded Corners 10">
            <a:extLst>
              <a:ext uri="{FF2B5EF4-FFF2-40B4-BE49-F238E27FC236}">
                <a16:creationId xmlns:a16="http://schemas.microsoft.com/office/drawing/2014/main" id="{A627D362-5BA0-9B4B-A22F-0D5A473C57ED}"/>
              </a:ext>
            </a:extLst>
          </p:cNvPr>
          <p:cNvSpPr/>
          <p:nvPr/>
        </p:nvSpPr>
        <p:spPr>
          <a:xfrm>
            <a:off x="8128000" y="2260600"/>
            <a:ext cx="3302000" cy="660400"/>
          </a:xfrm>
          <a:prstGeom prst="roundRect">
            <a:avLst/>
          </a:prstGeom>
          <a:solidFill>
            <a:srgbClr val="CDE4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r>
              <a:rPr lang="en-US" sz="1300">
                <a:solidFill>
                  <a:srgbClr val="1A1A2E"/>
                </a:solidFill>
              </a:rPr>
              <a:t>Data pages</a:t>
            </a:r>
          </a:p>
          <a:p>
            <a:pPr algn="ctr"/>
            <a:r>
              <a:rPr lang="en-US" sz="1300">
                <a:solidFill>
                  <a:srgbClr val="1A1A2E"/>
                </a:solidFill>
              </a:rPr>
              <a:t>(redo applies the log)</a:t>
            </a:r>
          </a:p>
        </p:txBody>
      </p:sp>
      <p:sp>
        <p:nvSpPr>
          <p:cNvPr id="12" name="Rectangle: Rounded Corners 11">
            <a:extLst>
              <a:ext uri="{FF2B5EF4-FFF2-40B4-BE49-F238E27FC236}">
                <a16:creationId xmlns:a16="http://schemas.microsoft.com/office/drawing/2014/main" id="{37419C2D-D364-73D2-9C9D-E0402CA0EAD3}"/>
              </a:ext>
            </a:extLst>
          </p:cNvPr>
          <p:cNvSpPr/>
          <p:nvPr/>
        </p:nvSpPr>
        <p:spPr>
          <a:xfrm>
            <a:off x="8128000" y="3048000"/>
            <a:ext cx="3302000" cy="660400"/>
          </a:xfrm>
          <a:prstGeom prst="roundRect">
            <a:avLst/>
          </a:prstGeom>
          <a:solidFill>
            <a:srgbClr val="E0D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r>
              <a:rPr lang="en-US" sz="1300" b="1">
                <a:solidFill>
                  <a:srgbClr val="1A1A2E"/>
                </a:solidFill>
              </a:rPr>
              <a:t>PVS - same row versions</a:t>
            </a:r>
          </a:p>
          <a:p>
            <a:pPr algn="ctr"/>
            <a:r>
              <a:rPr lang="en-US" sz="1300" b="1">
                <a:solidFill>
                  <a:srgbClr val="1A1A2E"/>
                </a:solidFill>
              </a:rPr>
              <a:t>(arrive via the log)</a:t>
            </a:r>
          </a:p>
        </p:txBody>
      </p:sp>
      <p:sp>
        <p:nvSpPr>
          <p:cNvPr id="13" name="Rectangle: Rounded Corners 12">
            <a:extLst>
              <a:ext uri="{FF2B5EF4-FFF2-40B4-BE49-F238E27FC236}">
                <a16:creationId xmlns:a16="http://schemas.microsoft.com/office/drawing/2014/main" id="{226D99AA-10E9-933E-CF56-84D019EF3ABE}"/>
              </a:ext>
            </a:extLst>
          </p:cNvPr>
          <p:cNvSpPr/>
          <p:nvPr/>
        </p:nvSpPr>
        <p:spPr>
          <a:xfrm>
            <a:off x="8128000" y="3835400"/>
            <a:ext cx="3302000" cy="787400"/>
          </a:xfrm>
          <a:prstGeom prst="roundRect">
            <a:avLst/>
          </a:prstGeom>
          <a:solidFill>
            <a:srgbClr val="D6FF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rIns="50800" rtlCol="0" anchor="ctr"/>
          <a:lstStyle/>
          <a:p>
            <a:pPr algn="ctr"/>
            <a:r>
              <a:rPr lang="en-US" sz="1200">
                <a:solidFill>
                  <a:srgbClr val="1A1A2E"/>
                </a:solidFill>
              </a:rPr>
              <a:t>Read queries</a:t>
            </a:r>
          </a:p>
          <a:p>
            <a:pPr algn="ctr"/>
            <a:r>
              <a:rPr lang="en-US" sz="1200">
                <a:solidFill>
                  <a:srgbClr val="1A1A2E"/>
                </a:solidFill>
              </a:rPr>
              <a:t>always run as SNAPSHOT isolation and read versions</a:t>
            </a:r>
          </a:p>
        </p:txBody>
      </p:sp>
      <p:cxnSp>
        <p:nvCxnSpPr>
          <p:cNvPr id="14" name="Straight Connector 13">
            <a:extLst>
              <a:ext uri="{FF2B5EF4-FFF2-40B4-BE49-F238E27FC236}">
                <a16:creationId xmlns:a16="http://schemas.microsoft.com/office/drawing/2014/main" id="{B0D829A8-8920-C0D6-C43F-34E66DA37E0F}"/>
              </a:ext>
            </a:extLst>
          </p:cNvPr>
          <p:cNvCxnSpPr/>
          <p:nvPr/>
        </p:nvCxnSpPr>
        <p:spPr>
          <a:xfrm>
            <a:off x="4318000" y="3175000"/>
            <a:ext cx="3556000" cy="0"/>
          </a:xfrm>
          <a:prstGeom prst="line">
            <a:avLst/>
          </a:prstGeom>
          <a:ln w="38100">
            <a:solidFill>
              <a:srgbClr val="0072C6"/>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0BB5A31-C8F6-8F73-7DE6-4917A60109CF}"/>
              </a:ext>
            </a:extLst>
          </p:cNvPr>
          <p:cNvSpPr txBox="1"/>
          <p:nvPr/>
        </p:nvSpPr>
        <p:spPr>
          <a:xfrm>
            <a:off x="4381500" y="2489200"/>
            <a:ext cx="3429000" cy="492443"/>
          </a:xfrm>
          <a:prstGeom prst="rect">
            <a:avLst/>
          </a:prstGeom>
          <a:noFill/>
        </p:spPr>
        <p:txBody>
          <a:bodyPr vert="horz" wrap="square" rtlCol="0">
            <a:spAutoFit/>
          </a:bodyPr>
          <a:lstStyle/>
          <a:p>
            <a:pPr algn="ctr"/>
            <a:r>
              <a:rPr lang="en-US" sz="1300" b="1">
                <a:solidFill>
                  <a:srgbClr val="0072C6"/>
                </a:solidFill>
              </a:rPr>
              <a:t>Transaction log stream</a:t>
            </a:r>
          </a:p>
          <a:p>
            <a:pPr algn="ctr"/>
            <a:r>
              <a:rPr lang="en-US" sz="1300" b="1">
                <a:solidFill>
                  <a:srgbClr val="0072C6"/>
                </a:solidFill>
              </a:rPr>
              <a:t>(row versions are logged, so PVS replicates)</a:t>
            </a:r>
          </a:p>
        </p:txBody>
      </p:sp>
      <p:cxnSp>
        <p:nvCxnSpPr>
          <p:cNvPr id="16" name="Straight Connector 15">
            <a:extLst>
              <a:ext uri="{FF2B5EF4-FFF2-40B4-BE49-F238E27FC236}">
                <a16:creationId xmlns:a16="http://schemas.microsoft.com/office/drawing/2014/main" id="{9F000FCD-C82F-69CE-360B-781C22DB6CCF}"/>
              </a:ext>
            </a:extLst>
          </p:cNvPr>
          <p:cNvCxnSpPr/>
          <p:nvPr/>
        </p:nvCxnSpPr>
        <p:spPr>
          <a:xfrm flipH="1">
            <a:off x="4318000" y="4229100"/>
            <a:ext cx="3556000" cy="0"/>
          </a:xfrm>
          <a:prstGeom prst="line">
            <a:avLst/>
          </a:prstGeom>
          <a:ln w="38100">
            <a:solidFill>
              <a:srgbClr val="D678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DA780D7-3BBB-2A01-4721-4441A1E51619}"/>
              </a:ext>
            </a:extLst>
          </p:cNvPr>
          <p:cNvSpPr txBox="1"/>
          <p:nvPr/>
        </p:nvSpPr>
        <p:spPr>
          <a:xfrm>
            <a:off x="4381500" y="4292600"/>
            <a:ext cx="3429000" cy="461665"/>
          </a:xfrm>
          <a:prstGeom prst="rect">
            <a:avLst/>
          </a:prstGeom>
          <a:noFill/>
        </p:spPr>
        <p:txBody>
          <a:bodyPr vert="horz" wrap="square" rtlCol="0">
            <a:spAutoFit/>
          </a:bodyPr>
          <a:lstStyle/>
          <a:p>
            <a:pPr algn="ctr"/>
            <a:r>
              <a:rPr lang="en-US" sz="1200" b="1">
                <a:solidFill>
                  <a:srgbClr val="D67800"/>
                </a:solidFill>
              </a:rPr>
              <a:t>Low-water mark: oldest version a secondary query still needs</a:t>
            </a:r>
          </a:p>
        </p:txBody>
      </p:sp>
      <p:sp>
        <p:nvSpPr>
          <p:cNvPr id="18" name="TextBox 17">
            <a:extLst>
              <a:ext uri="{FF2B5EF4-FFF2-40B4-BE49-F238E27FC236}">
                <a16:creationId xmlns:a16="http://schemas.microsoft.com/office/drawing/2014/main" id="{C9B59345-331C-FE63-D530-22E5D9EABB3A}"/>
              </a:ext>
            </a:extLst>
          </p:cNvPr>
          <p:cNvSpPr txBox="1"/>
          <p:nvPr/>
        </p:nvSpPr>
        <p:spPr>
          <a:xfrm>
            <a:off x="508000" y="4978400"/>
            <a:ext cx="11176000" cy="887422"/>
          </a:xfrm>
          <a:prstGeom prst="rect">
            <a:avLst/>
          </a:prstGeom>
          <a:noFill/>
        </p:spPr>
        <p:txBody>
          <a:bodyPr vert="horz" wrap="square" rtlCol="0">
            <a:spAutoFit/>
          </a:bodyPr>
          <a:lstStyle/>
          <a:p>
            <a:pPr marL="177800" indent="-177800">
              <a:spcAft>
                <a:spcPts val="400"/>
              </a:spcAft>
              <a:buFont typeface="+mj-lt"/>
              <a:buChar char="•"/>
            </a:pPr>
            <a:r>
              <a:rPr lang="en-US" sz="1500">
                <a:solidFill>
                  <a:srgbClr val="1A1A2E"/>
                </a:solidFill>
              </a:rPr>
              <a:t>PVS lives inside the database and is replicated through the log - after a failover, the new primary already has the versions ADR needs</a:t>
            </a:r>
          </a:p>
          <a:p>
            <a:pPr marL="177800" indent="-177800">
              <a:spcAft>
                <a:spcPts val="400"/>
              </a:spcAft>
              <a:buFont typeface="+mj-lt"/>
              <a:buChar char="•"/>
            </a:pPr>
            <a:r>
              <a:rPr lang="en-US" sz="1500">
                <a:solidFill>
                  <a:srgbClr val="1A1A2E"/>
                </a:solidFill>
              </a:rPr>
              <a:t>A long-running query on a readable secondary holds back PVS (and ghost) cleanup on the primary - PVS can grow</a:t>
            </a:r>
          </a:p>
          <a:p>
            <a:pPr marL="177800" indent="-177800">
              <a:spcAft>
                <a:spcPts val="400"/>
              </a:spcAft>
              <a:buFont typeface="+mj-lt"/>
              <a:buChar char="•"/>
            </a:pPr>
            <a:r>
              <a:rPr lang="en-US" sz="1500">
                <a:solidFill>
                  <a:srgbClr val="1A1A2E"/>
                </a:solidFill>
              </a:rPr>
              <a:t>Check low_water_mark_for_ghosts in sys.dm_hadr_database_replica_states; tune or kill long secondary queries</a:t>
            </a:r>
          </a:p>
        </p:txBody>
      </p:sp>
    </p:spTree>
    <p:extLst>
      <p:ext uri="{BB962C8B-B14F-4D97-AF65-F5344CB8AC3E}">
        <p14:creationId xmlns:p14="http://schemas.microsoft.com/office/powerpoint/2010/main" val="2469289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29B4-EDD2-6D6B-5FEA-AA56A11A6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D02EF-2E67-A40D-453B-2AFC4B9A31C5}"/>
              </a:ext>
            </a:extLst>
          </p:cNvPr>
          <p:cNvSpPr>
            <a:spLocks noGrp="1"/>
          </p:cNvSpPr>
          <p:nvPr>
            <p:ph type="title"/>
          </p:nvPr>
        </p:nvSpPr>
        <p:spPr/>
        <p:txBody>
          <a:bodyPr/>
          <a:lstStyle/>
          <a:p>
            <a:r>
              <a:rPr lang="en-US" dirty="0"/>
              <a:t>2. Logical Revert</a:t>
            </a:r>
          </a:p>
        </p:txBody>
      </p:sp>
      <p:sp>
        <p:nvSpPr>
          <p:cNvPr id="3" name="Content Placeholder 2">
            <a:extLst>
              <a:ext uri="{FF2B5EF4-FFF2-40B4-BE49-F238E27FC236}">
                <a16:creationId xmlns:a16="http://schemas.microsoft.com/office/drawing/2014/main" id="{8399A895-E2C1-C233-83F4-E4411094455D}"/>
              </a:ext>
            </a:extLst>
          </p:cNvPr>
          <p:cNvSpPr>
            <a:spLocks noGrp="1"/>
          </p:cNvSpPr>
          <p:nvPr>
            <p:ph idx="1"/>
          </p:nvPr>
        </p:nvSpPr>
        <p:spPr>
          <a:xfrm>
            <a:off x="664464" y="1825625"/>
            <a:ext cx="10515600" cy="4351338"/>
          </a:xfrm>
        </p:spPr>
        <p:txBody>
          <a:bodyPr/>
          <a:lstStyle/>
          <a:p>
            <a:r>
              <a:rPr lang="en-US" dirty="0"/>
              <a:t>Asynchronous process </a:t>
            </a:r>
          </a:p>
          <a:p>
            <a:r>
              <a:rPr lang="en-US" dirty="0"/>
              <a:t>Row-level version-based undo</a:t>
            </a:r>
          </a:p>
          <a:p>
            <a:r>
              <a:rPr lang="en-US" dirty="0"/>
              <a:t>Instant transaction rollback and undo </a:t>
            </a:r>
          </a:p>
          <a:p>
            <a:pPr marL="0" indent="0">
              <a:buNone/>
            </a:pPr>
            <a:r>
              <a:rPr lang="en-US" dirty="0"/>
              <a:t>   for all versioned operations.</a:t>
            </a:r>
          </a:p>
          <a:p>
            <a:pPr lvl="0"/>
            <a:r>
              <a:rPr lang="en-US" dirty="0"/>
              <a:t>Keeps track of all aborted transactions </a:t>
            </a:r>
          </a:p>
          <a:p>
            <a:pPr marL="0" lvl="0" indent="0">
              <a:buNone/>
            </a:pPr>
            <a:r>
              <a:rPr lang="en-US"/>
              <a:t>   and reverts their </a:t>
            </a:r>
            <a:r>
              <a:rPr lang="en-US" dirty="0"/>
              <a:t>versions</a:t>
            </a:r>
          </a:p>
          <a:p>
            <a:pPr lvl="0"/>
            <a:r>
              <a:rPr lang="en-US" dirty="0"/>
              <a:t>Releases all locks immediately after </a:t>
            </a:r>
          </a:p>
          <a:p>
            <a:pPr marL="0" lvl="0" indent="0">
              <a:buNone/>
            </a:pPr>
            <a:r>
              <a:rPr lang="en-US" dirty="0"/>
              <a:t>   transaction abort</a:t>
            </a:r>
          </a:p>
          <a:p>
            <a:endParaRPr lang="en-US" dirty="0"/>
          </a:p>
        </p:txBody>
      </p:sp>
      <p:sp>
        <p:nvSpPr>
          <p:cNvPr id="4" name="Rectangle 3">
            <a:extLst>
              <a:ext uri="{FF2B5EF4-FFF2-40B4-BE49-F238E27FC236}">
                <a16:creationId xmlns:a16="http://schemas.microsoft.com/office/drawing/2014/main" id="{F29CC33A-111A-B8E9-FBC2-5BE33ACB3757}"/>
              </a:ext>
            </a:extLst>
          </p:cNvPr>
          <p:cNvSpPr/>
          <p:nvPr/>
        </p:nvSpPr>
        <p:spPr>
          <a:xfrm>
            <a:off x="7635240" y="2212848"/>
            <a:ext cx="2185416" cy="11521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DD76605-8363-2C8F-5DA9-7C7C8B3EA69A}"/>
              </a:ext>
            </a:extLst>
          </p:cNvPr>
          <p:cNvSpPr/>
          <p:nvPr/>
        </p:nvSpPr>
        <p:spPr>
          <a:xfrm>
            <a:off x="7699248" y="4864394"/>
            <a:ext cx="2185416" cy="11521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90595F5-6793-7029-A0E5-D57DFAA4D4D4}"/>
              </a:ext>
            </a:extLst>
          </p:cNvPr>
          <p:cNvSpPr txBox="1"/>
          <p:nvPr/>
        </p:nvSpPr>
        <p:spPr>
          <a:xfrm>
            <a:off x="10012680" y="3611880"/>
            <a:ext cx="1965960" cy="954107"/>
          </a:xfrm>
          <a:prstGeom prst="rect">
            <a:avLst/>
          </a:prstGeom>
          <a:noFill/>
        </p:spPr>
        <p:txBody>
          <a:bodyPr wrap="square" rtlCol="0">
            <a:spAutoFit/>
          </a:bodyPr>
          <a:lstStyle/>
          <a:p>
            <a:pPr algn="ctr"/>
            <a:r>
              <a:rPr lang="en-US" sz="1400"/>
              <a:t>Async restore of the last committed version after database is online</a:t>
            </a:r>
            <a:endParaRPr lang="en-US" sz="1400" dirty="0"/>
          </a:p>
        </p:txBody>
      </p:sp>
      <p:sp>
        <p:nvSpPr>
          <p:cNvPr id="8" name="TextBox 7">
            <a:extLst>
              <a:ext uri="{FF2B5EF4-FFF2-40B4-BE49-F238E27FC236}">
                <a16:creationId xmlns:a16="http://schemas.microsoft.com/office/drawing/2014/main" id="{CF843DF1-33C8-9006-219E-DA74BC669B58}"/>
              </a:ext>
            </a:extLst>
          </p:cNvPr>
          <p:cNvSpPr txBox="1"/>
          <p:nvPr/>
        </p:nvSpPr>
        <p:spPr>
          <a:xfrm>
            <a:off x="8404860" y="2604254"/>
            <a:ext cx="914400" cy="369332"/>
          </a:xfrm>
          <a:prstGeom prst="rect">
            <a:avLst/>
          </a:prstGeom>
          <a:noFill/>
        </p:spPr>
        <p:txBody>
          <a:bodyPr wrap="square" rtlCol="0">
            <a:spAutoFit/>
          </a:bodyPr>
          <a:lstStyle/>
          <a:p>
            <a:r>
              <a:rPr lang="en-US" dirty="0"/>
              <a:t>PVS</a:t>
            </a:r>
          </a:p>
        </p:txBody>
      </p:sp>
      <p:sp>
        <p:nvSpPr>
          <p:cNvPr id="10" name="TextBox 9">
            <a:extLst>
              <a:ext uri="{FF2B5EF4-FFF2-40B4-BE49-F238E27FC236}">
                <a16:creationId xmlns:a16="http://schemas.microsoft.com/office/drawing/2014/main" id="{F729DEB7-1D8F-96F6-2E7E-1B4E4477F7E6}"/>
              </a:ext>
            </a:extLst>
          </p:cNvPr>
          <p:cNvSpPr txBox="1"/>
          <p:nvPr/>
        </p:nvSpPr>
        <p:spPr>
          <a:xfrm>
            <a:off x="8404860" y="5192395"/>
            <a:ext cx="914400" cy="646331"/>
          </a:xfrm>
          <a:prstGeom prst="rect">
            <a:avLst/>
          </a:prstGeom>
          <a:noFill/>
        </p:spPr>
        <p:txBody>
          <a:bodyPr wrap="square" rtlCol="0">
            <a:spAutoFit/>
          </a:bodyPr>
          <a:lstStyle/>
          <a:p>
            <a:r>
              <a:rPr lang="en-US" dirty="0"/>
              <a:t>Data pages </a:t>
            </a:r>
          </a:p>
        </p:txBody>
      </p:sp>
      <p:cxnSp>
        <p:nvCxnSpPr>
          <p:cNvPr id="12" name="Straight Arrow Connector 11">
            <a:extLst>
              <a:ext uri="{FF2B5EF4-FFF2-40B4-BE49-F238E27FC236}">
                <a16:creationId xmlns:a16="http://schemas.microsoft.com/office/drawing/2014/main" id="{E35E7A6B-EE66-73DA-E66F-D170B99B4FC6}"/>
              </a:ext>
            </a:extLst>
          </p:cNvPr>
          <p:cNvCxnSpPr>
            <a:stCxn id="4" idx="2"/>
          </p:cNvCxnSpPr>
          <p:nvPr/>
        </p:nvCxnSpPr>
        <p:spPr>
          <a:xfrm>
            <a:off x="8727948" y="3364992"/>
            <a:ext cx="0" cy="1499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4240FA60-5BA4-8203-D084-130741185003}"/>
              </a:ext>
            </a:extLst>
          </p:cNvPr>
          <p:cNvSpPr/>
          <p:nvPr/>
        </p:nvSpPr>
        <p:spPr>
          <a:xfrm>
            <a:off x="660400" y="6197600"/>
            <a:ext cx="10922000" cy="508000"/>
          </a:xfrm>
          <a:prstGeom prst="roundRect">
            <a:avLst/>
          </a:prstGeom>
          <a:solidFill>
            <a:srgbClr val="FFF3CD"/>
          </a:solidFill>
          <a:ln w="15875">
            <a:solidFill>
              <a:srgbClr val="D6A000"/>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US" sz="1400">
                <a:solidFill>
                  <a:srgbClr val="1A1A2E"/>
                </a:solidFill>
              </a:rPr>
              <a:t>Short transactions still roll back the traditional way from the log - it takes milliseconds and leaves no aborted versions behind.</a:t>
            </a:r>
          </a:p>
        </p:txBody>
      </p:sp>
    </p:spTree>
    <p:extLst>
      <p:ext uri="{BB962C8B-B14F-4D97-AF65-F5344CB8AC3E}">
        <p14:creationId xmlns:p14="http://schemas.microsoft.com/office/powerpoint/2010/main" val="8205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1577-3B52-7C2B-5700-7311F5AAFE86}"/>
              </a:ext>
            </a:extLst>
          </p:cNvPr>
          <p:cNvSpPr>
            <a:spLocks noGrp="1"/>
          </p:cNvSpPr>
          <p:nvPr>
            <p:ph type="title"/>
          </p:nvPr>
        </p:nvSpPr>
        <p:spPr/>
        <p:txBody>
          <a:bodyPr/>
          <a:lstStyle/>
          <a:p>
            <a:r>
              <a:rPr lang="en-US" dirty="0"/>
              <a:t>3. Secondary Log Stream (SLOG)</a:t>
            </a:r>
          </a:p>
        </p:txBody>
      </p:sp>
      <p:sp>
        <p:nvSpPr>
          <p:cNvPr id="3" name="Content Placeholder 2">
            <a:extLst>
              <a:ext uri="{FF2B5EF4-FFF2-40B4-BE49-F238E27FC236}">
                <a16:creationId xmlns:a16="http://schemas.microsoft.com/office/drawing/2014/main" id="{71FFEF55-99D8-A4C4-86C5-0959A388A9F0}"/>
              </a:ext>
            </a:extLst>
          </p:cNvPr>
          <p:cNvSpPr>
            <a:spLocks noGrp="1"/>
          </p:cNvSpPr>
          <p:nvPr>
            <p:ph idx="1"/>
          </p:nvPr>
        </p:nvSpPr>
        <p:spPr>
          <a:xfrm>
            <a:off x="838200" y="1825625"/>
            <a:ext cx="5969000" cy="4351338"/>
          </a:xfrm>
        </p:spPr>
        <p:txBody>
          <a:bodyPr>
            <a:normAutofit/>
          </a:bodyPr>
          <a:lstStyle/>
          <a:p>
            <a:r>
              <a:rPr lang="en-US" sz="1700"/>
              <a:t>Captures non-versioned operations, such as locks and metadata</a:t>
            </a:r>
          </a:p>
          <a:p>
            <a:r>
              <a:rPr lang="en-US" sz="1700"/>
              <a:t>Built in memory; saved to the transaction log at checkpoints</a:t>
            </a:r>
          </a:p>
          <a:p>
            <a:r>
              <a:rPr lang="en-US" sz="1700"/>
              <a:t>During recovery, supplies only a few records from before the checkpoint</a:t>
            </a:r>
            <a:endParaRPr lang="en-US" sz="1700" dirty="0"/>
          </a:p>
        </p:txBody>
      </p:sp>
      <p:sp>
        <p:nvSpPr>
          <p:cNvPr id="4" name="TextBox 3">
            <a:extLst>
              <a:ext uri="{FF2B5EF4-FFF2-40B4-BE49-F238E27FC236}">
                <a16:creationId xmlns:a16="http://schemas.microsoft.com/office/drawing/2014/main" id="{D5BB7CBD-1BD5-E198-F765-413AC19788CC}"/>
              </a:ext>
            </a:extLst>
          </p:cNvPr>
          <p:cNvSpPr txBox="1"/>
          <p:nvPr/>
        </p:nvSpPr>
        <p:spPr>
          <a:xfrm>
            <a:off x="7061200" y="1841500"/>
            <a:ext cx="4826000" cy="292388"/>
          </a:xfrm>
          <a:prstGeom prst="rect">
            <a:avLst/>
          </a:prstGeom>
          <a:noFill/>
        </p:spPr>
        <p:txBody>
          <a:bodyPr vert="horz" rtlCol="0">
            <a:spAutoFit/>
          </a:bodyPr>
          <a:lstStyle/>
          <a:p>
            <a:r>
              <a:rPr lang="en-US" sz="1300" b="1">
                <a:solidFill>
                  <a:srgbClr val="1A1A2E"/>
                </a:solidFill>
              </a:rPr>
              <a:t>Transaction log - every operation</a:t>
            </a:r>
          </a:p>
        </p:txBody>
      </p:sp>
      <p:sp>
        <p:nvSpPr>
          <p:cNvPr id="5" name="Rectangle: Rounded Corners 4">
            <a:extLst>
              <a:ext uri="{FF2B5EF4-FFF2-40B4-BE49-F238E27FC236}">
                <a16:creationId xmlns:a16="http://schemas.microsoft.com/office/drawing/2014/main" id="{6EFC2D3B-71C7-06B9-A983-29C89A584DB9}"/>
              </a:ext>
            </a:extLst>
          </p:cNvPr>
          <p:cNvSpPr/>
          <p:nvPr/>
        </p:nvSpPr>
        <p:spPr>
          <a:xfrm>
            <a:off x="71120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6" name="Rectangle: Rounded Corners 5">
            <a:extLst>
              <a:ext uri="{FF2B5EF4-FFF2-40B4-BE49-F238E27FC236}">
                <a16:creationId xmlns:a16="http://schemas.microsoft.com/office/drawing/2014/main" id="{03944D2A-8E70-D8AB-0029-4B794AF4120E}"/>
              </a:ext>
            </a:extLst>
          </p:cNvPr>
          <p:cNvSpPr/>
          <p:nvPr/>
        </p:nvSpPr>
        <p:spPr>
          <a:xfrm>
            <a:off x="75819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7" name="Rectangle: Rounded Corners 6">
            <a:extLst>
              <a:ext uri="{FF2B5EF4-FFF2-40B4-BE49-F238E27FC236}">
                <a16:creationId xmlns:a16="http://schemas.microsoft.com/office/drawing/2014/main" id="{0B5E5E91-F25A-BB03-C626-B3D80BCC3200}"/>
              </a:ext>
            </a:extLst>
          </p:cNvPr>
          <p:cNvSpPr/>
          <p:nvPr/>
        </p:nvSpPr>
        <p:spPr>
          <a:xfrm>
            <a:off x="8051800" y="2184400"/>
            <a:ext cx="419100" cy="355600"/>
          </a:xfrm>
          <a:prstGeom prst="roundRect">
            <a:avLst/>
          </a:prstGeom>
          <a:solidFill>
            <a:srgbClr val="E0D6FF"/>
          </a:solidFill>
          <a:ln w="15875">
            <a:solidFill>
              <a:srgbClr val="6C3FB5"/>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8" name="Rectangle: Rounded Corners 7">
            <a:extLst>
              <a:ext uri="{FF2B5EF4-FFF2-40B4-BE49-F238E27FC236}">
                <a16:creationId xmlns:a16="http://schemas.microsoft.com/office/drawing/2014/main" id="{042FE3DF-7E7E-95BC-E9A1-0AC584A671AC}"/>
              </a:ext>
            </a:extLst>
          </p:cNvPr>
          <p:cNvSpPr/>
          <p:nvPr/>
        </p:nvSpPr>
        <p:spPr>
          <a:xfrm>
            <a:off x="85217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9" name="Rectangle: Rounded Corners 8">
            <a:extLst>
              <a:ext uri="{FF2B5EF4-FFF2-40B4-BE49-F238E27FC236}">
                <a16:creationId xmlns:a16="http://schemas.microsoft.com/office/drawing/2014/main" id="{FEAF4C8F-329F-F0E7-EB16-CF7E33CC7D0E}"/>
              </a:ext>
            </a:extLst>
          </p:cNvPr>
          <p:cNvSpPr/>
          <p:nvPr/>
        </p:nvSpPr>
        <p:spPr>
          <a:xfrm>
            <a:off x="89916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10" name="Rectangle: Rounded Corners 9">
            <a:extLst>
              <a:ext uri="{FF2B5EF4-FFF2-40B4-BE49-F238E27FC236}">
                <a16:creationId xmlns:a16="http://schemas.microsoft.com/office/drawing/2014/main" id="{1551005A-C1DD-9AF5-42EA-6717B5B90F2F}"/>
              </a:ext>
            </a:extLst>
          </p:cNvPr>
          <p:cNvSpPr/>
          <p:nvPr/>
        </p:nvSpPr>
        <p:spPr>
          <a:xfrm>
            <a:off x="94615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11" name="Rectangle: Rounded Corners 10">
            <a:extLst>
              <a:ext uri="{FF2B5EF4-FFF2-40B4-BE49-F238E27FC236}">
                <a16:creationId xmlns:a16="http://schemas.microsoft.com/office/drawing/2014/main" id="{01A8E722-4D07-6C95-C661-EA3BC7B6C9EC}"/>
              </a:ext>
            </a:extLst>
          </p:cNvPr>
          <p:cNvSpPr/>
          <p:nvPr/>
        </p:nvSpPr>
        <p:spPr>
          <a:xfrm>
            <a:off x="99314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12" name="Rectangle: Rounded Corners 11">
            <a:extLst>
              <a:ext uri="{FF2B5EF4-FFF2-40B4-BE49-F238E27FC236}">
                <a16:creationId xmlns:a16="http://schemas.microsoft.com/office/drawing/2014/main" id="{5CC5E80F-B1DF-29D1-A741-059B711DF8D3}"/>
              </a:ext>
            </a:extLst>
          </p:cNvPr>
          <p:cNvSpPr/>
          <p:nvPr/>
        </p:nvSpPr>
        <p:spPr>
          <a:xfrm>
            <a:off x="10401300" y="2184400"/>
            <a:ext cx="419100" cy="355600"/>
          </a:xfrm>
          <a:prstGeom prst="roundRect">
            <a:avLst/>
          </a:prstGeom>
          <a:solidFill>
            <a:srgbClr val="E0D6FF"/>
          </a:solidFill>
          <a:ln w="15875">
            <a:solidFill>
              <a:srgbClr val="6C3FB5"/>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13" name="Rectangle: Rounded Corners 12">
            <a:extLst>
              <a:ext uri="{FF2B5EF4-FFF2-40B4-BE49-F238E27FC236}">
                <a16:creationId xmlns:a16="http://schemas.microsoft.com/office/drawing/2014/main" id="{B886E3DC-857F-79EE-4124-74A1217CD380}"/>
              </a:ext>
            </a:extLst>
          </p:cNvPr>
          <p:cNvSpPr/>
          <p:nvPr/>
        </p:nvSpPr>
        <p:spPr>
          <a:xfrm>
            <a:off x="108712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14" name="Rectangle: Rounded Corners 13">
            <a:extLst>
              <a:ext uri="{FF2B5EF4-FFF2-40B4-BE49-F238E27FC236}">
                <a16:creationId xmlns:a16="http://schemas.microsoft.com/office/drawing/2014/main" id="{3923AC3E-7AD2-C2AD-26C1-EEFB0C069D53}"/>
              </a:ext>
            </a:extLst>
          </p:cNvPr>
          <p:cNvSpPr/>
          <p:nvPr/>
        </p:nvSpPr>
        <p:spPr>
          <a:xfrm>
            <a:off x="11341100" y="2184400"/>
            <a:ext cx="419100" cy="355600"/>
          </a:xfrm>
          <a:prstGeom prst="roundRect">
            <a:avLst/>
          </a:prstGeom>
          <a:solidFill>
            <a:srgbClr val="DCD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endParaRPr lang="en-US" sz="800">
              <a:solidFill>
                <a:srgbClr val="1A1A2E"/>
              </a:solidFill>
            </a:endParaRPr>
          </a:p>
        </p:txBody>
      </p:sp>
      <p:sp>
        <p:nvSpPr>
          <p:cNvPr id="15" name="TextBox 14">
            <a:extLst>
              <a:ext uri="{FF2B5EF4-FFF2-40B4-BE49-F238E27FC236}">
                <a16:creationId xmlns:a16="http://schemas.microsoft.com/office/drawing/2014/main" id="{3BDD16F7-52CB-3934-3A27-93708CA7210D}"/>
              </a:ext>
            </a:extLst>
          </p:cNvPr>
          <p:cNvSpPr txBox="1"/>
          <p:nvPr/>
        </p:nvSpPr>
        <p:spPr>
          <a:xfrm>
            <a:off x="7061200" y="4038600"/>
            <a:ext cx="4826000" cy="246221"/>
          </a:xfrm>
          <a:prstGeom prst="rect">
            <a:avLst/>
          </a:prstGeom>
          <a:noFill/>
        </p:spPr>
        <p:txBody>
          <a:bodyPr vert="horz" rtlCol="0">
            <a:spAutoFit/>
          </a:bodyPr>
          <a:lstStyle/>
          <a:p>
            <a:r>
              <a:rPr lang="en-US" sz="1000">
                <a:solidFill>
                  <a:srgbClr val="808080"/>
                </a:solidFill>
              </a:rPr>
              <a:t>gray = versioned row changes (millions)   purple = non-versioned</a:t>
            </a:r>
          </a:p>
        </p:txBody>
      </p:sp>
      <p:sp>
        <p:nvSpPr>
          <p:cNvPr id="16" name="TextBox 15">
            <a:extLst>
              <a:ext uri="{FF2B5EF4-FFF2-40B4-BE49-F238E27FC236}">
                <a16:creationId xmlns:a16="http://schemas.microsoft.com/office/drawing/2014/main" id="{15E92A02-E024-99D4-AC55-00DBEF5AB9FD}"/>
              </a:ext>
            </a:extLst>
          </p:cNvPr>
          <p:cNvSpPr txBox="1"/>
          <p:nvPr/>
        </p:nvSpPr>
        <p:spPr>
          <a:xfrm>
            <a:off x="7061200" y="3175000"/>
            <a:ext cx="4826000" cy="292388"/>
          </a:xfrm>
          <a:prstGeom prst="rect">
            <a:avLst/>
          </a:prstGeom>
          <a:noFill/>
        </p:spPr>
        <p:txBody>
          <a:bodyPr vert="horz" rtlCol="0">
            <a:spAutoFit/>
          </a:bodyPr>
          <a:lstStyle/>
          <a:p>
            <a:r>
              <a:rPr lang="en-US" sz="1300" b="1">
                <a:solidFill>
                  <a:srgbClr val="6C3FB5"/>
                </a:solidFill>
              </a:rPr>
              <a:t>SLOG - in memory, non-versioned only</a:t>
            </a:r>
          </a:p>
        </p:txBody>
      </p:sp>
      <p:sp>
        <p:nvSpPr>
          <p:cNvPr id="17" name="Rectangle: Rounded Corners 16">
            <a:extLst>
              <a:ext uri="{FF2B5EF4-FFF2-40B4-BE49-F238E27FC236}">
                <a16:creationId xmlns:a16="http://schemas.microsoft.com/office/drawing/2014/main" id="{1AF11883-A2DD-2E40-7FB3-5AE3C2473055}"/>
              </a:ext>
            </a:extLst>
          </p:cNvPr>
          <p:cNvSpPr/>
          <p:nvPr/>
        </p:nvSpPr>
        <p:spPr>
          <a:xfrm>
            <a:off x="7175500" y="3530600"/>
            <a:ext cx="2032000" cy="508000"/>
          </a:xfrm>
          <a:prstGeom prst="roundRect">
            <a:avLst/>
          </a:prstGeom>
          <a:solidFill>
            <a:srgbClr val="E0D6FF"/>
          </a:solidFill>
          <a:ln w="15875">
            <a:solidFill>
              <a:srgbClr val="6C3FB5"/>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Lock table (X)</a:t>
            </a:r>
          </a:p>
        </p:txBody>
      </p:sp>
      <p:sp>
        <p:nvSpPr>
          <p:cNvPr id="18" name="Rectangle: Rounded Corners 17">
            <a:extLst>
              <a:ext uri="{FF2B5EF4-FFF2-40B4-BE49-F238E27FC236}">
                <a16:creationId xmlns:a16="http://schemas.microsoft.com/office/drawing/2014/main" id="{B2D4B9A3-0F24-8C37-02B2-319FCD1E15CE}"/>
              </a:ext>
            </a:extLst>
          </p:cNvPr>
          <p:cNvSpPr/>
          <p:nvPr/>
        </p:nvSpPr>
        <p:spPr>
          <a:xfrm>
            <a:off x="9588500" y="3530600"/>
            <a:ext cx="2032000" cy="508000"/>
          </a:xfrm>
          <a:prstGeom prst="roundRect">
            <a:avLst/>
          </a:prstGeom>
          <a:solidFill>
            <a:srgbClr val="E0D6FF"/>
          </a:solidFill>
          <a:ln w="15875">
            <a:solidFill>
              <a:srgbClr val="6C3FB5"/>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Invalidate metadata cache</a:t>
            </a:r>
          </a:p>
        </p:txBody>
      </p:sp>
      <p:cxnSp>
        <p:nvCxnSpPr>
          <p:cNvPr id="19" name="Straight Connector 18">
            <a:extLst>
              <a:ext uri="{FF2B5EF4-FFF2-40B4-BE49-F238E27FC236}">
                <a16:creationId xmlns:a16="http://schemas.microsoft.com/office/drawing/2014/main" id="{6DB27D0A-480E-8556-5C59-7239733C327E}"/>
              </a:ext>
            </a:extLst>
          </p:cNvPr>
          <p:cNvCxnSpPr/>
          <p:nvPr/>
        </p:nvCxnSpPr>
        <p:spPr>
          <a:xfrm flipH="1">
            <a:off x="8191500" y="2540000"/>
            <a:ext cx="63500" cy="990600"/>
          </a:xfrm>
          <a:prstGeom prst="line">
            <a:avLst/>
          </a:prstGeom>
          <a:ln w="25400">
            <a:solidFill>
              <a:srgbClr val="6C3FB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244BB83-5653-D5AF-5194-F22626F3F7FC}"/>
              </a:ext>
            </a:extLst>
          </p:cNvPr>
          <p:cNvCxnSpPr/>
          <p:nvPr/>
        </p:nvCxnSpPr>
        <p:spPr>
          <a:xfrm>
            <a:off x="10604500" y="2540000"/>
            <a:ext cx="0" cy="990600"/>
          </a:xfrm>
          <a:prstGeom prst="line">
            <a:avLst/>
          </a:prstGeom>
          <a:ln w="25400">
            <a:solidFill>
              <a:srgbClr val="6C3FB5"/>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D91BABB0-C21E-5CCC-9313-A2572E4AB980}"/>
              </a:ext>
            </a:extLst>
          </p:cNvPr>
          <p:cNvSpPr/>
          <p:nvPr/>
        </p:nvSpPr>
        <p:spPr>
          <a:xfrm>
            <a:off x="7112000" y="4318000"/>
            <a:ext cx="4699000" cy="609600"/>
          </a:xfrm>
          <a:prstGeom prst="roundRect">
            <a:avLst/>
          </a:prstGeom>
          <a:solidFill>
            <a:srgbClr val="FFF3CD"/>
          </a:solidFill>
          <a:ln w="15875">
            <a:solidFill>
              <a:srgbClr val="D6A000"/>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Checkpoint: SLOG is written into the transaction log, so it survives a crash</a:t>
            </a:r>
          </a:p>
        </p:txBody>
      </p:sp>
      <p:sp>
        <p:nvSpPr>
          <p:cNvPr id="22" name="Rectangle: Rounded Corners 21">
            <a:extLst>
              <a:ext uri="{FF2B5EF4-FFF2-40B4-BE49-F238E27FC236}">
                <a16:creationId xmlns:a16="http://schemas.microsoft.com/office/drawing/2014/main" id="{DDE62BAF-41A9-9F9F-BB6B-914F7F88D81C}"/>
              </a:ext>
            </a:extLst>
          </p:cNvPr>
          <p:cNvSpPr/>
          <p:nvPr/>
        </p:nvSpPr>
        <p:spPr>
          <a:xfrm>
            <a:off x="7112000" y="5080000"/>
            <a:ext cx="4699000" cy="762000"/>
          </a:xfrm>
          <a:prstGeom prst="roundRect">
            <a:avLst/>
          </a:prstGeom>
          <a:solidFill>
            <a:srgbClr val="D6FFD6"/>
          </a:solidFill>
          <a:ln w="15875">
            <a:solidFill>
              <a:srgbClr val="1A7A3C"/>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Recovery: for the old part of the log, Redo and Undo read only these few SLOG records</a:t>
            </a:r>
          </a:p>
        </p:txBody>
      </p:sp>
      <p:sp>
        <p:nvSpPr>
          <p:cNvPr id="23" name="TextBox 22">
            <a:extLst>
              <a:ext uri="{FF2B5EF4-FFF2-40B4-BE49-F238E27FC236}">
                <a16:creationId xmlns:a16="http://schemas.microsoft.com/office/drawing/2014/main" id="{B5632AD6-6A58-5F35-A44D-951E2F0CB153}"/>
              </a:ext>
            </a:extLst>
          </p:cNvPr>
          <p:cNvSpPr txBox="1"/>
          <p:nvPr/>
        </p:nvSpPr>
        <p:spPr>
          <a:xfrm>
            <a:off x="838200" y="6413500"/>
            <a:ext cx="10922000" cy="230832"/>
          </a:xfrm>
          <a:prstGeom prst="rect">
            <a:avLst/>
          </a:prstGeom>
          <a:noFill/>
        </p:spPr>
        <p:txBody>
          <a:bodyPr vert="horz" rtlCol="0">
            <a:spAutoFit/>
          </a:bodyPr>
          <a:lstStyle/>
          <a:p>
            <a:r>
              <a:rPr lang="en-US" sz="900">
                <a:solidFill>
                  <a:srgbClr val="808080"/>
                </a:solidFill>
              </a:rPr>
              <a:t>Source: Antonopoulos et al., "Constant Time Recovery in Azure SQL Database", VLDB 2019 (Sec. 3.4)</a:t>
            </a:r>
          </a:p>
        </p:txBody>
      </p:sp>
    </p:spTree>
    <p:extLst>
      <p:ext uri="{BB962C8B-B14F-4D97-AF65-F5344CB8AC3E}">
        <p14:creationId xmlns:p14="http://schemas.microsoft.com/office/powerpoint/2010/main" val="2387958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C637-852D-1813-E687-447CDEE54E3A}"/>
              </a:ext>
            </a:extLst>
          </p:cNvPr>
          <p:cNvSpPr>
            <a:spLocks noGrp="1"/>
          </p:cNvSpPr>
          <p:nvPr>
            <p:ph type="title"/>
          </p:nvPr>
        </p:nvSpPr>
        <p:spPr/>
        <p:txBody>
          <a:bodyPr/>
          <a:lstStyle/>
          <a:p>
            <a:r>
              <a:rPr lang="en-US"/>
              <a:t>4. Cleanup</a:t>
            </a:r>
            <a:endParaRPr lang="en-US" dirty="0"/>
          </a:p>
        </p:txBody>
      </p:sp>
      <p:sp>
        <p:nvSpPr>
          <p:cNvPr id="3" name="Content Placeholder 2">
            <a:extLst>
              <a:ext uri="{FF2B5EF4-FFF2-40B4-BE49-F238E27FC236}">
                <a16:creationId xmlns:a16="http://schemas.microsoft.com/office/drawing/2014/main" id="{8676BADE-C252-D905-1B52-41D69D96D2C7}"/>
              </a:ext>
            </a:extLst>
          </p:cNvPr>
          <p:cNvSpPr>
            <a:spLocks noGrp="1"/>
          </p:cNvSpPr>
          <p:nvPr>
            <p:ph idx="1"/>
          </p:nvPr>
        </p:nvSpPr>
        <p:spPr>
          <a:xfrm>
            <a:off x="838200" y="1825625"/>
            <a:ext cx="5969000" cy="4351338"/>
          </a:xfrm>
        </p:spPr>
        <p:txBody>
          <a:bodyPr>
            <a:normAutofit/>
          </a:bodyPr>
          <a:lstStyle/>
          <a:p>
            <a:r>
              <a:rPr lang="en-US" sz="1800"/>
              <a:t>Reverts aborted rows and removes versions no longer needed</a:t>
            </a:r>
          </a:p>
          <a:p>
            <a:r>
              <a:rPr lang="en-US" sz="1800"/>
              <a:t>Manual trigger: EXEC sys.sp_persistent_version_cleanup [db_name]</a:t>
            </a:r>
          </a:p>
          <a:p>
            <a:r>
              <a:rPr lang="en-US" sz="1800"/>
              <a:t>SQL Server 2022+: increase ADR Cleaner Thread Count if cleanup falls behind</a:t>
            </a:r>
            <a:endParaRPr lang="en-US" sz="1800" dirty="0"/>
          </a:p>
        </p:txBody>
      </p:sp>
      <p:sp>
        <p:nvSpPr>
          <p:cNvPr id="4" name="Rectangle: Rounded Corners 3">
            <a:extLst>
              <a:ext uri="{FF2B5EF4-FFF2-40B4-BE49-F238E27FC236}">
                <a16:creationId xmlns:a16="http://schemas.microsoft.com/office/drawing/2014/main" id="{A0699442-C2B0-0CD8-15C9-E1AF934D2A2E}"/>
              </a:ext>
            </a:extLst>
          </p:cNvPr>
          <p:cNvSpPr/>
          <p:nvPr/>
        </p:nvSpPr>
        <p:spPr>
          <a:xfrm>
            <a:off x="7239000" y="1879600"/>
            <a:ext cx="4445000" cy="508000"/>
          </a:xfrm>
          <a:prstGeom prst="roundRect">
            <a:avLst/>
          </a:prstGeom>
          <a:solidFill>
            <a:srgbClr val="BDD7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A1A2E"/>
                </a:solidFill>
              </a:rPr>
              <a:t>Background task - wakes up every few minutes</a:t>
            </a:r>
          </a:p>
        </p:txBody>
      </p:sp>
      <p:sp>
        <p:nvSpPr>
          <p:cNvPr id="5" name="Rectangle: Rounded Corners 4">
            <a:extLst>
              <a:ext uri="{FF2B5EF4-FFF2-40B4-BE49-F238E27FC236}">
                <a16:creationId xmlns:a16="http://schemas.microsoft.com/office/drawing/2014/main" id="{CE9F199D-1C8A-DDE4-C6E7-F4AC4E29FA1C}"/>
              </a:ext>
            </a:extLst>
          </p:cNvPr>
          <p:cNvSpPr/>
          <p:nvPr/>
        </p:nvSpPr>
        <p:spPr>
          <a:xfrm>
            <a:off x="7239000" y="2603500"/>
            <a:ext cx="4445000" cy="584200"/>
          </a:xfrm>
          <a:prstGeom prst="roundRect">
            <a:avLst/>
          </a:prstGeom>
          <a:solidFill>
            <a:srgbClr val="CDE4FF"/>
          </a:solidFill>
          <a:ln w="15875">
            <a:solidFill>
              <a:srgbClr val="0072C6"/>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1. Find pages marked as containing versions (no full database scan)</a:t>
            </a:r>
          </a:p>
        </p:txBody>
      </p:sp>
      <p:cxnSp>
        <p:nvCxnSpPr>
          <p:cNvPr id="6" name="Straight Connector 5">
            <a:extLst>
              <a:ext uri="{FF2B5EF4-FFF2-40B4-BE49-F238E27FC236}">
                <a16:creationId xmlns:a16="http://schemas.microsoft.com/office/drawing/2014/main" id="{53D4C0BF-6930-63AC-D203-2BC423970477}"/>
              </a:ext>
            </a:extLst>
          </p:cNvPr>
          <p:cNvCxnSpPr/>
          <p:nvPr/>
        </p:nvCxnSpPr>
        <p:spPr>
          <a:xfrm>
            <a:off x="9461500" y="3187700"/>
            <a:ext cx="0" cy="177800"/>
          </a:xfrm>
          <a:prstGeom prst="line">
            <a:avLst/>
          </a:prstGeom>
          <a:ln w="25400">
            <a:solidFill>
              <a:srgbClr val="0072C6"/>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789920C7-9BC7-8101-F34C-2AB88D295D83}"/>
              </a:ext>
            </a:extLst>
          </p:cNvPr>
          <p:cNvSpPr/>
          <p:nvPr/>
        </p:nvSpPr>
        <p:spPr>
          <a:xfrm>
            <a:off x="7239000" y="3365500"/>
            <a:ext cx="4445000" cy="584200"/>
          </a:xfrm>
          <a:prstGeom prst="roundRect">
            <a:avLst/>
          </a:prstGeom>
          <a:solidFill>
            <a:srgbClr val="CDE4FF"/>
          </a:solidFill>
          <a:ln w="15875">
            <a:solidFill>
              <a:srgbClr val="0072C6"/>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2. Logically revert rows changed by aborted transactions</a:t>
            </a:r>
          </a:p>
        </p:txBody>
      </p:sp>
      <p:cxnSp>
        <p:nvCxnSpPr>
          <p:cNvPr id="8" name="Straight Connector 7">
            <a:extLst>
              <a:ext uri="{FF2B5EF4-FFF2-40B4-BE49-F238E27FC236}">
                <a16:creationId xmlns:a16="http://schemas.microsoft.com/office/drawing/2014/main" id="{74C5B4B9-950F-A7BB-4D9A-3036443E7673}"/>
              </a:ext>
            </a:extLst>
          </p:cNvPr>
          <p:cNvCxnSpPr/>
          <p:nvPr/>
        </p:nvCxnSpPr>
        <p:spPr>
          <a:xfrm>
            <a:off x="9461500" y="3949700"/>
            <a:ext cx="0" cy="177800"/>
          </a:xfrm>
          <a:prstGeom prst="line">
            <a:avLst/>
          </a:prstGeom>
          <a:ln w="25400">
            <a:solidFill>
              <a:srgbClr val="0072C6"/>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D9AC968C-4DA0-ABA0-7935-ABCAF26120B7}"/>
              </a:ext>
            </a:extLst>
          </p:cNvPr>
          <p:cNvSpPr/>
          <p:nvPr/>
        </p:nvSpPr>
        <p:spPr>
          <a:xfrm>
            <a:off x="7239000" y="4127500"/>
            <a:ext cx="4445000" cy="584200"/>
          </a:xfrm>
          <a:prstGeom prst="roundRect">
            <a:avLst/>
          </a:prstGeom>
          <a:solidFill>
            <a:srgbClr val="CDE4FF"/>
          </a:solidFill>
          <a:ln w="15875">
            <a:solidFill>
              <a:srgbClr val="0072C6"/>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3. Remove in-row versions no longer needed</a:t>
            </a:r>
          </a:p>
        </p:txBody>
      </p:sp>
      <p:cxnSp>
        <p:nvCxnSpPr>
          <p:cNvPr id="10" name="Straight Connector 9">
            <a:extLst>
              <a:ext uri="{FF2B5EF4-FFF2-40B4-BE49-F238E27FC236}">
                <a16:creationId xmlns:a16="http://schemas.microsoft.com/office/drawing/2014/main" id="{C93CD719-847F-98DD-62DD-FFF455D9DC78}"/>
              </a:ext>
            </a:extLst>
          </p:cNvPr>
          <p:cNvCxnSpPr/>
          <p:nvPr/>
        </p:nvCxnSpPr>
        <p:spPr>
          <a:xfrm>
            <a:off x="9461500" y="4711700"/>
            <a:ext cx="0" cy="177800"/>
          </a:xfrm>
          <a:prstGeom prst="line">
            <a:avLst/>
          </a:prstGeom>
          <a:ln w="25400">
            <a:solidFill>
              <a:srgbClr val="0072C6"/>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0D13246E-430E-7BD0-FB73-ACC961610EAD}"/>
              </a:ext>
            </a:extLst>
          </p:cNvPr>
          <p:cNvSpPr/>
          <p:nvPr/>
        </p:nvSpPr>
        <p:spPr>
          <a:xfrm>
            <a:off x="7239000" y="4889500"/>
            <a:ext cx="4445000" cy="584200"/>
          </a:xfrm>
          <a:prstGeom prst="roundRect">
            <a:avLst/>
          </a:prstGeom>
          <a:solidFill>
            <a:srgbClr val="CDE4FF"/>
          </a:solidFill>
          <a:ln w="15875">
            <a:solidFill>
              <a:srgbClr val="0072C6"/>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4. Forget those aborted transactions (stop tracking them)</a:t>
            </a:r>
          </a:p>
        </p:txBody>
      </p:sp>
      <p:sp>
        <p:nvSpPr>
          <p:cNvPr id="12" name="Rectangle: Rounded Corners 11">
            <a:extLst>
              <a:ext uri="{FF2B5EF4-FFF2-40B4-BE49-F238E27FC236}">
                <a16:creationId xmlns:a16="http://schemas.microsoft.com/office/drawing/2014/main" id="{378D79E0-AE99-690B-D100-A42D7E399423}"/>
              </a:ext>
            </a:extLst>
          </p:cNvPr>
          <p:cNvSpPr/>
          <p:nvPr/>
        </p:nvSpPr>
        <p:spPr>
          <a:xfrm>
            <a:off x="7239000" y="5715000"/>
            <a:ext cx="4445000" cy="609600"/>
          </a:xfrm>
          <a:prstGeom prst="roundRect">
            <a:avLst/>
          </a:prstGeom>
          <a:solidFill>
            <a:srgbClr val="FFF3CD"/>
          </a:solidFill>
          <a:ln w="15875">
            <a:solidFill>
              <a:srgbClr val="D6A000"/>
            </a:solidFill>
          </a:ln>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a:solidFill>
                  <a:srgbClr val="1A1A2E"/>
                </a:solidFill>
              </a:rPr>
              <a:t>Off-row PVS: whole pages are freed once no snapshot query or aborted transaction needs them</a:t>
            </a:r>
          </a:p>
        </p:txBody>
      </p:sp>
      <p:sp>
        <p:nvSpPr>
          <p:cNvPr id="13" name="TextBox 12">
            <a:extLst>
              <a:ext uri="{FF2B5EF4-FFF2-40B4-BE49-F238E27FC236}">
                <a16:creationId xmlns:a16="http://schemas.microsoft.com/office/drawing/2014/main" id="{FE50A5BC-4510-E48E-BFB7-889C9BFE9B40}"/>
              </a:ext>
            </a:extLst>
          </p:cNvPr>
          <p:cNvSpPr txBox="1"/>
          <p:nvPr/>
        </p:nvSpPr>
        <p:spPr>
          <a:xfrm>
            <a:off x="838200" y="6413500"/>
            <a:ext cx="10922000" cy="230832"/>
          </a:xfrm>
          <a:prstGeom prst="rect">
            <a:avLst/>
          </a:prstGeom>
          <a:noFill/>
        </p:spPr>
        <p:txBody>
          <a:bodyPr vert="horz" rtlCol="0">
            <a:spAutoFit/>
          </a:bodyPr>
          <a:lstStyle/>
          <a:p>
            <a:r>
              <a:rPr lang="en-US" sz="900">
                <a:solidFill>
                  <a:srgbClr val="808080"/>
                </a:solidFill>
              </a:rPr>
              <a:t>Source: Antonopoulos et al., "Constant Time Recovery in Azure SQL Database", VLDB 2019 (Sec. 3.4, 3.7)</a:t>
            </a:r>
          </a:p>
        </p:txBody>
      </p:sp>
    </p:spTree>
    <p:extLst>
      <p:ext uri="{BB962C8B-B14F-4D97-AF65-F5344CB8AC3E}">
        <p14:creationId xmlns:p14="http://schemas.microsoft.com/office/powerpoint/2010/main" val="2537448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1DE08-5B5C-970A-346E-1B4B5EC4F9EA}"/>
              </a:ext>
            </a:extLst>
          </p:cNvPr>
          <p:cNvSpPr>
            <a:spLocks noGrp="1"/>
          </p:cNvSpPr>
          <p:nvPr>
            <p:ph type="title"/>
          </p:nvPr>
        </p:nvSpPr>
        <p:spPr/>
        <p:txBody>
          <a:bodyPr/>
          <a:lstStyle/>
          <a:p>
            <a:r>
              <a:rPr lang="en-US"/>
              <a:t>Three Kinds of Operations, Three Ways to Recover</a:t>
            </a:r>
          </a:p>
        </p:txBody>
      </p:sp>
      <p:graphicFrame>
        <p:nvGraphicFramePr>
          <p:cNvPr id="4" name="Table 3">
            <a:extLst>
              <a:ext uri="{FF2B5EF4-FFF2-40B4-BE49-F238E27FC236}">
                <a16:creationId xmlns:a16="http://schemas.microsoft.com/office/drawing/2014/main" id="{84D679E0-4E3A-C511-B2D9-F528753086E7}"/>
              </a:ext>
            </a:extLst>
          </p:cNvPr>
          <p:cNvGraphicFramePr>
            <a:graphicFrameLocks noGrp="1"/>
          </p:cNvGraphicFramePr>
          <p:nvPr>
            <p:extLst>
              <p:ext uri="{D42A27DB-BD31-4B8C-83A1-F6EECF244321}">
                <p14:modId xmlns:p14="http://schemas.microsoft.com/office/powerpoint/2010/main" val="2155011232"/>
              </p:ext>
            </p:extLst>
          </p:nvPr>
        </p:nvGraphicFramePr>
        <p:xfrm>
          <a:off x="635000" y="1905000"/>
          <a:ext cx="10922000" cy="3175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830173785"/>
                    </a:ext>
                  </a:extLst>
                </a:gridCol>
                <a:gridCol w="3175000">
                  <a:extLst>
                    <a:ext uri="{9D8B030D-6E8A-4147-A177-3AD203B41FA5}">
                      <a16:colId xmlns:a16="http://schemas.microsoft.com/office/drawing/2014/main" val="3991412416"/>
                    </a:ext>
                  </a:extLst>
                </a:gridCol>
                <a:gridCol w="5334000">
                  <a:extLst>
                    <a:ext uri="{9D8B030D-6E8A-4147-A177-3AD203B41FA5}">
                      <a16:colId xmlns:a16="http://schemas.microsoft.com/office/drawing/2014/main" val="2763053118"/>
                    </a:ext>
                  </a:extLst>
                </a:gridCol>
              </a:tblGrid>
              <a:tr h="793750">
                <a:tc>
                  <a:txBody>
                    <a:bodyPr/>
                    <a:lstStyle/>
                    <a:p>
                      <a:r>
                        <a:rPr lang="en-US" sz="1600" b="1"/>
                        <a:t>Category</a:t>
                      </a:r>
                    </a:p>
                  </a:txBody>
                  <a:tcPr/>
                </a:tc>
                <a:tc>
                  <a:txBody>
                    <a:bodyPr/>
                    <a:lstStyle/>
                    <a:p>
                      <a:r>
                        <a:rPr lang="en-US" sz="1600" b="1"/>
                        <a:t>Examples</a:t>
                      </a:r>
                    </a:p>
                  </a:txBody>
                  <a:tcPr/>
                </a:tc>
                <a:tc>
                  <a:txBody>
                    <a:bodyPr/>
                    <a:lstStyle/>
                    <a:p>
                      <a:r>
                        <a:rPr lang="en-US" sz="1600" b="1"/>
                        <a:t>How ADR recovers it</a:t>
                      </a:r>
                    </a:p>
                  </a:txBody>
                  <a:tcPr/>
                </a:tc>
                <a:extLst>
                  <a:ext uri="{0D108BD9-81ED-4DB2-BD59-A6C34878D82A}">
                    <a16:rowId xmlns:a16="http://schemas.microsoft.com/office/drawing/2014/main" val="413056714"/>
                  </a:ext>
                </a:extLst>
              </a:tr>
              <a:tr h="793750">
                <a:tc>
                  <a:txBody>
                    <a:bodyPr/>
                    <a:lstStyle/>
                    <a:p>
                      <a:r>
                        <a:rPr lang="en-US" sz="1600" b="1"/>
                        <a:t>Data modifications</a:t>
                      </a:r>
                    </a:p>
                  </a:txBody>
                  <a:tcPr/>
                </a:tc>
                <a:tc>
                  <a:txBody>
                    <a:bodyPr/>
                    <a:lstStyle/>
                    <a:p>
                      <a:r>
                        <a:rPr lang="en-US" sz="1600"/>
                        <a:t>INSERT, UPDATE, DELETE</a:t>
                      </a:r>
                    </a:p>
                  </a:txBody>
                  <a:tcPr/>
                </a:tc>
                <a:tc>
                  <a:txBody>
                    <a:bodyPr/>
                    <a:lstStyle/>
                    <a:p>
                      <a:r>
                        <a:rPr lang="en-US" sz="1600"/>
                        <a:t>Row versions in PVS - transaction is marked aborted, Logical Revert cleans up in the background</a:t>
                      </a:r>
                    </a:p>
                  </a:txBody>
                  <a:tcPr/>
                </a:tc>
                <a:extLst>
                  <a:ext uri="{0D108BD9-81ED-4DB2-BD59-A6C34878D82A}">
                    <a16:rowId xmlns:a16="http://schemas.microsoft.com/office/drawing/2014/main" val="2556210397"/>
                  </a:ext>
                </a:extLst>
              </a:tr>
              <a:tr h="793750">
                <a:tc>
                  <a:txBody>
                    <a:bodyPr/>
                    <a:lstStyle/>
                    <a:p>
                      <a:r>
                        <a:rPr lang="en-US" sz="1600" b="1"/>
                        <a:t>System operations</a:t>
                      </a:r>
                    </a:p>
                  </a:txBody>
                  <a:tcPr/>
                </a:tc>
                <a:tc>
                  <a:txBody>
                    <a:bodyPr/>
                    <a:lstStyle/>
                    <a:p>
                      <a:r>
                        <a:rPr lang="en-US" sz="1600"/>
                        <a:t>Page allocation, B-tree page splits</a:t>
                      </a:r>
                    </a:p>
                  </a:txBody>
                  <a:tcPr/>
                </a:tc>
                <a:tc>
                  <a:txBody>
                    <a:bodyPr/>
                    <a:lstStyle/>
                    <a:p>
                      <a:r>
                        <a:rPr lang="en-US" sz="1600"/>
                        <a:t>Short system transactions that commit immediately - unused space reclaimed in the background</a:t>
                      </a:r>
                    </a:p>
                  </a:txBody>
                  <a:tcPr/>
                </a:tc>
                <a:extLst>
                  <a:ext uri="{0D108BD9-81ED-4DB2-BD59-A6C34878D82A}">
                    <a16:rowId xmlns:a16="http://schemas.microsoft.com/office/drawing/2014/main" val="1288717954"/>
                  </a:ext>
                </a:extLst>
              </a:tr>
              <a:tr h="793750">
                <a:tc>
                  <a:txBody>
                    <a:bodyPr/>
                    <a:lstStyle/>
                    <a:p>
                      <a:r>
                        <a:rPr lang="en-US" sz="1600" b="1"/>
                        <a:t>Logical / non-versioned</a:t>
                      </a:r>
                    </a:p>
                  </a:txBody>
                  <a:tcPr/>
                </a:tc>
                <a:tc>
                  <a:txBody>
                    <a:bodyPr/>
                    <a:lstStyle/>
                    <a:p>
                      <a:r>
                        <a:rPr lang="en-US" sz="1600"/>
                        <a:t>Table-level locks, cache invalidation, boot page</a:t>
                      </a:r>
                    </a:p>
                  </a:txBody>
                  <a:tcPr/>
                </a:tc>
                <a:tc>
                  <a:txBody>
                    <a:bodyPr/>
                    <a:lstStyle/>
                    <a:p>
                      <a:r>
                        <a:rPr lang="en-US" sz="1600"/>
                        <a:t>Logged in SLOG - tiny volume, redone/undone almost instantly</a:t>
                      </a:r>
                    </a:p>
                  </a:txBody>
                  <a:tcPr/>
                </a:tc>
                <a:extLst>
                  <a:ext uri="{0D108BD9-81ED-4DB2-BD59-A6C34878D82A}">
                    <a16:rowId xmlns:a16="http://schemas.microsoft.com/office/drawing/2014/main" val="500355207"/>
                  </a:ext>
                </a:extLst>
              </a:tr>
            </a:tbl>
          </a:graphicData>
        </a:graphic>
      </p:graphicFrame>
      <p:sp>
        <p:nvSpPr>
          <p:cNvPr id="5" name="TextBox 4">
            <a:extLst>
              <a:ext uri="{FF2B5EF4-FFF2-40B4-BE49-F238E27FC236}">
                <a16:creationId xmlns:a16="http://schemas.microsoft.com/office/drawing/2014/main" id="{10F0B71E-6045-FA41-1A62-4B46F6E77064}"/>
              </a:ext>
            </a:extLst>
          </p:cNvPr>
          <p:cNvSpPr txBox="1"/>
          <p:nvPr/>
        </p:nvSpPr>
        <p:spPr>
          <a:xfrm>
            <a:off x="635000" y="5334000"/>
            <a:ext cx="10922000" cy="646331"/>
          </a:xfrm>
          <a:prstGeom prst="rect">
            <a:avLst/>
          </a:prstGeom>
          <a:noFill/>
        </p:spPr>
        <p:txBody>
          <a:bodyPr vert="horz" wrap="square" rtlCol="0">
            <a:spAutoFit/>
          </a:bodyPr>
          <a:lstStyle/>
          <a:p>
            <a:r>
              <a:rPr lang="en-US" b="1">
                <a:solidFill>
                  <a:srgbClr val="0072C6"/>
                </a:solidFill>
              </a:rPr>
              <a:t>Only the last category still needs log-based redo/undo - and it is orders of magnitude smaller than the full transaction log.</a:t>
            </a:r>
          </a:p>
        </p:txBody>
      </p:sp>
      <p:sp>
        <p:nvSpPr>
          <p:cNvPr id="6" name="TextBox 5">
            <a:extLst>
              <a:ext uri="{FF2B5EF4-FFF2-40B4-BE49-F238E27FC236}">
                <a16:creationId xmlns:a16="http://schemas.microsoft.com/office/drawing/2014/main" id="{C6110D35-9D0B-2026-E32B-66EF6C605D0C}"/>
              </a:ext>
            </a:extLst>
          </p:cNvPr>
          <p:cNvSpPr txBox="1"/>
          <p:nvPr/>
        </p:nvSpPr>
        <p:spPr>
          <a:xfrm>
            <a:off x="635000" y="6413500"/>
            <a:ext cx="10922000" cy="230832"/>
          </a:xfrm>
          <a:prstGeom prst="rect">
            <a:avLst/>
          </a:prstGeom>
          <a:noFill/>
        </p:spPr>
        <p:txBody>
          <a:bodyPr vert="horz" wrap="square" rtlCol="0">
            <a:spAutoFit/>
          </a:bodyPr>
          <a:lstStyle/>
          <a:p>
            <a:r>
              <a:rPr lang="en-US" sz="900" i="1">
                <a:solidFill>
                  <a:srgbClr val="808080"/>
                </a:solidFill>
              </a:rPr>
              <a:t>Source: Antonopoulos et al., "Constant Time Recovery in Azure SQL Database", VLDB 2019</a:t>
            </a:r>
          </a:p>
        </p:txBody>
      </p:sp>
    </p:spTree>
    <p:extLst>
      <p:ext uri="{BB962C8B-B14F-4D97-AF65-F5344CB8AC3E}">
        <p14:creationId xmlns:p14="http://schemas.microsoft.com/office/powerpoint/2010/main" val="3342910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DA984-DF70-6788-1110-1AAC1E9CFBB4}"/>
              </a:ext>
            </a:extLst>
          </p:cNvPr>
          <p:cNvSpPr>
            <a:spLocks noGrp="1"/>
          </p:cNvSpPr>
          <p:nvPr>
            <p:ph type="title"/>
          </p:nvPr>
        </p:nvSpPr>
        <p:spPr/>
        <p:txBody>
          <a:bodyPr/>
          <a:lstStyle/>
          <a:p>
            <a:r>
              <a:rPr lang="en-US" dirty="0"/>
              <a:t>ADR’s Core Trick -  Version Everything</a:t>
            </a:r>
          </a:p>
        </p:txBody>
      </p:sp>
      <p:sp>
        <p:nvSpPr>
          <p:cNvPr id="3" name="Content Placeholder 2">
            <a:extLst>
              <a:ext uri="{FF2B5EF4-FFF2-40B4-BE49-F238E27FC236}">
                <a16:creationId xmlns:a16="http://schemas.microsoft.com/office/drawing/2014/main" id="{5D5A417E-83D8-CC6C-8631-40CEB7862577}"/>
              </a:ext>
            </a:extLst>
          </p:cNvPr>
          <p:cNvSpPr>
            <a:spLocks noGrp="1"/>
          </p:cNvSpPr>
          <p:nvPr>
            <p:ph idx="1"/>
          </p:nvPr>
        </p:nvSpPr>
        <p:spPr/>
        <p:txBody>
          <a:bodyPr>
            <a:normAutofit lnSpcReduction="10000"/>
          </a:bodyPr>
          <a:lstStyle/>
          <a:p>
            <a:r>
              <a:rPr lang="en-US" dirty="0">
                <a:solidFill>
                  <a:srgbClr val="1A1A2E"/>
                </a:solidFill>
              </a:rPr>
              <a:t>PVS (Persistent Version Store): row versions stored inside the DB, not tempdb</a:t>
            </a:r>
          </a:p>
          <a:p>
            <a:r>
              <a:rPr lang="en-US" dirty="0">
                <a:solidFill>
                  <a:srgbClr val="1A1A2E"/>
                </a:solidFill>
              </a:rPr>
              <a:t>SLOG (Secondary Log Stream): lightweight in-memory stream for non-versioned ops only</a:t>
            </a:r>
          </a:p>
          <a:p>
            <a:r>
              <a:rPr lang="en-US" dirty="0">
                <a:solidFill>
                  <a:srgbClr val="1A1A2E"/>
                </a:solidFill>
              </a:rPr>
              <a:t>Logical revert: undo is asynchronous via PVS, instant from the user's view</a:t>
            </a:r>
          </a:p>
          <a:p>
            <a:r>
              <a:rPr lang="en-US" dirty="0">
                <a:solidFill>
                  <a:srgbClr val="1A1A2E"/>
                </a:solidFill>
              </a:rPr>
              <a:t>Aborted transactions are marked immediately; concurrent queries just ignore their versions</a:t>
            </a:r>
          </a:p>
          <a:p>
            <a:r>
              <a:rPr lang="en-US" b="1" dirty="0">
                <a:solidFill>
                  <a:srgbClr val="1A7A3C"/>
                </a:solidFill>
              </a:rPr>
              <a:t>Recovery time </a:t>
            </a:r>
            <a:r>
              <a:rPr lang="en-US" b="1">
                <a:solidFill>
                  <a:srgbClr val="1A7A3C"/>
                </a:solidFill>
              </a:rPr>
              <a:t>becomes CONSTANT - long-running transactions no longer matter</a:t>
            </a:r>
            <a:endParaRPr lang="en-US" dirty="0"/>
          </a:p>
        </p:txBody>
      </p:sp>
    </p:spTree>
    <p:extLst>
      <p:ext uri="{BB962C8B-B14F-4D97-AF65-F5344CB8AC3E}">
        <p14:creationId xmlns:p14="http://schemas.microsoft.com/office/powerpoint/2010/main" val="2287327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7518-0011-1133-A3A9-288BE6A8F649}"/>
              </a:ext>
            </a:extLst>
          </p:cNvPr>
          <p:cNvSpPr>
            <a:spLocks noGrp="1"/>
          </p:cNvSpPr>
          <p:nvPr>
            <p:ph type="title"/>
          </p:nvPr>
        </p:nvSpPr>
        <p:spPr/>
        <p:txBody>
          <a:bodyPr/>
          <a:lstStyle/>
          <a:p>
            <a:r>
              <a:rPr lang="en-US" dirty="0"/>
              <a:t>Recovery with ADR</a:t>
            </a:r>
          </a:p>
        </p:txBody>
      </p:sp>
      <p:pic>
        <p:nvPicPr>
          <p:cNvPr id="5" name="Content Placeholder 4">
            <a:extLst>
              <a:ext uri="{FF2B5EF4-FFF2-40B4-BE49-F238E27FC236}">
                <a16:creationId xmlns:a16="http://schemas.microsoft.com/office/drawing/2014/main" id="{CCF3821F-D7C4-072F-9D8B-47366A34C40C}"/>
              </a:ext>
            </a:extLst>
          </p:cNvPr>
          <p:cNvPicPr>
            <a:picLocks noGrp="1" noChangeAspect="1"/>
          </p:cNvPicPr>
          <p:nvPr>
            <p:ph idx="1"/>
          </p:nvPr>
        </p:nvPicPr>
        <p:blipFill>
          <a:blip r:embed="rId3"/>
          <a:stretch>
            <a:fillRect/>
          </a:stretch>
        </p:blipFill>
        <p:spPr>
          <a:xfrm>
            <a:off x="1349298" y="1546570"/>
            <a:ext cx="8753706" cy="5054103"/>
          </a:xfrm>
          <a:prstGeom prst="rect">
            <a:avLst/>
          </a:prstGeom>
        </p:spPr>
      </p:pic>
      <p:sp>
        <p:nvSpPr>
          <p:cNvPr id="3" name="TextBox 2">
            <a:extLst>
              <a:ext uri="{FF2B5EF4-FFF2-40B4-BE49-F238E27FC236}">
                <a16:creationId xmlns:a16="http://schemas.microsoft.com/office/drawing/2014/main" id="{ECF1207D-AA22-0ADD-E530-ACB025557EE4}"/>
              </a:ext>
            </a:extLst>
          </p:cNvPr>
          <p:cNvSpPr txBox="1"/>
          <p:nvPr/>
        </p:nvSpPr>
        <p:spPr>
          <a:xfrm>
            <a:off x="1346200" y="6578600"/>
            <a:ext cx="8750300" cy="246221"/>
          </a:xfrm>
          <a:prstGeom prst="rect">
            <a:avLst/>
          </a:prstGeom>
          <a:noFill/>
        </p:spPr>
        <p:txBody>
          <a:bodyPr vert="horz" rtlCol="0">
            <a:spAutoFit/>
          </a:bodyPr>
          <a:lstStyle/>
          <a:p>
            <a:r>
              <a:rPr lang="en-US" sz="1000" i="1">
                <a:solidFill>
                  <a:srgbClr val="808080"/>
                </a:solidFill>
              </a:rPr>
              <a:t>Source: Microsoft Learn - Accelerated Database Recovery concepts</a:t>
            </a:r>
          </a:p>
        </p:txBody>
      </p:sp>
    </p:spTree>
    <p:extLst>
      <p:ext uri="{BB962C8B-B14F-4D97-AF65-F5344CB8AC3E}">
        <p14:creationId xmlns:p14="http://schemas.microsoft.com/office/powerpoint/2010/main" val="3240700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140" y="0"/>
            <a:ext cx="12115800" cy="1097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5908" y="137160"/>
            <a:ext cx="11521440" cy="523220"/>
          </a:xfrm>
          <a:prstGeom prst="rect">
            <a:avLst/>
          </a:prstGeom>
          <a:noFill/>
        </p:spPr>
        <p:txBody>
          <a:bodyPr wrap="square">
            <a:spAutoFit/>
          </a:bodyPr>
          <a:lstStyle/>
          <a:p>
            <a:pPr algn="l"/>
            <a:r>
              <a:rPr sz="2800" b="1">
                <a:solidFill>
                  <a:srgbClr val="1A1A2E"/>
                </a:solidFill>
              </a:rPr>
              <a:t>Phase 1: Analysis — Traditional vs. ADR</a:t>
            </a:r>
          </a:p>
        </p:txBody>
      </p:sp>
      <p:sp>
        <p:nvSpPr>
          <p:cNvPr id="5" name="Rounded Rectangle 4"/>
          <p:cNvSpPr/>
          <p:nvPr/>
        </p:nvSpPr>
        <p:spPr>
          <a:xfrm>
            <a:off x="275908" y="1554480"/>
            <a:ext cx="1371600" cy="822960"/>
          </a:xfrm>
          <a:prstGeom prst="roundRect">
            <a:avLst/>
          </a:prstGeom>
          <a:solidFill>
            <a:srgbClr val="FADBD8"/>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A1A2E"/>
                </a:solidFill>
              </a:rPr>
              <a:t>Traditional</a:t>
            </a:r>
          </a:p>
          <a:p>
            <a:pPr algn="ctr"/>
            <a:r>
              <a:rPr sz="1500" b="1">
                <a:solidFill>
                  <a:srgbClr val="1A1A2E"/>
                </a:solidFill>
              </a:rPr>
              <a:t>(ARIES)</a:t>
            </a:r>
          </a:p>
        </p:txBody>
      </p:sp>
      <p:cxnSp>
        <p:nvCxnSpPr>
          <p:cNvPr id="6" name="Connector 5"/>
          <p:cNvCxnSpPr/>
          <p:nvPr/>
        </p:nvCxnSpPr>
        <p:spPr>
          <a:xfrm>
            <a:off x="2247354"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515834" y="1234440"/>
            <a:ext cx="1463040" cy="261610"/>
          </a:xfrm>
          <a:prstGeom prst="rect">
            <a:avLst/>
          </a:prstGeom>
          <a:noFill/>
        </p:spPr>
        <p:txBody>
          <a:bodyPr wrap="square">
            <a:spAutoFit/>
          </a:bodyPr>
          <a:lstStyle/>
          <a:p>
            <a:pPr algn="ctr"/>
            <a:r>
              <a:rPr sz="1100" b="1">
                <a:solidFill>
                  <a:srgbClr val="808080"/>
                </a:solidFill>
              </a:rPr>
              <a:t>T1 starts</a:t>
            </a:r>
          </a:p>
        </p:txBody>
      </p:sp>
      <p:cxnSp>
        <p:nvCxnSpPr>
          <p:cNvPr id="8" name="Connector 7"/>
          <p:cNvCxnSpPr/>
          <p:nvPr/>
        </p:nvCxnSpPr>
        <p:spPr>
          <a:xfrm>
            <a:off x="6139040"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07520" y="1234440"/>
            <a:ext cx="1463040" cy="261610"/>
          </a:xfrm>
          <a:prstGeom prst="rect">
            <a:avLst/>
          </a:prstGeom>
          <a:noFill/>
        </p:spPr>
        <p:txBody>
          <a:bodyPr wrap="square">
            <a:spAutoFit/>
          </a:bodyPr>
          <a:lstStyle/>
          <a:p>
            <a:pPr algn="ctr"/>
            <a:r>
              <a:rPr sz="1100" b="1">
                <a:solidFill>
                  <a:srgbClr val="808080"/>
                </a:solidFill>
              </a:rPr>
              <a:t>Last checkpoint</a:t>
            </a:r>
          </a:p>
        </p:txBody>
      </p:sp>
      <p:cxnSp>
        <p:nvCxnSpPr>
          <p:cNvPr id="10" name="Connector 9"/>
          <p:cNvCxnSpPr/>
          <p:nvPr/>
        </p:nvCxnSpPr>
        <p:spPr>
          <a:xfrm>
            <a:off x="8571344"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839824" y="1234440"/>
            <a:ext cx="1463040" cy="261610"/>
          </a:xfrm>
          <a:prstGeom prst="rect">
            <a:avLst/>
          </a:prstGeom>
          <a:noFill/>
        </p:spPr>
        <p:txBody>
          <a:bodyPr wrap="square">
            <a:spAutoFit/>
          </a:bodyPr>
          <a:lstStyle/>
          <a:p>
            <a:pPr algn="ctr"/>
            <a:r>
              <a:rPr sz="1100" b="1">
                <a:solidFill>
                  <a:srgbClr val="808080"/>
                </a:solidFill>
              </a:rPr>
              <a:t>Crash</a:t>
            </a:r>
          </a:p>
        </p:txBody>
      </p:sp>
      <p:sp>
        <p:nvSpPr>
          <p:cNvPr id="12" name="Rounded Rectangle 11"/>
          <p:cNvSpPr/>
          <p:nvPr/>
        </p:nvSpPr>
        <p:spPr>
          <a:xfrm>
            <a:off x="1830388" y="1554480"/>
            <a:ext cx="6949440" cy="292608"/>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a:solidFill>
                  <a:srgbClr val="1A1A2E"/>
                </a:solidFill>
              </a:rPr>
              <a:t>Transaction log  →</a:t>
            </a:r>
          </a:p>
        </p:txBody>
      </p:sp>
      <p:sp>
        <p:nvSpPr>
          <p:cNvPr id="13" name="Rounded Rectangle 12"/>
          <p:cNvSpPr/>
          <p:nvPr/>
        </p:nvSpPr>
        <p:spPr>
          <a:xfrm>
            <a:off x="2247354" y="1892808"/>
            <a:ext cx="6323990" cy="219456"/>
          </a:xfrm>
          <a:prstGeom prst="roundRect">
            <a:avLst/>
          </a:prstGeom>
          <a:solidFill>
            <a:srgbClr val="F5B041"/>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a:solidFill>
                  <a:srgbClr val="1A1A2E"/>
                </a:solidFill>
              </a:rPr>
              <a:t>T1: long-running, uncommitted at crash</a:t>
            </a:r>
          </a:p>
        </p:txBody>
      </p:sp>
      <p:sp>
        <p:nvSpPr>
          <p:cNvPr id="14" name="Rounded Rectangle 13"/>
          <p:cNvSpPr/>
          <p:nvPr/>
        </p:nvSpPr>
        <p:spPr>
          <a:xfrm>
            <a:off x="9008428" y="1508760"/>
            <a:ext cx="2926080" cy="173736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a:solidFill>
                  <a:srgbClr val="1A1A2E"/>
                </a:solidFill>
              </a:rPr>
              <a:t>Forward scan from last checkpoint</a:t>
            </a:r>
          </a:p>
          <a:p>
            <a:pPr algn="ctr"/>
            <a:endParaRPr sz="1200">
              <a:solidFill>
                <a:srgbClr val="1A1A2E"/>
              </a:solidFill>
            </a:endParaRPr>
          </a:p>
          <a:p>
            <a:pPr algn="ctr"/>
            <a:r>
              <a:rPr sz="1200">
                <a:solidFill>
                  <a:srgbClr val="1A1A2E"/>
                </a:solidFill>
              </a:rPr>
              <a:t>Determine each transaction's</a:t>
            </a:r>
          </a:p>
          <a:p>
            <a:pPr algn="ctr"/>
            <a:r>
              <a:rPr sz="1200">
                <a:solidFill>
                  <a:srgbClr val="1A1A2E"/>
                </a:solidFill>
              </a:rPr>
              <a:t>state: committed vs. active</a:t>
            </a:r>
          </a:p>
        </p:txBody>
      </p:sp>
      <p:cxnSp>
        <p:nvCxnSpPr>
          <p:cNvPr id="15" name="Connector 14"/>
          <p:cNvCxnSpPr/>
          <p:nvPr/>
        </p:nvCxnSpPr>
        <p:spPr>
          <a:xfrm>
            <a:off x="6139040" y="2377440"/>
            <a:ext cx="2432304" cy="0"/>
          </a:xfrm>
          <a:prstGeom prst="line">
            <a:avLst/>
          </a:prstGeom>
          <a:ln w="38100">
            <a:solidFill>
              <a:srgbClr val="0072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39040" y="2423160"/>
            <a:ext cx="2432304" cy="261610"/>
          </a:xfrm>
          <a:prstGeom prst="rect">
            <a:avLst/>
          </a:prstGeom>
          <a:solidFill>
            <a:srgbClr val="FFFFFF"/>
          </a:solidFill>
        </p:spPr>
        <p:txBody>
          <a:bodyPr wrap="square">
            <a:spAutoFit/>
          </a:bodyPr>
          <a:lstStyle/>
          <a:p>
            <a:pPr algn="ctr"/>
            <a:r>
              <a:rPr sz="1100">
                <a:solidFill>
                  <a:srgbClr val="0072C6"/>
                </a:solidFill>
              </a:rPr>
              <a:t>Forward scan: checkpoint → end</a:t>
            </a:r>
          </a:p>
        </p:txBody>
      </p:sp>
      <p:cxnSp>
        <p:nvCxnSpPr>
          <p:cNvPr id="17" name="Connector 16"/>
          <p:cNvCxnSpPr/>
          <p:nvPr/>
        </p:nvCxnSpPr>
        <p:spPr>
          <a:xfrm>
            <a:off x="275908" y="3520440"/>
            <a:ext cx="11612880"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5908" y="4023360"/>
            <a:ext cx="1371600" cy="82296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A1A2E"/>
                </a:solidFill>
              </a:rPr>
              <a:t>ADR</a:t>
            </a:r>
          </a:p>
        </p:txBody>
      </p:sp>
      <p:cxnSp>
        <p:nvCxnSpPr>
          <p:cNvPr id="19" name="Connector 18"/>
          <p:cNvCxnSpPr/>
          <p:nvPr/>
        </p:nvCxnSpPr>
        <p:spPr>
          <a:xfrm>
            <a:off x="2247354"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15834" y="3703320"/>
            <a:ext cx="1463040" cy="261610"/>
          </a:xfrm>
          <a:prstGeom prst="rect">
            <a:avLst/>
          </a:prstGeom>
          <a:noFill/>
        </p:spPr>
        <p:txBody>
          <a:bodyPr wrap="square">
            <a:spAutoFit/>
          </a:bodyPr>
          <a:lstStyle/>
          <a:p>
            <a:pPr algn="ctr"/>
            <a:r>
              <a:rPr sz="1100" b="1">
                <a:solidFill>
                  <a:srgbClr val="808080"/>
                </a:solidFill>
              </a:rPr>
              <a:t>T1 starts</a:t>
            </a:r>
          </a:p>
        </p:txBody>
      </p:sp>
      <p:cxnSp>
        <p:nvCxnSpPr>
          <p:cNvPr id="21" name="Connector 20"/>
          <p:cNvCxnSpPr/>
          <p:nvPr/>
        </p:nvCxnSpPr>
        <p:spPr>
          <a:xfrm>
            <a:off x="6139040"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07520" y="3703320"/>
            <a:ext cx="1463040" cy="261610"/>
          </a:xfrm>
          <a:prstGeom prst="rect">
            <a:avLst/>
          </a:prstGeom>
          <a:noFill/>
        </p:spPr>
        <p:txBody>
          <a:bodyPr wrap="square">
            <a:spAutoFit/>
          </a:bodyPr>
          <a:lstStyle/>
          <a:p>
            <a:pPr algn="ctr"/>
            <a:r>
              <a:rPr sz="1100" b="1">
                <a:solidFill>
                  <a:srgbClr val="808080"/>
                </a:solidFill>
              </a:rPr>
              <a:t>Last checkpoint</a:t>
            </a:r>
          </a:p>
        </p:txBody>
      </p:sp>
      <p:cxnSp>
        <p:nvCxnSpPr>
          <p:cNvPr id="23" name="Connector 22"/>
          <p:cNvCxnSpPr/>
          <p:nvPr/>
        </p:nvCxnSpPr>
        <p:spPr>
          <a:xfrm>
            <a:off x="8571344"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824" y="3703320"/>
            <a:ext cx="1463040" cy="261610"/>
          </a:xfrm>
          <a:prstGeom prst="rect">
            <a:avLst/>
          </a:prstGeom>
          <a:noFill/>
        </p:spPr>
        <p:txBody>
          <a:bodyPr wrap="square">
            <a:spAutoFit/>
          </a:bodyPr>
          <a:lstStyle/>
          <a:p>
            <a:pPr algn="ctr"/>
            <a:r>
              <a:rPr sz="1100" b="1">
                <a:solidFill>
                  <a:srgbClr val="808080"/>
                </a:solidFill>
              </a:rPr>
              <a:t>Crash</a:t>
            </a:r>
          </a:p>
        </p:txBody>
      </p:sp>
      <p:sp>
        <p:nvSpPr>
          <p:cNvPr id="25" name="Rounded Rectangle 24"/>
          <p:cNvSpPr/>
          <p:nvPr/>
        </p:nvSpPr>
        <p:spPr>
          <a:xfrm>
            <a:off x="1830388" y="4023360"/>
            <a:ext cx="6949440" cy="292608"/>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a:solidFill>
                  <a:srgbClr val="1A1A2E"/>
                </a:solidFill>
              </a:rPr>
              <a:t>Transaction log  →</a:t>
            </a:r>
          </a:p>
        </p:txBody>
      </p:sp>
      <p:sp>
        <p:nvSpPr>
          <p:cNvPr id="26" name="Rounded Rectangle 25"/>
          <p:cNvSpPr/>
          <p:nvPr/>
        </p:nvSpPr>
        <p:spPr>
          <a:xfrm>
            <a:off x="2247354" y="4361688"/>
            <a:ext cx="6323990" cy="219456"/>
          </a:xfrm>
          <a:prstGeom prst="roundRect">
            <a:avLst/>
          </a:prstGeom>
          <a:solidFill>
            <a:srgbClr val="F5B041"/>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a:solidFill>
                  <a:srgbClr val="1A1A2E"/>
                </a:solidFill>
              </a:rPr>
              <a:t>T1: long-running, uncommitted at crash</a:t>
            </a:r>
          </a:p>
        </p:txBody>
      </p:sp>
      <p:sp>
        <p:nvSpPr>
          <p:cNvPr id="27" name="Rounded Rectangle 26"/>
          <p:cNvSpPr/>
          <p:nvPr/>
        </p:nvSpPr>
        <p:spPr>
          <a:xfrm>
            <a:off x="9008428" y="3977640"/>
            <a:ext cx="2926080" cy="173736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a:solidFill>
                  <a:srgbClr val="1A1A2E"/>
                </a:solidFill>
              </a:rPr>
              <a:t>Same forward scan</a:t>
            </a:r>
          </a:p>
          <a:p>
            <a:pPr algn="ctr"/>
            <a:endParaRPr sz="1200">
              <a:solidFill>
                <a:srgbClr val="1A1A2E"/>
              </a:solidFill>
            </a:endParaRPr>
          </a:p>
          <a:p>
            <a:pPr algn="ctr"/>
            <a:r>
              <a:rPr sz="1200">
                <a:solidFill>
                  <a:srgbClr val="1A1A2E"/>
                </a:solidFill>
              </a:rPr>
              <a:t>+ Rebuild SLOG in memory</a:t>
            </a:r>
          </a:p>
          <a:p>
            <a:pPr algn="ctr"/>
            <a:r>
              <a:rPr sz="1200">
                <a:solidFill>
                  <a:srgbClr val="1A1A2E"/>
                </a:solidFill>
              </a:rPr>
              <a:t>+ Build Active Transaction Table</a:t>
            </a:r>
          </a:p>
        </p:txBody>
      </p:sp>
      <p:cxnSp>
        <p:nvCxnSpPr>
          <p:cNvPr id="28" name="Connector 27"/>
          <p:cNvCxnSpPr/>
          <p:nvPr/>
        </p:nvCxnSpPr>
        <p:spPr>
          <a:xfrm>
            <a:off x="6139040" y="4846320"/>
            <a:ext cx="2432304" cy="0"/>
          </a:xfrm>
          <a:prstGeom prst="line">
            <a:avLst/>
          </a:prstGeom>
          <a:ln w="38100">
            <a:solidFill>
              <a:srgbClr val="0072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139040" y="4892040"/>
            <a:ext cx="2432304" cy="261610"/>
          </a:xfrm>
          <a:prstGeom prst="rect">
            <a:avLst/>
          </a:prstGeom>
          <a:solidFill>
            <a:srgbClr val="FFFFFF"/>
          </a:solidFill>
        </p:spPr>
        <p:txBody>
          <a:bodyPr wrap="square">
            <a:spAutoFit/>
          </a:bodyPr>
          <a:lstStyle/>
          <a:p>
            <a:pPr algn="ctr"/>
            <a:r>
              <a:rPr sz="1100">
                <a:solidFill>
                  <a:srgbClr val="0072C6"/>
                </a:solidFill>
              </a:rPr>
              <a:t>Forward scan: checkpoint → end</a:t>
            </a:r>
          </a:p>
        </p:txBody>
      </p:sp>
      <p:sp>
        <p:nvSpPr>
          <p:cNvPr id="30" name="Rounded Rectangle 29"/>
          <p:cNvSpPr/>
          <p:nvPr/>
        </p:nvSpPr>
        <p:spPr>
          <a:xfrm>
            <a:off x="6139040" y="5349240"/>
            <a:ext cx="2432304" cy="384048"/>
          </a:xfrm>
          <a:prstGeom prst="roundRect">
            <a:avLst/>
          </a:prstGeom>
          <a:solidFill>
            <a:srgbClr val="E0D6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A1A2E"/>
                </a:solidFill>
              </a:rPr>
              <a:t>+ Rebuild SLOG (non-versioned ops)</a:t>
            </a:r>
          </a:p>
        </p:txBody>
      </p:sp>
      <p:sp>
        <p:nvSpPr>
          <p:cNvPr id="31" name="TextBox 30"/>
          <p:cNvSpPr txBox="1"/>
          <p:nvPr/>
        </p:nvSpPr>
        <p:spPr>
          <a:xfrm>
            <a:off x="275908" y="6172200"/>
            <a:ext cx="11612880" cy="338554"/>
          </a:xfrm>
          <a:prstGeom prst="rect">
            <a:avLst/>
          </a:prstGeom>
          <a:noFill/>
        </p:spPr>
        <p:txBody>
          <a:bodyPr wrap="square">
            <a:spAutoFit/>
          </a:bodyPr>
          <a:lstStyle/>
          <a:p>
            <a:pPr algn="l"/>
            <a:r>
              <a:rPr sz="1600" b="1">
                <a:solidFill>
                  <a:srgbClr val="0072C6"/>
                </a:solidFill>
              </a:rPr>
              <a:t>Both start at the last checkpoint — ADR additionally rebuilds the SLOG.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73152"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740" y="0"/>
            <a:ext cx="12115800" cy="1097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5908" y="137160"/>
            <a:ext cx="11521440" cy="523220"/>
          </a:xfrm>
          <a:prstGeom prst="rect">
            <a:avLst/>
          </a:prstGeom>
          <a:noFill/>
        </p:spPr>
        <p:txBody>
          <a:bodyPr wrap="square">
            <a:spAutoFit/>
          </a:bodyPr>
          <a:lstStyle/>
          <a:p>
            <a:pPr algn="l"/>
            <a:r>
              <a:rPr sz="2800" b="1">
                <a:solidFill>
                  <a:srgbClr val="1A1A2E"/>
                </a:solidFill>
              </a:rPr>
              <a:t>Phase 2: Redo — Traditional vs. ADR</a:t>
            </a:r>
          </a:p>
        </p:txBody>
      </p:sp>
      <p:sp>
        <p:nvSpPr>
          <p:cNvPr id="5" name="Rounded Rectangle 4"/>
          <p:cNvSpPr/>
          <p:nvPr/>
        </p:nvSpPr>
        <p:spPr>
          <a:xfrm>
            <a:off x="275908" y="1554480"/>
            <a:ext cx="1371600" cy="822960"/>
          </a:xfrm>
          <a:prstGeom prst="roundRect">
            <a:avLst/>
          </a:prstGeom>
          <a:solidFill>
            <a:srgbClr val="FADBD8"/>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A1A2E"/>
                </a:solidFill>
              </a:rPr>
              <a:t>Traditional</a:t>
            </a:r>
          </a:p>
          <a:p>
            <a:pPr algn="ctr"/>
            <a:r>
              <a:rPr sz="1500" b="1">
                <a:solidFill>
                  <a:srgbClr val="1A1A2E"/>
                </a:solidFill>
              </a:rPr>
              <a:t>(ARIES)</a:t>
            </a:r>
          </a:p>
        </p:txBody>
      </p:sp>
      <p:cxnSp>
        <p:nvCxnSpPr>
          <p:cNvPr id="6" name="Connector 5"/>
          <p:cNvCxnSpPr/>
          <p:nvPr/>
        </p:nvCxnSpPr>
        <p:spPr>
          <a:xfrm>
            <a:off x="2247354"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515834" y="1234440"/>
            <a:ext cx="1463040" cy="261610"/>
          </a:xfrm>
          <a:prstGeom prst="rect">
            <a:avLst/>
          </a:prstGeom>
          <a:noFill/>
        </p:spPr>
        <p:txBody>
          <a:bodyPr wrap="square">
            <a:spAutoFit/>
          </a:bodyPr>
          <a:lstStyle/>
          <a:p>
            <a:pPr algn="ctr"/>
            <a:r>
              <a:rPr sz="1100" b="1">
                <a:solidFill>
                  <a:srgbClr val="808080"/>
                </a:solidFill>
              </a:rPr>
              <a:t>T1 starts</a:t>
            </a:r>
          </a:p>
        </p:txBody>
      </p:sp>
      <p:cxnSp>
        <p:nvCxnSpPr>
          <p:cNvPr id="8" name="Connector 7"/>
          <p:cNvCxnSpPr/>
          <p:nvPr/>
        </p:nvCxnSpPr>
        <p:spPr>
          <a:xfrm>
            <a:off x="6139040"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07520" y="1234440"/>
            <a:ext cx="1463040" cy="261610"/>
          </a:xfrm>
          <a:prstGeom prst="rect">
            <a:avLst/>
          </a:prstGeom>
          <a:noFill/>
        </p:spPr>
        <p:txBody>
          <a:bodyPr wrap="square">
            <a:spAutoFit/>
          </a:bodyPr>
          <a:lstStyle/>
          <a:p>
            <a:pPr algn="ctr"/>
            <a:r>
              <a:rPr sz="1100" b="1">
                <a:solidFill>
                  <a:srgbClr val="808080"/>
                </a:solidFill>
              </a:rPr>
              <a:t>Last checkpoint</a:t>
            </a:r>
          </a:p>
        </p:txBody>
      </p:sp>
      <p:cxnSp>
        <p:nvCxnSpPr>
          <p:cNvPr id="10" name="Connector 9"/>
          <p:cNvCxnSpPr/>
          <p:nvPr/>
        </p:nvCxnSpPr>
        <p:spPr>
          <a:xfrm>
            <a:off x="8571344"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839824" y="1234440"/>
            <a:ext cx="1463040" cy="261610"/>
          </a:xfrm>
          <a:prstGeom prst="rect">
            <a:avLst/>
          </a:prstGeom>
          <a:noFill/>
        </p:spPr>
        <p:txBody>
          <a:bodyPr wrap="square">
            <a:spAutoFit/>
          </a:bodyPr>
          <a:lstStyle/>
          <a:p>
            <a:pPr algn="ctr"/>
            <a:r>
              <a:rPr sz="1100" b="1">
                <a:solidFill>
                  <a:srgbClr val="808080"/>
                </a:solidFill>
              </a:rPr>
              <a:t>Crash</a:t>
            </a:r>
          </a:p>
        </p:txBody>
      </p:sp>
      <p:sp>
        <p:nvSpPr>
          <p:cNvPr id="12" name="Rounded Rectangle 11"/>
          <p:cNvSpPr/>
          <p:nvPr/>
        </p:nvSpPr>
        <p:spPr>
          <a:xfrm>
            <a:off x="1830388" y="1554480"/>
            <a:ext cx="6949440" cy="292608"/>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a:solidFill>
                  <a:srgbClr val="1A1A2E"/>
                </a:solidFill>
              </a:rPr>
              <a:t>Transaction log  →</a:t>
            </a:r>
          </a:p>
        </p:txBody>
      </p:sp>
      <p:sp>
        <p:nvSpPr>
          <p:cNvPr id="13" name="Rounded Rectangle 12"/>
          <p:cNvSpPr/>
          <p:nvPr/>
        </p:nvSpPr>
        <p:spPr>
          <a:xfrm>
            <a:off x="2247354" y="1892808"/>
            <a:ext cx="6323990" cy="219456"/>
          </a:xfrm>
          <a:prstGeom prst="roundRect">
            <a:avLst/>
          </a:prstGeom>
          <a:solidFill>
            <a:srgbClr val="F5B041"/>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a:solidFill>
                  <a:srgbClr val="1A1A2E"/>
                </a:solidFill>
              </a:rPr>
              <a:t>T1: long-running, uncommitted at crash</a:t>
            </a:r>
          </a:p>
        </p:txBody>
      </p:sp>
      <p:sp>
        <p:nvSpPr>
          <p:cNvPr id="14" name="Rounded Rectangle 13"/>
          <p:cNvSpPr/>
          <p:nvPr/>
        </p:nvSpPr>
        <p:spPr>
          <a:xfrm>
            <a:off x="9008428" y="1508760"/>
            <a:ext cx="2926080" cy="173736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a:solidFill>
                  <a:srgbClr val="1A1A2E"/>
                </a:solidFill>
              </a:rPr>
              <a:t>Replays committed work</a:t>
            </a:r>
          </a:p>
          <a:p>
            <a:pPr algn="ctr"/>
            <a:endParaRPr sz="1200">
              <a:solidFill>
                <a:srgbClr val="1A1A2E"/>
              </a:solidFill>
            </a:endParaRPr>
          </a:p>
          <a:p>
            <a:pPr algn="ctr"/>
            <a:r>
              <a:rPr sz="1200">
                <a:solidFill>
                  <a:srgbClr val="1A1A2E"/>
                </a:solidFill>
              </a:rPr>
              <a:t>Scan length grows with the</a:t>
            </a:r>
          </a:p>
          <a:p>
            <a:pPr algn="ctr"/>
            <a:r>
              <a:rPr sz="1200">
                <a:solidFill>
                  <a:srgbClr val="1A1A2E"/>
                </a:solidFill>
              </a:rPr>
              <a:t>oldest active transaction</a:t>
            </a:r>
          </a:p>
        </p:txBody>
      </p:sp>
      <p:cxnSp>
        <p:nvCxnSpPr>
          <p:cNvPr id="15" name="Connector 14"/>
          <p:cNvCxnSpPr/>
          <p:nvPr/>
        </p:nvCxnSpPr>
        <p:spPr>
          <a:xfrm>
            <a:off x="2247354" y="2377440"/>
            <a:ext cx="6323990" cy="0"/>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247354" y="2423160"/>
            <a:ext cx="6323990" cy="261610"/>
          </a:xfrm>
          <a:prstGeom prst="rect">
            <a:avLst/>
          </a:prstGeom>
          <a:solidFill>
            <a:srgbClr val="FFFFFF"/>
          </a:solidFill>
        </p:spPr>
        <p:txBody>
          <a:bodyPr wrap="square">
            <a:spAutoFit/>
          </a:bodyPr>
          <a:lstStyle/>
          <a:p>
            <a:pPr algn="ctr"/>
            <a:r>
              <a:rPr sz="1100">
                <a:solidFill>
                  <a:srgbClr val="C0392B"/>
                </a:solidFill>
              </a:rPr>
              <a:t>Forward scan of the FULL log: oldest uncommitted txn → end</a:t>
            </a:r>
          </a:p>
        </p:txBody>
      </p:sp>
      <p:cxnSp>
        <p:nvCxnSpPr>
          <p:cNvPr id="17" name="Connector 16"/>
          <p:cNvCxnSpPr/>
          <p:nvPr/>
        </p:nvCxnSpPr>
        <p:spPr>
          <a:xfrm>
            <a:off x="275908" y="3520440"/>
            <a:ext cx="11612880"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5908" y="4023360"/>
            <a:ext cx="1371600" cy="82296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A1A2E"/>
                </a:solidFill>
              </a:rPr>
              <a:t>ADR</a:t>
            </a:r>
          </a:p>
        </p:txBody>
      </p:sp>
      <p:cxnSp>
        <p:nvCxnSpPr>
          <p:cNvPr id="19" name="Connector 18"/>
          <p:cNvCxnSpPr/>
          <p:nvPr/>
        </p:nvCxnSpPr>
        <p:spPr>
          <a:xfrm>
            <a:off x="2247354"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15834" y="3703320"/>
            <a:ext cx="1463040" cy="261610"/>
          </a:xfrm>
          <a:prstGeom prst="rect">
            <a:avLst/>
          </a:prstGeom>
          <a:noFill/>
        </p:spPr>
        <p:txBody>
          <a:bodyPr wrap="square">
            <a:spAutoFit/>
          </a:bodyPr>
          <a:lstStyle/>
          <a:p>
            <a:pPr algn="ctr"/>
            <a:r>
              <a:rPr sz="1100" b="1">
                <a:solidFill>
                  <a:srgbClr val="808080"/>
                </a:solidFill>
              </a:rPr>
              <a:t>T1 starts</a:t>
            </a:r>
          </a:p>
        </p:txBody>
      </p:sp>
      <p:cxnSp>
        <p:nvCxnSpPr>
          <p:cNvPr id="21" name="Connector 20"/>
          <p:cNvCxnSpPr/>
          <p:nvPr/>
        </p:nvCxnSpPr>
        <p:spPr>
          <a:xfrm>
            <a:off x="6139040"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07520" y="3703320"/>
            <a:ext cx="1463040" cy="261610"/>
          </a:xfrm>
          <a:prstGeom prst="rect">
            <a:avLst/>
          </a:prstGeom>
          <a:noFill/>
        </p:spPr>
        <p:txBody>
          <a:bodyPr wrap="square">
            <a:spAutoFit/>
          </a:bodyPr>
          <a:lstStyle/>
          <a:p>
            <a:pPr algn="ctr"/>
            <a:r>
              <a:rPr sz="1100" b="1">
                <a:solidFill>
                  <a:srgbClr val="808080"/>
                </a:solidFill>
              </a:rPr>
              <a:t>Last checkpoint</a:t>
            </a:r>
          </a:p>
        </p:txBody>
      </p:sp>
      <p:cxnSp>
        <p:nvCxnSpPr>
          <p:cNvPr id="23" name="Connector 22"/>
          <p:cNvCxnSpPr/>
          <p:nvPr/>
        </p:nvCxnSpPr>
        <p:spPr>
          <a:xfrm>
            <a:off x="8571344"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824" y="3703320"/>
            <a:ext cx="1463040" cy="261610"/>
          </a:xfrm>
          <a:prstGeom prst="rect">
            <a:avLst/>
          </a:prstGeom>
          <a:noFill/>
        </p:spPr>
        <p:txBody>
          <a:bodyPr wrap="square">
            <a:spAutoFit/>
          </a:bodyPr>
          <a:lstStyle/>
          <a:p>
            <a:pPr algn="ctr"/>
            <a:r>
              <a:rPr sz="1100" b="1">
                <a:solidFill>
                  <a:srgbClr val="808080"/>
                </a:solidFill>
              </a:rPr>
              <a:t>Crash</a:t>
            </a:r>
          </a:p>
        </p:txBody>
      </p:sp>
      <p:sp>
        <p:nvSpPr>
          <p:cNvPr id="25" name="Rounded Rectangle 24"/>
          <p:cNvSpPr/>
          <p:nvPr/>
        </p:nvSpPr>
        <p:spPr>
          <a:xfrm>
            <a:off x="1830388" y="4023360"/>
            <a:ext cx="6949440" cy="292608"/>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a:solidFill>
                  <a:srgbClr val="1A1A2E"/>
                </a:solidFill>
              </a:rPr>
              <a:t>Transaction log  →</a:t>
            </a:r>
          </a:p>
        </p:txBody>
      </p:sp>
      <p:sp>
        <p:nvSpPr>
          <p:cNvPr id="26" name="Rounded Rectangle 25"/>
          <p:cNvSpPr/>
          <p:nvPr/>
        </p:nvSpPr>
        <p:spPr>
          <a:xfrm>
            <a:off x="2247354" y="4361688"/>
            <a:ext cx="6323990" cy="219456"/>
          </a:xfrm>
          <a:prstGeom prst="roundRect">
            <a:avLst/>
          </a:prstGeom>
          <a:solidFill>
            <a:srgbClr val="F5B041"/>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a:solidFill>
                  <a:srgbClr val="1A1A2E"/>
                </a:solidFill>
              </a:rPr>
              <a:t>T1: long-running, uncommitted at crash</a:t>
            </a:r>
          </a:p>
        </p:txBody>
      </p:sp>
      <p:sp>
        <p:nvSpPr>
          <p:cNvPr id="27" name="Rounded Rectangle 26"/>
          <p:cNvSpPr/>
          <p:nvPr/>
        </p:nvSpPr>
        <p:spPr>
          <a:xfrm>
            <a:off x="9008428" y="3977640"/>
            <a:ext cx="2926080" cy="173736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a:solidFill>
                  <a:srgbClr val="1A1A2E"/>
                </a:solidFill>
              </a:rPr>
              <a:t>Subphase 1: SLOG only</a:t>
            </a:r>
          </a:p>
          <a:p>
            <a:pPr algn="ctr"/>
            <a:r>
              <a:rPr sz="1200">
                <a:solidFill>
                  <a:srgbClr val="1A1A2E"/>
                </a:solidFill>
              </a:rPr>
              <a:t>(a handful of records)</a:t>
            </a:r>
          </a:p>
          <a:p>
            <a:pPr algn="ctr"/>
            <a:endParaRPr sz="1200">
              <a:solidFill>
                <a:srgbClr val="1A1A2E"/>
              </a:solidFill>
            </a:endParaRPr>
          </a:p>
          <a:p>
            <a:pPr algn="ctr"/>
            <a:r>
              <a:rPr sz="1200">
                <a:solidFill>
                  <a:srgbClr val="1A1A2E"/>
                </a:solidFill>
              </a:rPr>
              <a:t>Subphase 2: log from</a:t>
            </a:r>
          </a:p>
          <a:p>
            <a:pPr algn="ctr"/>
            <a:r>
              <a:rPr sz="1200">
                <a:solidFill>
                  <a:srgbClr val="1A1A2E"/>
                </a:solidFill>
              </a:rPr>
              <a:t>last checkpoint only</a:t>
            </a:r>
          </a:p>
        </p:txBody>
      </p:sp>
      <p:cxnSp>
        <p:nvCxnSpPr>
          <p:cNvPr id="28" name="Connector 27"/>
          <p:cNvCxnSpPr/>
          <p:nvPr/>
        </p:nvCxnSpPr>
        <p:spPr>
          <a:xfrm>
            <a:off x="2247354" y="4846320"/>
            <a:ext cx="3891686" cy="0"/>
          </a:xfrm>
          <a:prstGeom prst="line">
            <a:avLst/>
          </a:prstGeom>
          <a:ln w="38100">
            <a:solidFill>
              <a:srgbClr val="6C3FB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247354" y="4892040"/>
            <a:ext cx="3891686" cy="261610"/>
          </a:xfrm>
          <a:prstGeom prst="rect">
            <a:avLst/>
          </a:prstGeom>
          <a:solidFill>
            <a:srgbClr val="FFFFFF"/>
          </a:solidFill>
        </p:spPr>
        <p:txBody>
          <a:bodyPr wrap="square">
            <a:spAutoFit/>
          </a:bodyPr>
          <a:lstStyle/>
          <a:p>
            <a:pPr algn="ctr"/>
            <a:r>
              <a:rPr sz="1100">
                <a:solidFill>
                  <a:srgbClr val="6C3FB5"/>
                </a:solidFill>
              </a:rPr>
              <a:t>Subphase 1: redo from SLOG (non-versioned ops only)</a:t>
            </a:r>
          </a:p>
        </p:txBody>
      </p:sp>
      <p:cxnSp>
        <p:nvCxnSpPr>
          <p:cNvPr id="30" name="Connector 29"/>
          <p:cNvCxnSpPr/>
          <p:nvPr/>
        </p:nvCxnSpPr>
        <p:spPr>
          <a:xfrm>
            <a:off x="6139040" y="4846320"/>
            <a:ext cx="2432304" cy="0"/>
          </a:xfrm>
          <a:prstGeom prst="line">
            <a:avLst/>
          </a:prstGeom>
          <a:ln w="38100">
            <a:solidFill>
              <a:srgbClr val="1A7A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39040" y="4892040"/>
            <a:ext cx="2432304" cy="261610"/>
          </a:xfrm>
          <a:prstGeom prst="rect">
            <a:avLst/>
          </a:prstGeom>
          <a:solidFill>
            <a:srgbClr val="FFFFFF"/>
          </a:solidFill>
        </p:spPr>
        <p:txBody>
          <a:bodyPr wrap="square">
            <a:spAutoFit/>
          </a:bodyPr>
          <a:lstStyle/>
          <a:p>
            <a:pPr algn="ctr"/>
            <a:r>
              <a:rPr sz="1100">
                <a:solidFill>
                  <a:srgbClr val="1A7A3C"/>
                </a:solidFill>
              </a:rPr>
              <a:t>Subphase 2: log from checkpoint</a:t>
            </a:r>
          </a:p>
        </p:txBody>
      </p:sp>
      <p:sp>
        <p:nvSpPr>
          <p:cNvPr id="32" name="TextBox 31"/>
          <p:cNvSpPr txBox="1"/>
          <p:nvPr/>
        </p:nvSpPr>
        <p:spPr>
          <a:xfrm>
            <a:off x="275908" y="6172200"/>
            <a:ext cx="11612880" cy="338554"/>
          </a:xfrm>
          <a:prstGeom prst="rect">
            <a:avLst/>
          </a:prstGeom>
          <a:noFill/>
        </p:spPr>
        <p:txBody>
          <a:bodyPr wrap="square">
            <a:spAutoFit/>
          </a:bodyPr>
          <a:lstStyle/>
          <a:p>
            <a:pPr algn="l"/>
            <a:r>
              <a:rPr sz="1600" b="1">
                <a:solidFill>
                  <a:srgbClr val="0072C6"/>
                </a:solidFill>
              </a:rPr>
              <a:t>ADR never re-reads the full log back to the oldest active transaction.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73152"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740" y="0"/>
            <a:ext cx="12115800" cy="1097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5908" y="137160"/>
            <a:ext cx="11521440" cy="523220"/>
          </a:xfrm>
          <a:prstGeom prst="rect">
            <a:avLst/>
          </a:prstGeom>
          <a:noFill/>
        </p:spPr>
        <p:txBody>
          <a:bodyPr wrap="square">
            <a:spAutoFit/>
          </a:bodyPr>
          <a:lstStyle/>
          <a:p>
            <a:pPr algn="l"/>
            <a:r>
              <a:rPr sz="2800" b="1">
                <a:solidFill>
                  <a:srgbClr val="1A1A2E"/>
                </a:solidFill>
              </a:rPr>
              <a:t>Phase 3: Undo — Traditional vs. ADR</a:t>
            </a:r>
          </a:p>
        </p:txBody>
      </p:sp>
      <p:sp>
        <p:nvSpPr>
          <p:cNvPr id="5" name="Rounded Rectangle 4"/>
          <p:cNvSpPr/>
          <p:nvPr/>
        </p:nvSpPr>
        <p:spPr>
          <a:xfrm>
            <a:off x="275908" y="1554480"/>
            <a:ext cx="1371600" cy="822960"/>
          </a:xfrm>
          <a:prstGeom prst="roundRect">
            <a:avLst/>
          </a:prstGeom>
          <a:solidFill>
            <a:srgbClr val="FADBD8"/>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A1A2E"/>
                </a:solidFill>
              </a:rPr>
              <a:t>Traditional</a:t>
            </a:r>
          </a:p>
          <a:p>
            <a:pPr algn="ctr"/>
            <a:r>
              <a:rPr sz="1500" b="1">
                <a:solidFill>
                  <a:srgbClr val="1A1A2E"/>
                </a:solidFill>
              </a:rPr>
              <a:t>(ARIES)</a:t>
            </a:r>
          </a:p>
        </p:txBody>
      </p:sp>
      <p:cxnSp>
        <p:nvCxnSpPr>
          <p:cNvPr id="6" name="Connector 5"/>
          <p:cNvCxnSpPr/>
          <p:nvPr/>
        </p:nvCxnSpPr>
        <p:spPr>
          <a:xfrm>
            <a:off x="2247354"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515834" y="1234440"/>
            <a:ext cx="1463040" cy="261610"/>
          </a:xfrm>
          <a:prstGeom prst="rect">
            <a:avLst/>
          </a:prstGeom>
          <a:noFill/>
        </p:spPr>
        <p:txBody>
          <a:bodyPr wrap="square">
            <a:spAutoFit/>
          </a:bodyPr>
          <a:lstStyle/>
          <a:p>
            <a:pPr algn="ctr"/>
            <a:r>
              <a:rPr sz="1100" b="1">
                <a:solidFill>
                  <a:srgbClr val="808080"/>
                </a:solidFill>
              </a:rPr>
              <a:t>T1 starts</a:t>
            </a:r>
          </a:p>
        </p:txBody>
      </p:sp>
      <p:cxnSp>
        <p:nvCxnSpPr>
          <p:cNvPr id="8" name="Connector 7"/>
          <p:cNvCxnSpPr/>
          <p:nvPr/>
        </p:nvCxnSpPr>
        <p:spPr>
          <a:xfrm>
            <a:off x="6139040"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07520" y="1234440"/>
            <a:ext cx="1463040" cy="261610"/>
          </a:xfrm>
          <a:prstGeom prst="rect">
            <a:avLst/>
          </a:prstGeom>
          <a:noFill/>
        </p:spPr>
        <p:txBody>
          <a:bodyPr wrap="square">
            <a:spAutoFit/>
          </a:bodyPr>
          <a:lstStyle/>
          <a:p>
            <a:pPr algn="ctr"/>
            <a:r>
              <a:rPr sz="1100" b="1">
                <a:solidFill>
                  <a:srgbClr val="808080"/>
                </a:solidFill>
              </a:rPr>
              <a:t>Last checkpoint</a:t>
            </a:r>
          </a:p>
        </p:txBody>
      </p:sp>
      <p:cxnSp>
        <p:nvCxnSpPr>
          <p:cNvPr id="10" name="Connector 9"/>
          <p:cNvCxnSpPr/>
          <p:nvPr/>
        </p:nvCxnSpPr>
        <p:spPr>
          <a:xfrm>
            <a:off x="8571344" y="152704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839824" y="1234440"/>
            <a:ext cx="1463040" cy="261610"/>
          </a:xfrm>
          <a:prstGeom prst="rect">
            <a:avLst/>
          </a:prstGeom>
          <a:noFill/>
        </p:spPr>
        <p:txBody>
          <a:bodyPr wrap="square">
            <a:spAutoFit/>
          </a:bodyPr>
          <a:lstStyle/>
          <a:p>
            <a:pPr algn="ctr"/>
            <a:r>
              <a:rPr sz="1100" b="1">
                <a:solidFill>
                  <a:srgbClr val="808080"/>
                </a:solidFill>
              </a:rPr>
              <a:t>Crash</a:t>
            </a:r>
          </a:p>
        </p:txBody>
      </p:sp>
      <p:sp>
        <p:nvSpPr>
          <p:cNvPr id="12" name="Rounded Rectangle 11"/>
          <p:cNvSpPr/>
          <p:nvPr/>
        </p:nvSpPr>
        <p:spPr>
          <a:xfrm>
            <a:off x="1830388" y="1554480"/>
            <a:ext cx="6949440" cy="292608"/>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a:solidFill>
                  <a:srgbClr val="1A1A2E"/>
                </a:solidFill>
              </a:rPr>
              <a:t>Transaction log  →</a:t>
            </a:r>
          </a:p>
        </p:txBody>
      </p:sp>
      <p:sp>
        <p:nvSpPr>
          <p:cNvPr id="13" name="Rounded Rectangle 12"/>
          <p:cNvSpPr/>
          <p:nvPr/>
        </p:nvSpPr>
        <p:spPr>
          <a:xfrm>
            <a:off x="2247354" y="1892808"/>
            <a:ext cx="6323990" cy="219456"/>
          </a:xfrm>
          <a:prstGeom prst="roundRect">
            <a:avLst/>
          </a:prstGeom>
          <a:solidFill>
            <a:srgbClr val="F5B041"/>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a:solidFill>
                  <a:srgbClr val="1A1A2E"/>
                </a:solidFill>
              </a:rPr>
              <a:t>T1: long-running, uncommitted at crash</a:t>
            </a:r>
          </a:p>
        </p:txBody>
      </p:sp>
      <p:sp>
        <p:nvSpPr>
          <p:cNvPr id="14" name="Rounded Rectangle 13"/>
          <p:cNvSpPr/>
          <p:nvPr/>
        </p:nvSpPr>
        <p:spPr>
          <a:xfrm>
            <a:off x="9008428" y="1508760"/>
            <a:ext cx="2926080" cy="173736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200">
                <a:solidFill>
                  <a:srgbClr val="1A1A2E"/>
                </a:solidFill>
              </a:rPr>
              <a:t>T1's data stays LOCKED</a:t>
            </a:r>
          </a:p>
          <a:p>
            <a:pPr algn="ctr"/>
            <a:r>
              <a:rPr lang="en-US" sz="1200">
                <a:solidFill>
                  <a:srgbClr val="1A1A2E"/>
                </a:solidFill>
              </a:rPr>
              <a:t>until undo finishes</a:t>
            </a:r>
          </a:p>
          <a:p>
            <a:pPr algn="ctr"/>
            <a:r>
              <a:rPr lang="en-US" sz="1200">
                <a:solidFill>
                  <a:srgbClr val="1A1A2E"/>
                </a:solidFill>
              </a:rPr>
              <a:t>(Standard: whole DB waits)</a:t>
            </a:r>
          </a:p>
          <a:p>
            <a:pPr algn="ctr"/>
            <a:endParaRPr lang="en-US" sz="1200">
              <a:solidFill>
                <a:srgbClr val="1A1A2E"/>
              </a:solidFill>
            </a:endParaRPr>
          </a:p>
          <a:p>
            <a:pPr algn="ctr"/>
            <a:r>
              <a:rPr lang="en-US" sz="1200">
                <a:solidFill>
                  <a:srgbClr val="1A1A2E"/>
                </a:solidFill>
              </a:rPr>
              <a:t>Undo time ∝ size of T1</a:t>
            </a:r>
            <a:endParaRPr sz="1200">
              <a:solidFill>
                <a:srgbClr val="1A1A2E"/>
              </a:solidFill>
            </a:endParaRPr>
          </a:p>
        </p:txBody>
      </p:sp>
      <p:cxnSp>
        <p:nvCxnSpPr>
          <p:cNvPr id="15" name="Connector 14"/>
          <p:cNvCxnSpPr/>
          <p:nvPr/>
        </p:nvCxnSpPr>
        <p:spPr>
          <a:xfrm flipH="1">
            <a:off x="2247354" y="2377440"/>
            <a:ext cx="6323990" cy="0"/>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247354" y="2423160"/>
            <a:ext cx="6323990" cy="261610"/>
          </a:xfrm>
          <a:prstGeom prst="rect">
            <a:avLst/>
          </a:prstGeom>
          <a:solidFill>
            <a:srgbClr val="FFFFFF"/>
          </a:solidFill>
        </p:spPr>
        <p:txBody>
          <a:bodyPr wrap="square">
            <a:spAutoFit/>
          </a:bodyPr>
          <a:lstStyle/>
          <a:p>
            <a:pPr algn="ctr"/>
            <a:r>
              <a:rPr sz="1100">
                <a:solidFill>
                  <a:srgbClr val="C0392B"/>
                </a:solidFill>
              </a:rPr>
              <a:t>Walk the log BACKWARD and undo every operation of T1</a:t>
            </a:r>
          </a:p>
        </p:txBody>
      </p:sp>
      <p:cxnSp>
        <p:nvCxnSpPr>
          <p:cNvPr id="17" name="Connector 16"/>
          <p:cNvCxnSpPr/>
          <p:nvPr/>
        </p:nvCxnSpPr>
        <p:spPr>
          <a:xfrm>
            <a:off x="275908" y="3520440"/>
            <a:ext cx="11612880"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5908" y="4023360"/>
            <a:ext cx="1371600" cy="822960"/>
          </a:xfrm>
          <a:prstGeom prst="round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A1A2E"/>
                </a:solidFill>
              </a:rPr>
              <a:t>ADR</a:t>
            </a:r>
          </a:p>
        </p:txBody>
      </p:sp>
      <p:cxnSp>
        <p:nvCxnSpPr>
          <p:cNvPr id="19" name="Connector 18"/>
          <p:cNvCxnSpPr/>
          <p:nvPr/>
        </p:nvCxnSpPr>
        <p:spPr>
          <a:xfrm>
            <a:off x="2247354"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15834" y="3703320"/>
            <a:ext cx="1463040" cy="261610"/>
          </a:xfrm>
          <a:prstGeom prst="rect">
            <a:avLst/>
          </a:prstGeom>
          <a:noFill/>
        </p:spPr>
        <p:txBody>
          <a:bodyPr wrap="square">
            <a:spAutoFit/>
          </a:bodyPr>
          <a:lstStyle/>
          <a:p>
            <a:pPr algn="ctr"/>
            <a:r>
              <a:rPr sz="1100" b="1">
                <a:solidFill>
                  <a:srgbClr val="808080"/>
                </a:solidFill>
              </a:rPr>
              <a:t>T1 starts</a:t>
            </a:r>
          </a:p>
        </p:txBody>
      </p:sp>
      <p:cxnSp>
        <p:nvCxnSpPr>
          <p:cNvPr id="21" name="Connector 20"/>
          <p:cNvCxnSpPr/>
          <p:nvPr/>
        </p:nvCxnSpPr>
        <p:spPr>
          <a:xfrm>
            <a:off x="6139040"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07520" y="3703320"/>
            <a:ext cx="1463040" cy="261610"/>
          </a:xfrm>
          <a:prstGeom prst="rect">
            <a:avLst/>
          </a:prstGeom>
          <a:noFill/>
        </p:spPr>
        <p:txBody>
          <a:bodyPr wrap="square">
            <a:spAutoFit/>
          </a:bodyPr>
          <a:lstStyle/>
          <a:p>
            <a:pPr algn="ctr"/>
            <a:r>
              <a:rPr sz="1100" b="1">
                <a:solidFill>
                  <a:srgbClr val="808080"/>
                </a:solidFill>
              </a:rPr>
              <a:t>Last checkpoint</a:t>
            </a:r>
          </a:p>
        </p:txBody>
      </p:sp>
      <p:cxnSp>
        <p:nvCxnSpPr>
          <p:cNvPr id="23" name="Connector 22"/>
          <p:cNvCxnSpPr/>
          <p:nvPr/>
        </p:nvCxnSpPr>
        <p:spPr>
          <a:xfrm>
            <a:off x="8571344" y="3995928"/>
            <a:ext cx="0" cy="1810512"/>
          </a:xfrm>
          <a:prstGeom prst="line">
            <a:avLst/>
          </a:prstGeom>
          <a:ln w="12700">
            <a:solidFill>
              <a:srgbClr val="80808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824" y="3703320"/>
            <a:ext cx="1463040" cy="261610"/>
          </a:xfrm>
          <a:prstGeom prst="rect">
            <a:avLst/>
          </a:prstGeom>
          <a:noFill/>
        </p:spPr>
        <p:txBody>
          <a:bodyPr wrap="square">
            <a:spAutoFit/>
          </a:bodyPr>
          <a:lstStyle/>
          <a:p>
            <a:pPr algn="ctr"/>
            <a:r>
              <a:rPr sz="1100" b="1">
                <a:solidFill>
                  <a:srgbClr val="808080"/>
                </a:solidFill>
              </a:rPr>
              <a:t>Crash</a:t>
            </a:r>
          </a:p>
        </p:txBody>
      </p:sp>
      <p:sp>
        <p:nvSpPr>
          <p:cNvPr id="25" name="Rounded Rectangle 24"/>
          <p:cNvSpPr/>
          <p:nvPr/>
        </p:nvSpPr>
        <p:spPr>
          <a:xfrm>
            <a:off x="1830388" y="4023360"/>
            <a:ext cx="6949440" cy="292608"/>
          </a:xfrm>
          <a:prstGeom prst="round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a:solidFill>
                  <a:srgbClr val="1A1A2E"/>
                </a:solidFill>
              </a:rPr>
              <a:t>Transaction log  →</a:t>
            </a:r>
          </a:p>
        </p:txBody>
      </p:sp>
      <p:sp>
        <p:nvSpPr>
          <p:cNvPr id="26" name="Rounded Rectangle 25"/>
          <p:cNvSpPr/>
          <p:nvPr/>
        </p:nvSpPr>
        <p:spPr>
          <a:xfrm>
            <a:off x="2247354" y="4361688"/>
            <a:ext cx="6323990" cy="219456"/>
          </a:xfrm>
          <a:prstGeom prst="roundRect">
            <a:avLst/>
          </a:prstGeom>
          <a:solidFill>
            <a:srgbClr val="F5B041"/>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a:solidFill>
                  <a:srgbClr val="1A1A2E"/>
                </a:solidFill>
              </a:rPr>
              <a:t>T1: long-running, uncommitted at crash</a:t>
            </a:r>
          </a:p>
        </p:txBody>
      </p:sp>
      <p:sp>
        <p:nvSpPr>
          <p:cNvPr id="27" name="Rounded Rectangle 26"/>
          <p:cNvSpPr/>
          <p:nvPr/>
        </p:nvSpPr>
        <p:spPr>
          <a:xfrm>
            <a:off x="9008428" y="3977640"/>
            <a:ext cx="2926080" cy="173736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a:solidFill>
                  <a:srgbClr val="1A1A2E"/>
                </a:solidFill>
              </a:rPr>
              <a:t>Database ONLINE immediately</a:t>
            </a:r>
          </a:p>
          <a:p>
            <a:pPr algn="ctr"/>
            <a:endParaRPr sz="1200">
              <a:solidFill>
                <a:srgbClr val="1A1A2E"/>
              </a:solidFill>
            </a:endParaRPr>
          </a:p>
          <a:p>
            <a:pPr algn="ctr"/>
            <a:r>
              <a:rPr sz="1200">
                <a:solidFill>
                  <a:srgbClr val="1A1A2E"/>
                </a:solidFill>
              </a:rPr>
              <a:t>T1's row versions in PVS are</a:t>
            </a:r>
          </a:p>
          <a:p>
            <a:pPr algn="ctr"/>
            <a:r>
              <a:rPr sz="1200">
                <a:solidFill>
                  <a:srgbClr val="1A1A2E"/>
                </a:solidFill>
              </a:rPr>
              <a:t>ignored by readers; logical</a:t>
            </a:r>
          </a:p>
          <a:p>
            <a:pPr algn="ctr"/>
            <a:r>
              <a:rPr sz="1200">
                <a:solidFill>
                  <a:srgbClr val="1A1A2E"/>
                </a:solidFill>
              </a:rPr>
              <a:t>revert runs in background</a:t>
            </a:r>
          </a:p>
        </p:txBody>
      </p:sp>
      <p:sp>
        <p:nvSpPr>
          <p:cNvPr id="28" name="Rounded Rectangle 27"/>
          <p:cNvSpPr/>
          <p:nvPr/>
        </p:nvSpPr>
        <p:spPr>
          <a:xfrm>
            <a:off x="6193904" y="4709160"/>
            <a:ext cx="2377440" cy="411480"/>
          </a:xfrm>
          <a:prstGeom prst="roundRect">
            <a:avLst/>
          </a:prstGeom>
          <a:solidFill>
            <a:srgbClr val="D6FFD6"/>
          </a:solidFill>
          <a:ln w="15875">
            <a:solidFill>
              <a:srgbClr val="1A7A3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A1A2E"/>
                </a:solidFill>
              </a:rPr>
              <a:t>1. Mark T1 ABORTED (instant)</a:t>
            </a:r>
          </a:p>
        </p:txBody>
      </p:sp>
      <p:sp>
        <p:nvSpPr>
          <p:cNvPr id="29" name="Rounded Rectangle 28"/>
          <p:cNvSpPr/>
          <p:nvPr/>
        </p:nvSpPr>
        <p:spPr>
          <a:xfrm>
            <a:off x="6193904" y="5257800"/>
            <a:ext cx="2377440" cy="411480"/>
          </a:xfrm>
          <a:prstGeom prst="roundRect">
            <a:avLst/>
          </a:prstGeom>
          <a:solidFill>
            <a:srgbClr val="E0D6FF"/>
          </a:solidFill>
          <a:ln w="15875">
            <a:solidFill>
              <a:srgbClr val="6C3F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A1A2E"/>
                </a:solidFill>
              </a:rPr>
              <a:t>2. Undo non-versioned ops via SLOG</a:t>
            </a:r>
          </a:p>
        </p:txBody>
      </p:sp>
      <p:sp>
        <p:nvSpPr>
          <p:cNvPr id="30" name="TextBox 29"/>
          <p:cNvSpPr txBox="1"/>
          <p:nvPr/>
        </p:nvSpPr>
        <p:spPr>
          <a:xfrm>
            <a:off x="2247354" y="4937760"/>
            <a:ext cx="3474720" cy="292388"/>
          </a:xfrm>
          <a:prstGeom prst="rect">
            <a:avLst/>
          </a:prstGeom>
          <a:noFill/>
        </p:spPr>
        <p:txBody>
          <a:bodyPr wrap="square">
            <a:spAutoFit/>
          </a:bodyPr>
          <a:lstStyle/>
          <a:p>
            <a:pPr algn="l"/>
            <a:r>
              <a:rPr sz="1300" i="1">
                <a:solidFill>
                  <a:srgbClr val="808080"/>
                </a:solidFill>
              </a:rPr>
              <a:t>No backward scan of T1's log records</a:t>
            </a:r>
          </a:p>
        </p:txBody>
      </p:sp>
      <p:sp>
        <p:nvSpPr>
          <p:cNvPr id="31" name="TextBox 30"/>
          <p:cNvSpPr txBox="1"/>
          <p:nvPr/>
        </p:nvSpPr>
        <p:spPr>
          <a:xfrm>
            <a:off x="275908" y="6172200"/>
            <a:ext cx="11612880" cy="338554"/>
          </a:xfrm>
          <a:prstGeom prst="rect">
            <a:avLst/>
          </a:prstGeom>
          <a:noFill/>
        </p:spPr>
        <p:txBody>
          <a:bodyPr wrap="square">
            <a:spAutoFit/>
          </a:bodyPr>
          <a:lstStyle/>
          <a:p>
            <a:pPr algn="l"/>
            <a:r>
              <a:rPr sz="1600" b="1">
                <a:solidFill>
                  <a:srgbClr val="1A7A3C"/>
                </a:solidFill>
              </a:rPr>
              <a:t>Near-instant: the database comes online without physically rolling T1 back first.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73152"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740" y="0"/>
            <a:ext cx="12115800" cy="1097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5908" y="137160"/>
            <a:ext cx="11521440" cy="523220"/>
          </a:xfrm>
          <a:prstGeom prst="rect">
            <a:avLst/>
          </a:prstGeom>
          <a:noFill/>
        </p:spPr>
        <p:txBody>
          <a:bodyPr wrap="square">
            <a:spAutoFit/>
          </a:bodyPr>
          <a:lstStyle/>
          <a:p>
            <a:pPr algn="l"/>
            <a:r>
              <a:rPr sz="2800" b="1">
                <a:solidFill>
                  <a:srgbClr val="1A1A2E"/>
                </a:solidFill>
              </a:rPr>
              <a:t>After Recovery: Background Cleanup</a:t>
            </a:r>
          </a:p>
        </p:txBody>
      </p:sp>
      <p:sp>
        <p:nvSpPr>
          <p:cNvPr id="5" name="Rounded Rectangle 4"/>
          <p:cNvSpPr/>
          <p:nvPr/>
        </p:nvSpPr>
        <p:spPr>
          <a:xfrm>
            <a:off x="458788" y="1554480"/>
            <a:ext cx="2468880" cy="1005840"/>
          </a:xfrm>
          <a:prstGeom prst="roundRect">
            <a:avLst/>
          </a:prstGeom>
          <a:solidFill>
            <a:srgbClr val="D6FFD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a:solidFill>
                  <a:srgbClr val="1A1A2E"/>
                </a:solidFill>
              </a:rPr>
              <a:t>Database online</a:t>
            </a:r>
          </a:p>
        </p:txBody>
      </p:sp>
      <p:sp>
        <p:nvSpPr>
          <p:cNvPr id="6" name="Rounded Rectangle 5"/>
          <p:cNvSpPr/>
          <p:nvPr/>
        </p:nvSpPr>
        <p:spPr>
          <a:xfrm>
            <a:off x="458788" y="2834640"/>
            <a:ext cx="2468880" cy="292608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a:solidFill>
                  <a:srgbClr val="1A1A2E"/>
                </a:solidFill>
              </a:rPr>
              <a:t>Undo phase finished</a:t>
            </a:r>
          </a:p>
          <a:p>
            <a:pPr algn="ctr"/>
            <a:endParaRPr sz="1300">
              <a:solidFill>
                <a:srgbClr val="1A1A2E"/>
              </a:solidFill>
            </a:endParaRPr>
          </a:p>
          <a:p>
            <a:pPr algn="ctr"/>
            <a:r>
              <a:rPr sz="1300">
                <a:solidFill>
                  <a:srgbClr val="1A1A2E"/>
                </a:solidFill>
              </a:rPr>
              <a:t>No waiting on T1's size</a:t>
            </a:r>
          </a:p>
          <a:p>
            <a:pPr algn="ctr"/>
            <a:endParaRPr sz="1300">
              <a:solidFill>
                <a:srgbClr val="1A1A2E"/>
              </a:solidFill>
            </a:endParaRPr>
          </a:p>
          <a:p>
            <a:pPr algn="ctr"/>
            <a:r>
              <a:rPr sz="1300">
                <a:solidFill>
                  <a:srgbClr val="1A1A2E"/>
                </a:solidFill>
              </a:rPr>
              <a:t>Queries skip aborted versions</a:t>
            </a:r>
          </a:p>
        </p:txBody>
      </p:sp>
      <p:cxnSp>
        <p:nvCxnSpPr>
          <p:cNvPr id="7" name="Connector 6"/>
          <p:cNvCxnSpPr/>
          <p:nvPr/>
        </p:nvCxnSpPr>
        <p:spPr>
          <a:xfrm>
            <a:off x="2973388" y="2057400"/>
            <a:ext cx="365760" cy="0"/>
          </a:xfrm>
          <a:prstGeom prst="line">
            <a:avLst/>
          </a:prstGeom>
          <a:ln w="38100">
            <a:solidFill>
              <a:srgbClr val="0072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84868" y="1554480"/>
            <a:ext cx="2468880" cy="1005840"/>
          </a:xfrm>
          <a:prstGeom prst="roundRect">
            <a:avLst/>
          </a:prstGeom>
          <a:solidFill>
            <a:srgbClr val="FFD6D6"/>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a:solidFill>
                  <a:srgbClr val="1A1A2E"/>
                </a:solidFill>
              </a:rPr>
              <a:t>Logical revert</a:t>
            </a:r>
          </a:p>
        </p:txBody>
      </p:sp>
      <p:sp>
        <p:nvSpPr>
          <p:cNvPr id="9" name="Rounded Rectangle 8"/>
          <p:cNvSpPr/>
          <p:nvPr/>
        </p:nvSpPr>
        <p:spPr>
          <a:xfrm>
            <a:off x="3384868" y="2834640"/>
            <a:ext cx="2468880" cy="292608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a:solidFill>
                  <a:srgbClr val="1A1A2E"/>
                </a:solidFill>
              </a:rPr>
              <a:t>Async, after online</a:t>
            </a:r>
          </a:p>
          <a:p>
            <a:pPr algn="ctr"/>
            <a:endParaRPr sz="1300">
              <a:solidFill>
                <a:srgbClr val="1A1A2E"/>
              </a:solidFill>
            </a:endParaRPr>
          </a:p>
          <a:p>
            <a:pPr algn="ctr"/>
            <a:r>
              <a:rPr sz="1300">
                <a:solidFill>
                  <a:srgbClr val="1A1A2E"/>
                </a:solidFill>
              </a:rPr>
              <a:t>Row-level undo using PVS:</a:t>
            </a:r>
          </a:p>
          <a:p>
            <a:pPr algn="ctr"/>
            <a:r>
              <a:rPr sz="1300">
                <a:solidFill>
                  <a:srgbClr val="1A1A2E"/>
                </a:solidFill>
              </a:rPr>
              <a:t>restores last committed version</a:t>
            </a:r>
          </a:p>
          <a:p>
            <a:pPr algn="ctr"/>
            <a:endParaRPr sz="1300">
              <a:solidFill>
                <a:srgbClr val="1A1A2E"/>
              </a:solidFill>
            </a:endParaRPr>
          </a:p>
          <a:p>
            <a:pPr algn="ctr"/>
            <a:r>
              <a:rPr sz="1300">
                <a:solidFill>
                  <a:srgbClr val="1A1A2E"/>
                </a:solidFill>
              </a:rPr>
              <a:t>Locks already released</a:t>
            </a:r>
          </a:p>
        </p:txBody>
      </p:sp>
      <p:cxnSp>
        <p:nvCxnSpPr>
          <p:cNvPr id="10" name="Connector 9"/>
          <p:cNvCxnSpPr/>
          <p:nvPr/>
        </p:nvCxnSpPr>
        <p:spPr>
          <a:xfrm>
            <a:off x="5899468" y="2057400"/>
            <a:ext cx="365760" cy="0"/>
          </a:xfrm>
          <a:prstGeom prst="line">
            <a:avLst/>
          </a:prstGeom>
          <a:ln w="38100">
            <a:solidFill>
              <a:srgbClr val="0072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310948" y="1554480"/>
            <a:ext cx="2468880" cy="1005840"/>
          </a:xfrm>
          <a:prstGeom prst="roundRect">
            <a:avLst/>
          </a:prstGeom>
          <a:solidFill>
            <a:srgbClr val="E0D6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a:solidFill>
                  <a:srgbClr val="1A1A2E"/>
                </a:solidFill>
              </a:rPr>
              <a:t>PVS cleaner</a:t>
            </a:r>
          </a:p>
        </p:txBody>
      </p:sp>
      <p:sp>
        <p:nvSpPr>
          <p:cNvPr id="12" name="Rounded Rectangle 11"/>
          <p:cNvSpPr/>
          <p:nvPr/>
        </p:nvSpPr>
        <p:spPr>
          <a:xfrm>
            <a:off x="6310948" y="2834640"/>
            <a:ext cx="2468880" cy="292608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a:solidFill>
                  <a:srgbClr val="1A1A2E"/>
                </a:solidFill>
              </a:rPr>
              <a:t>Async, periodic</a:t>
            </a:r>
          </a:p>
          <a:p>
            <a:pPr algn="ctr"/>
            <a:endParaRPr sz="1300">
              <a:solidFill>
                <a:srgbClr val="1A1A2E"/>
              </a:solidFill>
            </a:endParaRPr>
          </a:p>
          <a:p>
            <a:pPr algn="ctr"/>
            <a:r>
              <a:rPr sz="1300">
                <a:solidFill>
                  <a:srgbClr val="1A1A2E"/>
                </a:solidFill>
              </a:rPr>
              <a:t>Removes aborted / obsolete</a:t>
            </a:r>
          </a:p>
          <a:p>
            <a:pPr algn="ctr"/>
            <a:r>
              <a:rPr sz="1300">
                <a:solidFill>
                  <a:srgbClr val="1A1A2E"/>
                </a:solidFill>
              </a:rPr>
              <a:t>row versions from PVS</a:t>
            </a:r>
          </a:p>
          <a:p>
            <a:pPr algn="ctr"/>
            <a:endParaRPr sz="1300">
              <a:solidFill>
                <a:srgbClr val="1A1A2E"/>
              </a:solidFill>
            </a:endParaRPr>
          </a:p>
          <a:p>
            <a:pPr algn="ctr"/>
            <a:r>
              <a:rPr sz="1300">
                <a:solidFill>
                  <a:srgbClr val="1A1A2E"/>
                </a:solidFill>
              </a:rPr>
              <a:t>SQL 2022+: multi-threaded</a:t>
            </a:r>
          </a:p>
        </p:txBody>
      </p:sp>
      <p:cxnSp>
        <p:nvCxnSpPr>
          <p:cNvPr id="13" name="Connector 12"/>
          <p:cNvCxnSpPr/>
          <p:nvPr/>
        </p:nvCxnSpPr>
        <p:spPr>
          <a:xfrm>
            <a:off x="8825548" y="2057400"/>
            <a:ext cx="365760" cy="0"/>
          </a:xfrm>
          <a:prstGeom prst="line">
            <a:avLst/>
          </a:prstGeom>
          <a:ln w="38100">
            <a:solidFill>
              <a:srgbClr val="0072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237028" y="1554480"/>
            <a:ext cx="2468880" cy="1005840"/>
          </a:xfrm>
          <a:prstGeom prst="roundRect">
            <a:avLst/>
          </a:prstGeom>
          <a:solidFill>
            <a:srgbClr val="CDE4FF"/>
          </a:solidFill>
          <a:ln>
            <a:no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b="1">
                <a:solidFill>
                  <a:srgbClr val="1A1A2E"/>
                </a:solidFill>
              </a:rPr>
              <a:t>Log truncation</a:t>
            </a:r>
          </a:p>
        </p:txBody>
      </p:sp>
      <p:sp>
        <p:nvSpPr>
          <p:cNvPr id="15" name="Rounded Rectangle 14"/>
          <p:cNvSpPr/>
          <p:nvPr/>
        </p:nvSpPr>
        <p:spPr>
          <a:xfrm>
            <a:off x="9237028" y="2834640"/>
            <a:ext cx="2468880" cy="2926080"/>
          </a:xfrm>
          <a:prstGeom prst="roundRect">
            <a:avLst/>
          </a:prstGeom>
          <a:solidFill>
            <a:srgbClr val="F7F7F7"/>
          </a:solidFill>
          <a:ln w="15875">
            <a:solidFill>
              <a:srgbClr val="E6E6E6"/>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a:solidFill>
                  <a:srgbClr val="1A1A2E"/>
                </a:solidFill>
              </a:rPr>
              <a:t>Long transactions no longer</a:t>
            </a:r>
          </a:p>
          <a:p>
            <a:pPr algn="ctr"/>
            <a:r>
              <a:rPr sz="1300">
                <a:solidFill>
                  <a:srgbClr val="1A1A2E"/>
                </a:solidFill>
              </a:rPr>
              <a:t>hold the log</a:t>
            </a:r>
          </a:p>
          <a:p>
            <a:pPr algn="ctr"/>
            <a:endParaRPr sz="1300">
              <a:solidFill>
                <a:srgbClr val="1A1A2E"/>
              </a:solidFill>
            </a:endParaRPr>
          </a:p>
          <a:p>
            <a:pPr algn="ctr"/>
            <a:r>
              <a:rPr sz="1300">
                <a:solidFill>
                  <a:srgbClr val="1A1A2E"/>
                </a:solidFill>
              </a:rPr>
              <a:t>(except with replication / CDC)</a:t>
            </a:r>
          </a:p>
        </p:txBody>
      </p:sp>
      <p:sp>
        <p:nvSpPr>
          <p:cNvPr id="16" name="TextBox 15"/>
          <p:cNvSpPr txBox="1"/>
          <p:nvPr/>
        </p:nvSpPr>
        <p:spPr>
          <a:xfrm>
            <a:off x="275908" y="6172200"/>
            <a:ext cx="11612880" cy="338554"/>
          </a:xfrm>
          <a:prstGeom prst="rect">
            <a:avLst/>
          </a:prstGeom>
          <a:noFill/>
        </p:spPr>
        <p:txBody>
          <a:bodyPr wrap="square">
            <a:spAutoFit/>
          </a:bodyPr>
          <a:lstStyle/>
          <a:p>
            <a:pPr algn="l"/>
            <a:r>
              <a:rPr sz="1600" b="1">
                <a:solidFill>
                  <a:srgbClr val="1A7A3C"/>
                </a:solidFill>
              </a:rPr>
              <a:t>Expensive cleanup moves off the critical path — the database is already online.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6777-C8D6-FD20-F742-47FE67475199}"/>
              </a:ext>
            </a:extLst>
          </p:cNvPr>
          <p:cNvSpPr>
            <a:spLocks noGrp="1"/>
          </p:cNvSpPr>
          <p:nvPr>
            <p:ph type="title"/>
          </p:nvPr>
        </p:nvSpPr>
        <p:spPr/>
        <p:txBody>
          <a:bodyPr/>
          <a:lstStyle/>
          <a:p>
            <a:r>
              <a:rPr lang="en-US" dirty="0"/>
              <a:t>Components of ADR</a:t>
            </a:r>
          </a:p>
        </p:txBody>
      </p:sp>
      <p:graphicFrame>
        <p:nvGraphicFramePr>
          <p:cNvPr id="6" name="Content Placeholder 5">
            <a:extLst>
              <a:ext uri="{FF2B5EF4-FFF2-40B4-BE49-F238E27FC236}">
                <a16:creationId xmlns:a16="http://schemas.microsoft.com/office/drawing/2014/main" id="{9815CBCC-92C4-233E-89B9-0B6F6709ECA1}"/>
              </a:ext>
            </a:extLst>
          </p:cNvPr>
          <p:cNvGraphicFramePr>
            <a:graphicFrameLocks noGrp="1"/>
          </p:cNvGraphicFramePr>
          <p:nvPr>
            <p:ph idx="1"/>
            <p:extLst>
              <p:ext uri="{D42A27DB-BD31-4B8C-83A1-F6EECF244321}">
                <p14:modId xmlns:p14="http://schemas.microsoft.com/office/powerpoint/2010/main" val="1116752000"/>
              </p:ext>
            </p:extLst>
          </p:nvPr>
        </p:nvGraphicFramePr>
        <p:xfrm>
          <a:off x="635000" y="1905000"/>
          <a:ext cx="10922000" cy="4064000"/>
        </p:xfrm>
        <a:graphic>
          <a:graphicData uri="http://schemas.openxmlformats.org/drawingml/2006/table">
            <a:tbl>
              <a:tblPr firstRow="1" bandRow="1">
                <a:tableStyleId>{5C22544A-7EE6-4342-B048-85BDC9FD1C3A}</a:tableStyleId>
              </a:tblPr>
              <a:tblGrid>
                <a:gridCol w="5080000">
                  <a:extLst>
                    <a:ext uri="{9D8B030D-6E8A-4147-A177-3AD203B41FA5}">
                      <a16:colId xmlns:a16="http://schemas.microsoft.com/office/drawing/2014/main" val="3892387426"/>
                    </a:ext>
                  </a:extLst>
                </a:gridCol>
                <a:gridCol w="5842000">
                  <a:extLst>
                    <a:ext uri="{9D8B030D-6E8A-4147-A177-3AD203B41FA5}">
                      <a16:colId xmlns:a16="http://schemas.microsoft.com/office/drawing/2014/main" val="3239997625"/>
                    </a:ext>
                  </a:extLst>
                </a:gridCol>
              </a:tblGrid>
              <a:tr h="812800">
                <a:tc>
                  <a:txBody>
                    <a:bodyPr/>
                    <a:lstStyle/>
                    <a:p>
                      <a:r>
                        <a:rPr lang="en-US" sz="1800" b="1"/>
                        <a:t>Problem in traditional recovery</a:t>
                      </a:r>
                    </a:p>
                  </a:txBody>
                  <a:tcPr/>
                </a:tc>
                <a:tc>
                  <a:txBody>
                    <a:bodyPr/>
                    <a:lstStyle/>
                    <a:p>
                      <a:r>
                        <a:rPr lang="en-US" sz="1800" b="1"/>
                        <a:t>ADR component that solves it</a:t>
                      </a:r>
                    </a:p>
                  </a:txBody>
                  <a:tcPr/>
                </a:tc>
                <a:extLst>
                  <a:ext uri="{0D108BD9-81ED-4DB2-BD59-A6C34878D82A}">
                    <a16:rowId xmlns:a16="http://schemas.microsoft.com/office/drawing/2014/main" val="3571387271"/>
                  </a:ext>
                </a:extLst>
              </a:tr>
              <a:tr h="812800">
                <a:tc>
                  <a:txBody>
                    <a:bodyPr/>
                    <a:lstStyle/>
                    <a:p>
                      <a:r>
                        <a:rPr lang="en-US" sz="1800"/>
                        <a:t>Undo walks the log backward, row by row</a:t>
                      </a:r>
                    </a:p>
                  </a:txBody>
                  <a:tcPr/>
                </a:tc>
                <a:tc>
                  <a:txBody>
                    <a:bodyPr/>
                    <a:lstStyle/>
                    <a:p>
                      <a:r>
                        <a:rPr lang="en-US" sz="1800"/>
                        <a:t>PVS keeps earlier row versions; Logical Revert restores them</a:t>
                      </a:r>
                    </a:p>
                  </a:txBody>
                  <a:tcPr/>
                </a:tc>
                <a:extLst>
                  <a:ext uri="{0D108BD9-81ED-4DB2-BD59-A6C34878D82A}">
                    <a16:rowId xmlns:a16="http://schemas.microsoft.com/office/drawing/2014/main" val="1638046549"/>
                  </a:ext>
                </a:extLst>
              </a:tr>
              <a:tr h="812800">
                <a:tc>
                  <a:txBody>
                    <a:bodyPr/>
                    <a:lstStyle/>
                    <a:p>
                      <a:r>
                        <a:rPr lang="en-US" sz="1800" dirty="0"/>
                        <a:t>Some operations can't be versioned (locks, metadata)</a:t>
                      </a:r>
                    </a:p>
                  </a:txBody>
                  <a:tcPr/>
                </a:tc>
                <a:tc>
                  <a:txBody>
                    <a:bodyPr/>
                    <a:lstStyle/>
                    <a:p>
                      <a:r>
                        <a:rPr lang="en-US" sz="1800"/>
                        <a:t>SLOG - a small, in-memory log just for those</a:t>
                      </a:r>
                    </a:p>
                  </a:txBody>
                  <a:tcPr/>
                </a:tc>
                <a:extLst>
                  <a:ext uri="{0D108BD9-81ED-4DB2-BD59-A6C34878D82A}">
                    <a16:rowId xmlns:a16="http://schemas.microsoft.com/office/drawing/2014/main" val="1613574670"/>
                  </a:ext>
                </a:extLst>
              </a:tr>
              <a:tr h="812800">
                <a:tc>
                  <a:txBody>
                    <a:bodyPr/>
                    <a:lstStyle/>
                    <a:p>
                      <a:r>
                        <a:rPr lang="en-US" sz="1800"/>
                        <a:t>Redo reads back to the oldest open transaction</a:t>
                      </a:r>
                    </a:p>
                  </a:txBody>
                  <a:tcPr/>
                </a:tc>
                <a:tc>
                  <a:txBody>
                    <a:bodyPr/>
                    <a:lstStyle/>
                    <a:p>
                      <a:r>
                        <a:rPr lang="en-US" sz="1800"/>
                        <a:t>SLOG covers that range; the full log is replayed only from the checkpoint</a:t>
                      </a:r>
                    </a:p>
                  </a:txBody>
                  <a:tcPr/>
                </a:tc>
                <a:extLst>
                  <a:ext uri="{0D108BD9-81ED-4DB2-BD59-A6C34878D82A}">
                    <a16:rowId xmlns:a16="http://schemas.microsoft.com/office/drawing/2014/main" val="2441185583"/>
                  </a:ext>
                </a:extLst>
              </a:tr>
              <a:tr h="812800">
                <a:tc>
                  <a:txBody>
                    <a:bodyPr/>
                    <a:lstStyle/>
                    <a:p>
                      <a:r>
                        <a:rPr lang="en-US" sz="1800"/>
                        <a:t>Old row versions pile up</a:t>
                      </a:r>
                    </a:p>
                  </a:txBody>
                  <a:tcPr/>
                </a:tc>
                <a:tc>
                  <a:txBody>
                    <a:bodyPr/>
                    <a:lstStyle/>
                    <a:p>
                      <a:r>
                        <a:rPr lang="en-US" sz="1800" dirty="0"/>
                        <a:t>Cleaner removes them in the background</a:t>
                      </a:r>
                    </a:p>
                  </a:txBody>
                  <a:tcPr/>
                </a:tc>
                <a:extLst>
                  <a:ext uri="{0D108BD9-81ED-4DB2-BD59-A6C34878D82A}">
                    <a16:rowId xmlns:a16="http://schemas.microsoft.com/office/drawing/2014/main" val="3025047583"/>
                  </a:ext>
                </a:extLst>
              </a:tr>
            </a:tbl>
          </a:graphicData>
        </a:graphic>
      </p:graphicFrame>
    </p:spTree>
    <p:extLst>
      <p:ext uri="{BB962C8B-B14F-4D97-AF65-F5344CB8AC3E}">
        <p14:creationId xmlns:p14="http://schemas.microsoft.com/office/powerpoint/2010/main" val="3406396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4C179-AB50-2DFB-C338-2027829D665F}"/>
              </a:ext>
            </a:extLst>
          </p:cNvPr>
          <p:cNvSpPr>
            <a:spLocks noGrp="1"/>
          </p:cNvSpPr>
          <p:nvPr>
            <p:ph type="title"/>
          </p:nvPr>
        </p:nvSpPr>
        <p:spPr/>
        <p:txBody>
          <a:bodyPr/>
          <a:lstStyle/>
          <a:p>
            <a:r>
              <a:rPr lang="en-US"/>
              <a:t>Results from Production and Lab</a:t>
            </a:r>
          </a:p>
        </p:txBody>
      </p:sp>
      <p:sp>
        <p:nvSpPr>
          <p:cNvPr id="4" name="TextBox 3">
            <a:extLst>
              <a:ext uri="{FF2B5EF4-FFF2-40B4-BE49-F238E27FC236}">
                <a16:creationId xmlns:a16="http://schemas.microsoft.com/office/drawing/2014/main" id="{441B3CEB-93CE-DD20-D6D7-C450C777A645}"/>
              </a:ext>
            </a:extLst>
          </p:cNvPr>
          <p:cNvSpPr txBox="1"/>
          <p:nvPr/>
        </p:nvSpPr>
        <p:spPr>
          <a:xfrm>
            <a:off x="508000" y="1752600"/>
            <a:ext cx="5461000" cy="323165"/>
          </a:xfrm>
          <a:prstGeom prst="rect">
            <a:avLst/>
          </a:prstGeom>
          <a:noFill/>
        </p:spPr>
        <p:txBody>
          <a:bodyPr vert="horz" wrap="square" rtlCol="0">
            <a:spAutoFit/>
          </a:bodyPr>
          <a:lstStyle/>
          <a:p>
            <a:r>
              <a:rPr lang="en-US" sz="1500" b="1">
                <a:solidFill>
                  <a:srgbClr val="1A1A2E"/>
                </a:solidFill>
              </a:rPr>
              <a:t>Recovery time - 3M+ Azure SQL databases (May 2019)</a:t>
            </a:r>
          </a:p>
        </p:txBody>
      </p:sp>
      <p:graphicFrame>
        <p:nvGraphicFramePr>
          <p:cNvPr id="5" name="Table 4">
            <a:extLst>
              <a:ext uri="{FF2B5EF4-FFF2-40B4-BE49-F238E27FC236}">
                <a16:creationId xmlns:a16="http://schemas.microsoft.com/office/drawing/2014/main" id="{9CBA2AFB-4839-79AE-7D74-5E871E7ACD8B}"/>
              </a:ext>
            </a:extLst>
          </p:cNvPr>
          <p:cNvGraphicFramePr>
            <a:graphicFrameLocks noGrp="1"/>
          </p:cNvGraphicFramePr>
          <p:nvPr>
            <p:extLst>
              <p:ext uri="{D42A27DB-BD31-4B8C-83A1-F6EECF244321}">
                <p14:modId xmlns:p14="http://schemas.microsoft.com/office/powerpoint/2010/main" val="748471169"/>
              </p:ext>
            </p:extLst>
          </p:nvPr>
        </p:nvGraphicFramePr>
        <p:xfrm>
          <a:off x="508000" y="2133600"/>
          <a:ext cx="5461000" cy="152400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4088931296"/>
                    </a:ext>
                  </a:extLst>
                </a:gridCol>
                <a:gridCol w="1905000">
                  <a:extLst>
                    <a:ext uri="{9D8B030D-6E8A-4147-A177-3AD203B41FA5}">
                      <a16:colId xmlns:a16="http://schemas.microsoft.com/office/drawing/2014/main" val="4238520567"/>
                    </a:ext>
                  </a:extLst>
                </a:gridCol>
                <a:gridCol w="1905000">
                  <a:extLst>
                    <a:ext uri="{9D8B030D-6E8A-4147-A177-3AD203B41FA5}">
                      <a16:colId xmlns:a16="http://schemas.microsoft.com/office/drawing/2014/main" val="3646078211"/>
                    </a:ext>
                  </a:extLst>
                </a:gridCol>
              </a:tblGrid>
              <a:tr h="381000">
                <a:tc>
                  <a:txBody>
                    <a:bodyPr/>
                    <a:lstStyle/>
                    <a:p>
                      <a:r>
                        <a:rPr lang="en-US" sz="1600" b="1"/>
                        <a:t>Percentile</a:t>
                      </a:r>
                    </a:p>
                  </a:txBody>
                  <a:tcPr/>
                </a:tc>
                <a:tc>
                  <a:txBody>
                    <a:bodyPr/>
                    <a:lstStyle/>
                    <a:p>
                      <a:r>
                        <a:rPr lang="en-US" sz="1600" b="1"/>
                        <a:t>Without ADR</a:t>
                      </a:r>
                    </a:p>
                  </a:txBody>
                  <a:tcPr/>
                </a:tc>
                <a:tc>
                  <a:txBody>
                    <a:bodyPr/>
                    <a:lstStyle/>
                    <a:p>
                      <a:r>
                        <a:rPr lang="en-US" sz="1600" b="1"/>
                        <a:t>With ADR</a:t>
                      </a:r>
                    </a:p>
                  </a:txBody>
                  <a:tcPr/>
                </a:tc>
                <a:extLst>
                  <a:ext uri="{0D108BD9-81ED-4DB2-BD59-A6C34878D82A}">
                    <a16:rowId xmlns:a16="http://schemas.microsoft.com/office/drawing/2014/main" val="706917492"/>
                  </a:ext>
                </a:extLst>
              </a:tr>
              <a:tr h="381000">
                <a:tc>
                  <a:txBody>
                    <a:bodyPr/>
                    <a:lstStyle/>
                    <a:p>
                      <a:r>
                        <a:rPr lang="en-US" sz="1600" b="1"/>
                        <a:t>99.9%</a:t>
                      </a:r>
                    </a:p>
                  </a:txBody>
                  <a:tcPr/>
                </a:tc>
                <a:tc>
                  <a:txBody>
                    <a:bodyPr/>
                    <a:lstStyle/>
                    <a:p>
                      <a:r>
                        <a:rPr lang="en-US" sz="1600"/>
                        <a:t>68 sec</a:t>
                      </a:r>
                    </a:p>
                  </a:txBody>
                  <a:tcPr/>
                </a:tc>
                <a:tc>
                  <a:txBody>
                    <a:bodyPr/>
                    <a:lstStyle/>
                    <a:p>
                      <a:r>
                        <a:rPr lang="en-US" sz="1600"/>
                        <a:t>60 sec</a:t>
                      </a:r>
                    </a:p>
                  </a:txBody>
                  <a:tcPr/>
                </a:tc>
                <a:extLst>
                  <a:ext uri="{0D108BD9-81ED-4DB2-BD59-A6C34878D82A}">
                    <a16:rowId xmlns:a16="http://schemas.microsoft.com/office/drawing/2014/main" val="1584443958"/>
                  </a:ext>
                </a:extLst>
              </a:tr>
              <a:tr h="381000">
                <a:tc>
                  <a:txBody>
                    <a:bodyPr/>
                    <a:lstStyle/>
                    <a:p>
                      <a:r>
                        <a:rPr lang="en-US" sz="1600" b="1"/>
                        <a:t>99.99%</a:t>
                      </a:r>
                    </a:p>
                  </a:txBody>
                  <a:tcPr/>
                </a:tc>
                <a:tc>
                  <a:txBody>
                    <a:bodyPr/>
                    <a:lstStyle/>
                    <a:p>
                      <a:r>
                        <a:rPr lang="en-US" sz="1600"/>
                        <a:t>&gt; 10 min</a:t>
                      </a:r>
                    </a:p>
                  </a:txBody>
                  <a:tcPr/>
                </a:tc>
                <a:tc>
                  <a:txBody>
                    <a:bodyPr/>
                    <a:lstStyle/>
                    <a:p>
                      <a:r>
                        <a:rPr lang="en-US" sz="1600"/>
                        <a:t>1.3 min</a:t>
                      </a:r>
                    </a:p>
                  </a:txBody>
                  <a:tcPr/>
                </a:tc>
                <a:extLst>
                  <a:ext uri="{0D108BD9-81ED-4DB2-BD59-A6C34878D82A}">
                    <a16:rowId xmlns:a16="http://schemas.microsoft.com/office/drawing/2014/main" val="1257084661"/>
                  </a:ext>
                </a:extLst>
              </a:tr>
              <a:tr h="381000">
                <a:tc>
                  <a:txBody>
                    <a:bodyPr/>
                    <a:lstStyle/>
                    <a:p>
                      <a:r>
                        <a:rPr lang="en-US" sz="1600" b="1"/>
                        <a:t>99.999%</a:t>
                      </a:r>
                    </a:p>
                  </a:txBody>
                  <a:tcPr/>
                </a:tc>
                <a:tc>
                  <a:txBody>
                    <a:bodyPr/>
                    <a:lstStyle/>
                    <a:p>
                      <a:r>
                        <a:rPr lang="en-US" sz="1600"/>
                        <a:t>&gt; 1 hour</a:t>
                      </a:r>
                    </a:p>
                  </a:txBody>
                  <a:tcPr/>
                </a:tc>
                <a:tc>
                  <a:txBody>
                    <a:bodyPr/>
                    <a:lstStyle/>
                    <a:p>
                      <a:r>
                        <a:rPr lang="en-US" sz="1600"/>
                        <a:t>3 min</a:t>
                      </a:r>
                    </a:p>
                  </a:txBody>
                  <a:tcPr/>
                </a:tc>
                <a:extLst>
                  <a:ext uri="{0D108BD9-81ED-4DB2-BD59-A6C34878D82A}">
                    <a16:rowId xmlns:a16="http://schemas.microsoft.com/office/drawing/2014/main" val="1182805661"/>
                  </a:ext>
                </a:extLst>
              </a:tr>
            </a:tbl>
          </a:graphicData>
        </a:graphic>
      </p:graphicFrame>
      <p:sp>
        <p:nvSpPr>
          <p:cNvPr id="6" name="TextBox 5">
            <a:extLst>
              <a:ext uri="{FF2B5EF4-FFF2-40B4-BE49-F238E27FC236}">
                <a16:creationId xmlns:a16="http://schemas.microsoft.com/office/drawing/2014/main" id="{2FD51A7D-8F88-A24F-B432-CC0D97A4188A}"/>
              </a:ext>
            </a:extLst>
          </p:cNvPr>
          <p:cNvSpPr txBox="1"/>
          <p:nvPr/>
        </p:nvSpPr>
        <p:spPr>
          <a:xfrm>
            <a:off x="6223000" y="1752600"/>
            <a:ext cx="5588000" cy="323165"/>
          </a:xfrm>
          <a:prstGeom prst="rect">
            <a:avLst/>
          </a:prstGeom>
          <a:noFill/>
        </p:spPr>
        <p:txBody>
          <a:bodyPr vert="horz" wrap="square" rtlCol="0">
            <a:spAutoFit/>
          </a:bodyPr>
          <a:lstStyle/>
          <a:p>
            <a:r>
              <a:rPr lang="en-US" sz="1500" b="1">
                <a:solidFill>
                  <a:srgbClr val="1A1A2E"/>
                </a:solidFill>
              </a:rPr>
              <a:t>Lab: one transaction touching 50M rows (200-byte rows)</a:t>
            </a:r>
          </a:p>
        </p:txBody>
      </p:sp>
      <p:graphicFrame>
        <p:nvGraphicFramePr>
          <p:cNvPr id="7" name="Table 6">
            <a:extLst>
              <a:ext uri="{FF2B5EF4-FFF2-40B4-BE49-F238E27FC236}">
                <a16:creationId xmlns:a16="http://schemas.microsoft.com/office/drawing/2014/main" id="{DC18C781-C1F1-632D-95FB-5F1A9664D85D}"/>
              </a:ext>
            </a:extLst>
          </p:cNvPr>
          <p:cNvGraphicFramePr>
            <a:graphicFrameLocks noGrp="1"/>
          </p:cNvGraphicFramePr>
          <p:nvPr>
            <p:extLst>
              <p:ext uri="{D42A27DB-BD31-4B8C-83A1-F6EECF244321}">
                <p14:modId xmlns:p14="http://schemas.microsoft.com/office/powerpoint/2010/main" val="774089949"/>
              </p:ext>
            </p:extLst>
          </p:nvPr>
        </p:nvGraphicFramePr>
        <p:xfrm>
          <a:off x="6223000" y="2133600"/>
          <a:ext cx="5588000" cy="15240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885339918"/>
                    </a:ext>
                  </a:extLst>
                </a:gridCol>
                <a:gridCol w="1460500">
                  <a:extLst>
                    <a:ext uri="{9D8B030D-6E8A-4147-A177-3AD203B41FA5}">
                      <a16:colId xmlns:a16="http://schemas.microsoft.com/office/drawing/2014/main" val="4020559301"/>
                    </a:ext>
                  </a:extLst>
                </a:gridCol>
                <a:gridCol w="1460500">
                  <a:extLst>
                    <a:ext uri="{9D8B030D-6E8A-4147-A177-3AD203B41FA5}">
                      <a16:colId xmlns:a16="http://schemas.microsoft.com/office/drawing/2014/main" val="2850893992"/>
                    </a:ext>
                  </a:extLst>
                </a:gridCol>
                <a:gridCol w="1397000">
                  <a:extLst>
                    <a:ext uri="{9D8B030D-6E8A-4147-A177-3AD203B41FA5}">
                      <a16:colId xmlns:a16="http://schemas.microsoft.com/office/drawing/2014/main" val="1651417082"/>
                    </a:ext>
                  </a:extLst>
                </a:gridCol>
              </a:tblGrid>
              <a:tr h="381000">
                <a:tc>
                  <a:txBody>
                    <a:bodyPr/>
                    <a:lstStyle/>
                    <a:p>
                      <a:r>
                        <a:rPr lang="en-US" sz="1500" b="1"/>
                        <a:t>Operation</a:t>
                      </a:r>
                    </a:p>
                  </a:txBody>
                  <a:tcPr/>
                </a:tc>
                <a:tc>
                  <a:txBody>
                    <a:bodyPr/>
                    <a:lstStyle/>
                    <a:p>
                      <a:r>
                        <a:rPr lang="en-US" sz="1500" b="1"/>
                        <a:t>Log w/o ADR</a:t>
                      </a:r>
                    </a:p>
                  </a:txBody>
                  <a:tcPr/>
                </a:tc>
                <a:tc>
                  <a:txBody>
                    <a:bodyPr/>
                    <a:lstStyle/>
                    <a:p>
                      <a:r>
                        <a:rPr lang="en-US" sz="1500" b="1"/>
                        <a:t>Log with ADR</a:t>
                      </a:r>
                    </a:p>
                  </a:txBody>
                  <a:tcPr/>
                </a:tc>
                <a:tc>
                  <a:txBody>
                    <a:bodyPr/>
                    <a:lstStyle/>
                    <a:p>
                      <a:r>
                        <a:rPr lang="en-US" sz="1500" b="1"/>
                        <a:t>PVS</a:t>
                      </a:r>
                    </a:p>
                  </a:txBody>
                  <a:tcPr/>
                </a:tc>
                <a:extLst>
                  <a:ext uri="{0D108BD9-81ED-4DB2-BD59-A6C34878D82A}">
                    <a16:rowId xmlns:a16="http://schemas.microsoft.com/office/drawing/2014/main" val="3588210229"/>
                  </a:ext>
                </a:extLst>
              </a:tr>
              <a:tr h="381000">
                <a:tc>
                  <a:txBody>
                    <a:bodyPr/>
                    <a:lstStyle/>
                    <a:p>
                      <a:r>
                        <a:rPr lang="en-US" sz="1500" b="1"/>
                        <a:t>Inserts</a:t>
                      </a:r>
                    </a:p>
                  </a:txBody>
                  <a:tcPr/>
                </a:tc>
                <a:tc>
                  <a:txBody>
                    <a:bodyPr/>
                    <a:lstStyle/>
                    <a:p>
                      <a:r>
                        <a:rPr lang="en-US" sz="1500"/>
                        <a:t>25,873 MB</a:t>
                      </a:r>
                    </a:p>
                  </a:txBody>
                  <a:tcPr/>
                </a:tc>
                <a:tc>
                  <a:txBody>
                    <a:bodyPr/>
                    <a:lstStyle/>
                    <a:p>
                      <a:r>
                        <a:rPr lang="en-US" sz="1500"/>
                        <a:t>185 MB</a:t>
                      </a:r>
                    </a:p>
                  </a:txBody>
                  <a:tcPr/>
                </a:tc>
                <a:tc>
                  <a:txBody>
                    <a:bodyPr/>
                    <a:lstStyle/>
                    <a:p>
                      <a:r>
                        <a:rPr lang="en-US" sz="1500"/>
                        <a:t>0 MB</a:t>
                      </a:r>
                    </a:p>
                  </a:txBody>
                  <a:tcPr/>
                </a:tc>
                <a:extLst>
                  <a:ext uri="{0D108BD9-81ED-4DB2-BD59-A6C34878D82A}">
                    <a16:rowId xmlns:a16="http://schemas.microsoft.com/office/drawing/2014/main" val="3828948048"/>
                  </a:ext>
                </a:extLst>
              </a:tr>
              <a:tr h="381000">
                <a:tc>
                  <a:txBody>
                    <a:bodyPr/>
                    <a:lstStyle/>
                    <a:p>
                      <a:r>
                        <a:rPr lang="en-US" sz="1500" b="1"/>
                        <a:t>Updates</a:t>
                      </a:r>
                    </a:p>
                  </a:txBody>
                  <a:tcPr/>
                </a:tc>
                <a:tc>
                  <a:txBody>
                    <a:bodyPr/>
                    <a:lstStyle/>
                    <a:p>
                      <a:r>
                        <a:rPr lang="en-US" sz="1500"/>
                        <a:t>15,680 MB</a:t>
                      </a:r>
                    </a:p>
                  </a:txBody>
                  <a:tcPr/>
                </a:tc>
                <a:tc>
                  <a:txBody>
                    <a:bodyPr/>
                    <a:lstStyle/>
                    <a:p>
                      <a:r>
                        <a:rPr lang="en-US" sz="1500"/>
                        <a:t>78 MB</a:t>
                      </a:r>
                    </a:p>
                  </a:txBody>
                  <a:tcPr/>
                </a:tc>
                <a:tc>
                  <a:txBody>
                    <a:bodyPr/>
                    <a:lstStyle/>
                    <a:p>
                      <a:r>
                        <a:rPr lang="en-US" sz="1500"/>
                        <a:t>908 MB</a:t>
                      </a:r>
                    </a:p>
                  </a:txBody>
                  <a:tcPr/>
                </a:tc>
                <a:extLst>
                  <a:ext uri="{0D108BD9-81ED-4DB2-BD59-A6C34878D82A}">
                    <a16:rowId xmlns:a16="http://schemas.microsoft.com/office/drawing/2014/main" val="1530609112"/>
                  </a:ext>
                </a:extLst>
              </a:tr>
              <a:tr h="381000">
                <a:tc>
                  <a:txBody>
                    <a:bodyPr/>
                    <a:lstStyle/>
                    <a:p>
                      <a:r>
                        <a:rPr lang="en-US" sz="1500" b="1"/>
                        <a:t>Deletes</a:t>
                      </a:r>
                    </a:p>
                  </a:txBody>
                  <a:tcPr/>
                </a:tc>
                <a:tc>
                  <a:txBody>
                    <a:bodyPr/>
                    <a:lstStyle/>
                    <a:p>
                      <a:r>
                        <a:rPr lang="en-US" sz="1500"/>
                        <a:t>38,255 MB</a:t>
                      </a:r>
                    </a:p>
                  </a:txBody>
                  <a:tcPr/>
                </a:tc>
                <a:tc>
                  <a:txBody>
                    <a:bodyPr/>
                    <a:lstStyle/>
                    <a:p>
                      <a:r>
                        <a:rPr lang="en-US" sz="1500"/>
                        <a:t>147 MB</a:t>
                      </a:r>
                    </a:p>
                  </a:txBody>
                  <a:tcPr/>
                </a:tc>
                <a:tc>
                  <a:txBody>
                    <a:bodyPr/>
                    <a:lstStyle/>
                    <a:p>
                      <a:r>
                        <a:rPr lang="en-US" sz="1500"/>
                        <a:t>0 MB</a:t>
                      </a:r>
                    </a:p>
                  </a:txBody>
                  <a:tcPr/>
                </a:tc>
                <a:extLst>
                  <a:ext uri="{0D108BD9-81ED-4DB2-BD59-A6C34878D82A}">
                    <a16:rowId xmlns:a16="http://schemas.microsoft.com/office/drawing/2014/main" val="376669685"/>
                  </a:ext>
                </a:extLst>
              </a:tr>
            </a:tbl>
          </a:graphicData>
        </a:graphic>
      </p:graphicFrame>
      <p:sp>
        <p:nvSpPr>
          <p:cNvPr id="8" name="TextBox 7">
            <a:extLst>
              <a:ext uri="{FF2B5EF4-FFF2-40B4-BE49-F238E27FC236}">
                <a16:creationId xmlns:a16="http://schemas.microsoft.com/office/drawing/2014/main" id="{A6E2B3F7-5523-81A0-2933-D59FE9EDCCE2}"/>
              </a:ext>
            </a:extLst>
          </p:cNvPr>
          <p:cNvSpPr txBox="1"/>
          <p:nvPr/>
        </p:nvSpPr>
        <p:spPr>
          <a:xfrm>
            <a:off x="508000" y="4191000"/>
            <a:ext cx="11303000" cy="1031051"/>
          </a:xfrm>
          <a:prstGeom prst="rect">
            <a:avLst/>
          </a:prstGeom>
          <a:noFill/>
        </p:spPr>
        <p:txBody>
          <a:bodyPr vert="horz" wrap="square" rtlCol="0">
            <a:spAutoFit/>
          </a:bodyPr>
          <a:lstStyle/>
          <a:p>
            <a:pPr marL="342900" indent="-342900">
              <a:spcAft>
                <a:spcPts val="600"/>
              </a:spcAft>
              <a:buFont typeface="+mj-lt"/>
              <a:buChar char="•"/>
            </a:pPr>
            <a:r>
              <a:rPr lang="en-US" sz="1700">
                <a:solidFill>
                  <a:srgbClr val="1A1A2E"/>
                </a:solidFill>
              </a:rPr>
              <a:t>Typical recovery barely changes - ADR eliminates the rare hour-long outliers</a:t>
            </a:r>
          </a:p>
          <a:p>
            <a:pPr marL="342900" indent="-342900">
              <a:spcAft>
                <a:spcPts val="600"/>
              </a:spcAft>
              <a:buFont typeface="+mj-lt"/>
              <a:buChar char="•"/>
            </a:pPr>
            <a:r>
              <a:rPr lang="en-US" sz="1700">
                <a:solidFill>
                  <a:srgbClr val="1A1A2E"/>
                </a:solidFill>
              </a:rPr>
              <a:t>Log stays small and is truncated continuously, even during a 50M-row transaction</a:t>
            </a:r>
          </a:p>
          <a:p>
            <a:pPr marL="342900" indent="-342900">
              <a:spcAft>
                <a:spcPts val="600"/>
              </a:spcAft>
              <a:buFont typeface="+mj-lt"/>
              <a:buChar char="•"/>
            </a:pPr>
            <a:r>
              <a:rPr lang="en-US" sz="1700">
                <a:solidFill>
                  <a:srgbClr val="1A1A2E"/>
                </a:solidFill>
              </a:rPr>
              <a:t>Inserts and deletes add no PVS space; updates store only the diff in-row</a:t>
            </a:r>
          </a:p>
        </p:txBody>
      </p:sp>
      <p:sp>
        <p:nvSpPr>
          <p:cNvPr id="9" name="TextBox 8">
            <a:extLst>
              <a:ext uri="{FF2B5EF4-FFF2-40B4-BE49-F238E27FC236}">
                <a16:creationId xmlns:a16="http://schemas.microsoft.com/office/drawing/2014/main" id="{86D90699-3710-0D76-48F6-C7A028010A77}"/>
              </a:ext>
            </a:extLst>
          </p:cNvPr>
          <p:cNvSpPr txBox="1"/>
          <p:nvPr/>
        </p:nvSpPr>
        <p:spPr>
          <a:xfrm>
            <a:off x="508000" y="6413500"/>
            <a:ext cx="11303000" cy="230832"/>
          </a:xfrm>
          <a:prstGeom prst="rect">
            <a:avLst/>
          </a:prstGeom>
          <a:noFill/>
        </p:spPr>
        <p:txBody>
          <a:bodyPr vert="horz" wrap="square" rtlCol="0">
            <a:spAutoFit/>
          </a:bodyPr>
          <a:lstStyle/>
          <a:p>
            <a:r>
              <a:rPr lang="en-US" sz="900" i="1">
                <a:solidFill>
                  <a:srgbClr val="808080"/>
                </a:solidFill>
              </a:rPr>
              <a:t>Source: Antonopoulos et al., "Constant Time Recovery in Azure SQL Database", VLDB 2019</a:t>
            </a:r>
          </a:p>
        </p:txBody>
      </p:sp>
    </p:spTree>
    <p:extLst>
      <p:ext uri="{BB962C8B-B14F-4D97-AF65-F5344CB8AC3E}">
        <p14:creationId xmlns:p14="http://schemas.microsoft.com/office/powerpoint/2010/main" val="1828647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2F945-12A4-601A-B782-8E5387548C3B}"/>
              </a:ext>
            </a:extLst>
          </p:cNvPr>
          <p:cNvSpPr>
            <a:spLocks noGrp="1"/>
          </p:cNvSpPr>
          <p:nvPr>
            <p:ph type="title"/>
          </p:nvPr>
        </p:nvSpPr>
        <p:spPr/>
        <p:txBody>
          <a:bodyPr/>
          <a:lstStyle/>
          <a:p>
            <a:r>
              <a:rPr lang="en-US" dirty="0"/>
              <a:t>Aggressive Log Truncation</a:t>
            </a:r>
          </a:p>
        </p:txBody>
      </p:sp>
      <p:sp>
        <p:nvSpPr>
          <p:cNvPr id="3" name="Content Placeholder 2">
            <a:extLst>
              <a:ext uri="{FF2B5EF4-FFF2-40B4-BE49-F238E27FC236}">
                <a16:creationId xmlns:a16="http://schemas.microsoft.com/office/drawing/2014/main" id="{A33456C7-660F-3688-B93D-C0B185E85966}"/>
              </a:ext>
            </a:extLst>
          </p:cNvPr>
          <p:cNvSpPr>
            <a:spLocks noGrp="1"/>
          </p:cNvSpPr>
          <p:nvPr>
            <p:ph idx="1"/>
          </p:nvPr>
        </p:nvSpPr>
        <p:spPr/>
        <p:txBody>
          <a:bodyPr>
            <a:normAutofit/>
          </a:bodyPr>
          <a:lstStyle/>
          <a:p>
            <a:r>
              <a:rPr lang="en-US"/>
              <a:t>Versioned operations are stored in PVS</a:t>
            </a:r>
          </a:p>
          <a:p>
            <a:r>
              <a:rPr lang="en-US"/>
              <a:t>Non-versioned operations are stored in SLOG</a:t>
            </a:r>
          </a:p>
          <a:p>
            <a:r>
              <a:rPr lang="en-US"/>
              <a:t>Log doesn't need to be retained for UNDO</a:t>
            </a:r>
          </a:p>
          <a:p>
            <a:r>
              <a:rPr lang="en-US"/>
              <a:t>Log truncates at checkpoints and backups - even with long-running transactions open</a:t>
            </a:r>
            <a:endParaRPr lang="en-US" dirty="0"/>
          </a:p>
        </p:txBody>
      </p:sp>
    </p:spTree>
    <p:extLst>
      <p:ext uri="{BB962C8B-B14F-4D97-AF65-F5344CB8AC3E}">
        <p14:creationId xmlns:p14="http://schemas.microsoft.com/office/powerpoint/2010/main" val="133314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30958-5075-F738-32DF-661A645559B8}"/>
              </a:ext>
            </a:extLst>
          </p:cNvPr>
          <p:cNvSpPr>
            <a:spLocks noGrp="1"/>
          </p:cNvSpPr>
          <p:nvPr>
            <p:ph type="title"/>
          </p:nvPr>
        </p:nvSpPr>
        <p:spPr/>
        <p:txBody>
          <a:bodyPr/>
          <a:lstStyle/>
          <a:p>
            <a:r>
              <a:rPr lang="en-US" dirty="0"/>
              <a:t>Workloads that benefit from ADR</a:t>
            </a:r>
          </a:p>
        </p:txBody>
      </p:sp>
      <p:sp>
        <p:nvSpPr>
          <p:cNvPr id="3" name="Content Placeholder 2">
            <a:extLst>
              <a:ext uri="{FF2B5EF4-FFF2-40B4-BE49-F238E27FC236}">
                <a16:creationId xmlns:a16="http://schemas.microsoft.com/office/drawing/2014/main" id="{57F214A9-C969-D076-E269-B090175940F2}"/>
              </a:ext>
            </a:extLst>
          </p:cNvPr>
          <p:cNvSpPr>
            <a:spLocks noGrp="1"/>
          </p:cNvSpPr>
          <p:nvPr>
            <p:ph idx="1"/>
          </p:nvPr>
        </p:nvSpPr>
        <p:spPr/>
        <p:txBody>
          <a:bodyPr>
            <a:normAutofit/>
          </a:bodyPr>
          <a:lstStyle/>
          <a:p>
            <a:pPr lvl="0"/>
            <a:r>
              <a:rPr lang="en-US" sz="2200"/>
              <a:t>Long-running transactions</a:t>
            </a:r>
          </a:p>
          <a:p>
            <a:pPr lvl="0"/>
            <a:r>
              <a:rPr lang="en-US" sz="2200"/>
              <a:t>Active transactions that cause the transaction log to grow significantly</a:t>
            </a:r>
          </a:p>
          <a:p>
            <a:pPr lvl="0"/>
            <a:r>
              <a:rPr lang="en-US" sz="2200"/>
              <a:t>Long periods of database unavailability due to long-running recovery (unexpected restart or manual rollback)</a:t>
            </a:r>
          </a:p>
          <a:p>
            <a:pPr lvl="0"/>
            <a:r>
              <a:rPr lang="en-US" sz="2200"/>
              <a:t>Less ideal: very high volume of single-row DML transactions - batch them where possible</a:t>
            </a:r>
          </a:p>
          <a:p>
            <a:pPr lvl="0"/>
            <a:r>
              <a:rPr lang="en-US" sz="2200"/>
              <a:t>Overhead measured by Microsoft (vs. tempdb versioning): ~2.4% throughput for a typical OLTP mix, ~13.8% for an extremely update-heavy one</a:t>
            </a:r>
            <a:endParaRPr lang="en-US" sz="2200" dirty="0"/>
          </a:p>
        </p:txBody>
      </p:sp>
    </p:spTree>
    <p:extLst>
      <p:ext uri="{BB962C8B-B14F-4D97-AF65-F5344CB8AC3E}">
        <p14:creationId xmlns:p14="http://schemas.microsoft.com/office/powerpoint/2010/main" val="565433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29E8-B270-A799-3CB1-D1C0DE2C5E61}"/>
              </a:ext>
            </a:extLst>
          </p:cNvPr>
          <p:cNvSpPr>
            <a:spLocks noGrp="1"/>
          </p:cNvSpPr>
          <p:nvPr>
            <p:ph type="title"/>
          </p:nvPr>
        </p:nvSpPr>
        <p:spPr/>
        <p:txBody>
          <a:bodyPr/>
          <a:lstStyle/>
          <a:p>
            <a:r>
              <a:rPr lang="en-US" dirty="0"/>
              <a:t>Enable ADR</a:t>
            </a:r>
          </a:p>
        </p:txBody>
      </p:sp>
      <p:sp>
        <p:nvSpPr>
          <p:cNvPr id="3" name="Content Placeholder 2">
            <a:extLst>
              <a:ext uri="{FF2B5EF4-FFF2-40B4-BE49-F238E27FC236}">
                <a16:creationId xmlns:a16="http://schemas.microsoft.com/office/drawing/2014/main" id="{34ADB7F5-A0B6-3C8A-EEB9-C16678E9DACB}"/>
              </a:ext>
            </a:extLst>
          </p:cNvPr>
          <p:cNvSpPr>
            <a:spLocks noGrp="1"/>
          </p:cNvSpPr>
          <p:nvPr>
            <p:ph idx="1"/>
          </p:nvPr>
        </p:nvSpPr>
        <p:spPr/>
        <p:txBody>
          <a:bodyPr>
            <a:noAutofit/>
          </a:bodyPr>
          <a:lstStyle/>
          <a:p>
            <a:pPr marL="0" indent="0">
              <a:buNone/>
            </a:pPr>
            <a:r>
              <a:rPr lang="en-US" sz="1800"/>
              <a:t>Requires an exclusive database lock - add WITH ROLLBACK IMMEDIATE to end active sessions</a:t>
            </a:r>
            <a:endParaRPr lang="en-US" sz="1800" dirty="0"/>
          </a:p>
          <a:p>
            <a:pPr marL="0" indent="0">
              <a:buNone/>
            </a:pPr>
            <a:endParaRPr lang="en-US" sz="1800" dirty="0"/>
          </a:p>
          <a:p>
            <a:pPr marL="0" indent="0">
              <a:buNone/>
            </a:pPr>
            <a:r>
              <a:rPr lang="en-US" sz="1800" dirty="0">
                <a:solidFill>
                  <a:srgbClr val="0000FF"/>
                </a:solidFill>
                <a:highlight>
                  <a:srgbClr val="FFFFFF"/>
                </a:highlight>
                <a:latin typeface="Cascadia Mono" panose="020B0609020000020004" pitchFamily="49" charset="0"/>
              </a:rPr>
              <a:t>ALTER</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DATABASE</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ADR_Demo_On</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ACCELERATED_DATABASE_RECOVERY</a:t>
            </a:r>
            <a:r>
              <a:rPr lang="en-US" sz="1800" dirty="0">
                <a:solidFill>
                  <a:srgbClr val="000000"/>
                </a:solidFill>
                <a:highlight>
                  <a:srgbClr val="FFFFFF"/>
                </a:highlight>
                <a:latin typeface="Cascadia Mono" panose="020B0609020000020004" pitchFamily="49" charset="0"/>
              </a:rPr>
              <a:t> </a:t>
            </a:r>
            <a:r>
              <a:rPr lang="en-US" sz="1800" dirty="0">
                <a:solidFill>
                  <a:srgbClr val="808080"/>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ON</a:t>
            </a:r>
            <a:r>
              <a:rPr lang="en-US" sz="1800" dirty="0">
                <a:solidFill>
                  <a:srgbClr val="808080"/>
                </a:solidFill>
                <a:highlight>
                  <a:srgbClr val="FFFFFF"/>
                </a:highlight>
                <a:latin typeface="Cascadia Mono" panose="020B0609020000020004" pitchFamily="49" charset="0"/>
              </a:rPr>
              <a:t>;</a:t>
            </a:r>
          </a:p>
          <a:p>
            <a:pPr marL="0" indent="0">
              <a:buNone/>
            </a:pPr>
            <a:endParaRPr lang="en-US" sz="1800" dirty="0">
              <a:solidFill>
                <a:srgbClr val="808080"/>
              </a:solidFill>
              <a:highlight>
                <a:srgbClr val="FFFFFF"/>
              </a:highlight>
              <a:latin typeface="Cascadia Mono" panose="020B0609020000020004" pitchFamily="49" charset="0"/>
            </a:endParaRPr>
          </a:p>
          <a:p>
            <a:pPr marL="0" indent="0">
              <a:buNone/>
            </a:pPr>
            <a:r>
              <a:rPr lang="en-US" sz="1800" dirty="0">
                <a:solidFill>
                  <a:srgbClr val="0000FF"/>
                </a:solidFill>
                <a:highlight>
                  <a:srgbClr val="FFFFFF"/>
                </a:highlight>
                <a:latin typeface="Cascadia Mono" panose="020B0609020000020004" pitchFamily="49" charset="0"/>
              </a:rPr>
              <a:t>SELECT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name</a:t>
            </a:r>
            <a:r>
              <a:rPr lang="en-US" sz="1800" dirty="0">
                <a:solidFill>
                  <a:srgbClr val="808080"/>
                </a:solidFill>
                <a:highlight>
                  <a:srgbClr val="FFFFFF"/>
                </a:highlight>
                <a:latin typeface="Cascadia Mono" panose="020B0609020000020004" pitchFamily="49" charset="0"/>
              </a:rPr>
              <a:t>, </a:t>
            </a:r>
            <a:endParaRPr lang="en-US" sz="1800" dirty="0">
              <a:solidFill>
                <a:srgbClr val="000000"/>
              </a:solidFill>
              <a:highlight>
                <a:srgbClr val="FFFFFF"/>
              </a:highlight>
              <a:latin typeface="Cascadia Mono" panose="020B0609020000020004" pitchFamily="49" charset="0"/>
            </a:endParaRP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is_accelerated_database_recovery_on</a:t>
            </a:r>
            <a:endParaRPr lang="en-US" sz="1800" dirty="0">
              <a:solidFill>
                <a:srgbClr val="000000"/>
              </a:solidFill>
              <a:highlight>
                <a:srgbClr val="FFFFFF"/>
              </a:highlight>
              <a:latin typeface="Cascadia Mono" panose="020B0609020000020004" pitchFamily="49" charset="0"/>
            </a:endParaRP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FROM</a:t>
            </a:r>
            <a:r>
              <a:rPr lang="en-US" sz="1800" dirty="0">
                <a:solidFill>
                  <a:srgbClr val="000000"/>
                </a:solidFill>
                <a:highlight>
                  <a:srgbClr val="FFFFFF"/>
                </a:highlight>
                <a:latin typeface="Cascadia Mono" panose="020B0609020000020004" pitchFamily="49" charset="0"/>
              </a:rPr>
              <a:t> </a:t>
            </a:r>
            <a:r>
              <a:rPr lang="en-US" sz="1800" dirty="0" err="1">
                <a:solidFill>
                  <a:srgbClr val="00FF00"/>
                </a:solidFill>
                <a:highlight>
                  <a:srgbClr val="FFFFFF"/>
                </a:highlight>
                <a:latin typeface="Cascadia Mono" panose="020B0609020000020004" pitchFamily="49" charset="0"/>
              </a:rPr>
              <a:t>sys</a:t>
            </a:r>
            <a:r>
              <a:rPr lang="en-US" sz="1800" dirty="0" err="1">
                <a:solidFill>
                  <a:srgbClr val="808080"/>
                </a:solidFill>
                <a:highlight>
                  <a:srgbClr val="FFFFFF"/>
                </a:highlight>
                <a:latin typeface="Cascadia Mono" panose="020B0609020000020004" pitchFamily="49" charset="0"/>
              </a:rPr>
              <a:t>.</a:t>
            </a:r>
            <a:r>
              <a:rPr lang="en-US" sz="1800" err="1">
                <a:solidFill>
                  <a:srgbClr val="00FF00"/>
                </a:solidFill>
                <a:highlight>
                  <a:srgbClr val="FFFFFF"/>
                </a:highlight>
                <a:latin typeface="Cascadia Mono" panose="020B0609020000020004" pitchFamily="49" charset="0"/>
              </a:rPr>
              <a:t>databases</a:t>
            </a:r>
            <a:r>
              <a:rPr lang="en-US" sz="1800">
                <a:solidFill>
                  <a:srgbClr val="00FF00"/>
                </a:solidFill>
                <a:highlight>
                  <a:srgbClr val="FFFFFF"/>
                </a:highlight>
                <a:latin typeface="Cascadia Mono" panose="020B0609020000020004" pitchFamily="49" charset="0"/>
              </a:rPr>
              <a:t>;</a:t>
            </a:r>
          </a:p>
          <a:p>
            <a:pPr marL="0" indent="0">
              <a:buNone/>
            </a:pPr>
            <a:endParaRPr lang="en-US" sz="1800">
              <a:solidFill>
                <a:srgbClr val="00FF00"/>
              </a:solidFill>
              <a:highlight>
                <a:srgbClr val="FFFFFF"/>
              </a:highlight>
              <a:latin typeface="Cascadia Mono" panose="020B0609020000020004" pitchFamily="49" charset="0"/>
            </a:endParaRPr>
          </a:p>
          <a:p>
            <a:pPr marL="0" indent="0">
              <a:buNone/>
            </a:pPr>
            <a:r>
              <a:rPr lang="en-US" sz="1800">
                <a:solidFill>
                  <a:srgbClr val="008000"/>
                </a:solidFill>
                <a:highlight>
                  <a:srgbClr val="FFFFFF"/>
                </a:highlight>
                <a:latin typeface="Cascadia Mono" panose="020B0609020000020004" pitchFamily="49" charset="0"/>
              </a:rPr>
              <a:t>-- Optional: dedicated PVS filegroup (to move an existing PVS, disable ADR and clean up first)</a:t>
            </a:r>
          </a:p>
          <a:p>
            <a:pPr marL="0" indent="0">
              <a:buNone/>
            </a:pPr>
            <a:r>
              <a:rPr lang="en-US" sz="1800">
                <a:solidFill>
                  <a:srgbClr val="0000FF"/>
                </a:solidFill>
                <a:highlight>
                  <a:srgbClr val="FFFFFF"/>
                </a:highlight>
                <a:latin typeface="Cascadia Mono" panose="020B0609020000020004" pitchFamily="49" charset="0"/>
              </a:rPr>
              <a:t>ALTER DATABASE ADR_Demo_On SET ACCELERATED_DATABASE_RECOVERY = ON</a:t>
            </a:r>
          </a:p>
          <a:p>
            <a:pPr marL="0" indent="0">
              <a:buNone/>
            </a:pPr>
            <a:r>
              <a:rPr lang="en-US" sz="1800">
                <a:solidFill>
                  <a:srgbClr val="0000FF"/>
                </a:solidFill>
                <a:highlight>
                  <a:srgbClr val="FFFFFF"/>
                </a:highlight>
                <a:latin typeface="Cascadia Mono" panose="020B0609020000020004" pitchFamily="49" charset="0"/>
              </a:rPr>
              <a:t>    (PERSISTENT_VERSION_STORE_FILEGROUP = [VersionStoreFG]);</a:t>
            </a:r>
            <a:endParaRPr lang="en-US" sz="1800" dirty="0">
              <a:solidFill>
                <a:srgbClr val="0000FF"/>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140607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D60C3D-26C3-9BD7-B2EE-73F92E17ADA9}"/>
              </a:ext>
            </a:extLst>
          </p:cNvPr>
          <p:cNvSpPr>
            <a:spLocks noGrp="1"/>
          </p:cNvSpPr>
          <p:nvPr>
            <p:ph idx="1"/>
          </p:nvPr>
        </p:nvSpPr>
        <p:spPr>
          <a:xfrm>
            <a:off x="4166616" y="2848355"/>
            <a:ext cx="3858768" cy="1161289"/>
          </a:xfrm>
        </p:spPr>
        <p:txBody>
          <a:bodyPr>
            <a:normAutofit lnSpcReduction="10000"/>
          </a:bodyPr>
          <a:lstStyle/>
          <a:p>
            <a:pPr marL="0" indent="0">
              <a:buNone/>
            </a:pPr>
            <a:r>
              <a:rPr lang="en-US" sz="8000" dirty="0"/>
              <a:t>DEMO</a:t>
            </a:r>
          </a:p>
        </p:txBody>
      </p:sp>
    </p:spTree>
    <p:extLst>
      <p:ext uri="{BB962C8B-B14F-4D97-AF65-F5344CB8AC3E}">
        <p14:creationId xmlns:p14="http://schemas.microsoft.com/office/powerpoint/2010/main" val="3707782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3C9F-27E0-9ACF-DEAB-7ED9A06BC2A6}"/>
              </a:ext>
            </a:extLst>
          </p:cNvPr>
          <p:cNvSpPr>
            <a:spLocks noGrp="1"/>
          </p:cNvSpPr>
          <p:nvPr>
            <p:ph type="title"/>
          </p:nvPr>
        </p:nvSpPr>
        <p:spPr/>
        <p:txBody>
          <a:bodyPr/>
          <a:lstStyle/>
          <a:p>
            <a:r>
              <a:rPr lang="en-US"/>
              <a:t>What's New in SQL Server 2022 and 2025</a:t>
            </a:r>
          </a:p>
        </p:txBody>
      </p:sp>
      <p:sp>
        <p:nvSpPr>
          <p:cNvPr id="4" name="Rectangle: Rounded Corners 3">
            <a:extLst>
              <a:ext uri="{FF2B5EF4-FFF2-40B4-BE49-F238E27FC236}">
                <a16:creationId xmlns:a16="http://schemas.microsoft.com/office/drawing/2014/main" id="{A38408D5-E78E-B934-4117-2824BB13626E}"/>
              </a:ext>
            </a:extLst>
          </p:cNvPr>
          <p:cNvSpPr/>
          <p:nvPr/>
        </p:nvSpPr>
        <p:spPr>
          <a:xfrm>
            <a:off x="508000" y="1778000"/>
            <a:ext cx="5461000" cy="508000"/>
          </a:xfrm>
          <a:prstGeom prst="roundRect">
            <a:avLst/>
          </a:prstGeom>
          <a:solidFill>
            <a:srgbClr val="BDD7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rgbClr val="1A1A2E"/>
                </a:solidFill>
              </a:rPr>
              <a:t>SQL Server 2022</a:t>
            </a:r>
          </a:p>
        </p:txBody>
      </p:sp>
      <p:sp>
        <p:nvSpPr>
          <p:cNvPr id="5" name="TextBox 4">
            <a:extLst>
              <a:ext uri="{FF2B5EF4-FFF2-40B4-BE49-F238E27FC236}">
                <a16:creationId xmlns:a16="http://schemas.microsoft.com/office/drawing/2014/main" id="{6D1BA7D4-D94E-C56E-3053-2CE9CF688BCB}"/>
              </a:ext>
            </a:extLst>
          </p:cNvPr>
          <p:cNvSpPr txBox="1"/>
          <p:nvPr/>
        </p:nvSpPr>
        <p:spPr>
          <a:xfrm>
            <a:off x="508000" y="2413000"/>
            <a:ext cx="5461000" cy="2754600"/>
          </a:xfrm>
          <a:prstGeom prst="rect">
            <a:avLst/>
          </a:prstGeom>
          <a:noFill/>
        </p:spPr>
        <p:txBody>
          <a:bodyPr vert="horz" wrap="square" rtlCol="0">
            <a:spAutoFit/>
          </a:bodyPr>
          <a:lstStyle/>
          <a:p>
            <a:pPr marL="177800" indent="-177800">
              <a:spcAft>
                <a:spcPts val="600"/>
              </a:spcAft>
              <a:buFont typeface="+mj-lt"/>
              <a:buChar char="•"/>
            </a:pPr>
            <a:r>
              <a:rPr lang="en-US" sz="1700">
                <a:solidFill>
                  <a:srgbClr val="1A1A2E"/>
                </a:solidFill>
              </a:rPr>
              <a:t>Multi-threaded PVS cleanup (ADR Cleaner Thread Count)</a:t>
            </a:r>
          </a:p>
          <a:p>
            <a:pPr marL="177800" indent="-177800">
              <a:spcAft>
                <a:spcPts val="600"/>
              </a:spcAft>
              <a:buFont typeface="+mj-lt"/>
              <a:buChar char="•"/>
            </a:pPr>
            <a:r>
              <a:rPr lang="en-US" sz="1700">
                <a:solidFill>
                  <a:srgbClr val="1A1A2E"/>
                </a:solidFill>
              </a:rPr>
              <a:t>Transaction-level PVS: committed versions cleaned up even while aborted ones remain</a:t>
            </a:r>
          </a:p>
          <a:p>
            <a:pPr marL="177800" indent="-177800">
              <a:spcAft>
                <a:spcPts val="600"/>
              </a:spcAft>
              <a:buFont typeface="+mj-lt"/>
              <a:buChar char="•"/>
            </a:pPr>
            <a:r>
              <a:rPr lang="en-US" sz="1700">
                <a:solidFill>
                  <a:srgbClr val="1A1A2E"/>
                </a:solidFill>
              </a:rPr>
              <a:t>Smaller memory footprint for PVS page tracking</a:t>
            </a:r>
          </a:p>
          <a:p>
            <a:pPr marL="177800" indent="-177800">
              <a:spcAft>
                <a:spcPts val="600"/>
              </a:spcAft>
              <a:buFont typeface="+mj-lt"/>
              <a:buChar char="•"/>
            </a:pPr>
            <a:r>
              <a:rPr lang="en-US" sz="1700">
                <a:solidFill>
                  <a:srgbClr val="1A1A2E"/>
                </a:solidFill>
              </a:rPr>
              <a:t>User transactions help clean pages the cleaner could not lock</a:t>
            </a:r>
          </a:p>
          <a:p>
            <a:pPr marL="177800" indent="-177800">
              <a:spcAft>
                <a:spcPts val="600"/>
              </a:spcAft>
              <a:buFont typeface="+mj-lt"/>
              <a:buChar char="•"/>
            </a:pPr>
            <a:r>
              <a:rPr lang="en-US" sz="1700">
                <a:solidFill>
                  <a:srgbClr val="1A1A2E"/>
                </a:solidFill>
              </a:rPr>
              <a:t>Cleanup failures in error log + tx_mtvc2_sweep_stats XE</a:t>
            </a:r>
          </a:p>
        </p:txBody>
      </p:sp>
      <p:sp>
        <p:nvSpPr>
          <p:cNvPr id="6" name="Rectangle: Rounded Corners 5">
            <a:extLst>
              <a:ext uri="{FF2B5EF4-FFF2-40B4-BE49-F238E27FC236}">
                <a16:creationId xmlns:a16="http://schemas.microsoft.com/office/drawing/2014/main" id="{BE3E5E9D-19BD-C90C-F4C7-94926F1F6137}"/>
              </a:ext>
            </a:extLst>
          </p:cNvPr>
          <p:cNvSpPr/>
          <p:nvPr/>
        </p:nvSpPr>
        <p:spPr>
          <a:xfrm>
            <a:off x="6223000" y="1778000"/>
            <a:ext cx="5461000" cy="508000"/>
          </a:xfrm>
          <a:prstGeom prst="roundRect">
            <a:avLst/>
          </a:prstGeom>
          <a:solidFill>
            <a:srgbClr val="BDD7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rgbClr val="1A1A2E"/>
                </a:solidFill>
              </a:rPr>
              <a:t>SQL Server 2025</a:t>
            </a:r>
          </a:p>
        </p:txBody>
      </p:sp>
      <p:sp>
        <p:nvSpPr>
          <p:cNvPr id="7" name="TextBox 6">
            <a:extLst>
              <a:ext uri="{FF2B5EF4-FFF2-40B4-BE49-F238E27FC236}">
                <a16:creationId xmlns:a16="http://schemas.microsoft.com/office/drawing/2014/main" id="{AF2E677C-FBD2-A098-954A-15CF5F09298A}"/>
              </a:ext>
            </a:extLst>
          </p:cNvPr>
          <p:cNvSpPr txBox="1"/>
          <p:nvPr/>
        </p:nvSpPr>
        <p:spPr>
          <a:xfrm>
            <a:off x="6223000" y="2413000"/>
            <a:ext cx="5461000" cy="615553"/>
          </a:xfrm>
          <a:prstGeom prst="rect">
            <a:avLst/>
          </a:prstGeom>
          <a:noFill/>
        </p:spPr>
        <p:txBody>
          <a:bodyPr vert="horz" wrap="square" rtlCol="0">
            <a:spAutoFit/>
          </a:bodyPr>
          <a:lstStyle/>
          <a:p>
            <a:pPr marL="177800" indent="-177800">
              <a:spcAft>
                <a:spcPts val="600"/>
              </a:spcAft>
              <a:buFont typeface="+mj-lt"/>
              <a:buChar char="•"/>
            </a:pPr>
            <a:r>
              <a:rPr lang="en-US" sz="1700" dirty="0">
                <a:solidFill>
                  <a:srgbClr val="1A1A2E"/>
                </a:solidFill>
              </a:rPr>
              <a:t>Optimized locking (TID locking + lock after qualification) - requires ADR on the database</a:t>
            </a:r>
          </a:p>
        </p:txBody>
      </p:sp>
      <p:sp>
        <p:nvSpPr>
          <p:cNvPr id="8" name="TextBox 7">
            <a:extLst>
              <a:ext uri="{FF2B5EF4-FFF2-40B4-BE49-F238E27FC236}">
                <a16:creationId xmlns:a16="http://schemas.microsoft.com/office/drawing/2014/main" id="{74A550CC-1182-5CCA-1AF7-7E188B77B5F6}"/>
              </a:ext>
            </a:extLst>
          </p:cNvPr>
          <p:cNvSpPr txBox="1"/>
          <p:nvPr/>
        </p:nvSpPr>
        <p:spPr>
          <a:xfrm>
            <a:off x="508000" y="6413500"/>
            <a:ext cx="11176000" cy="230832"/>
          </a:xfrm>
          <a:prstGeom prst="rect">
            <a:avLst/>
          </a:prstGeom>
          <a:noFill/>
        </p:spPr>
        <p:txBody>
          <a:bodyPr vert="horz" wrap="square" rtlCol="0">
            <a:spAutoFit/>
          </a:bodyPr>
          <a:lstStyle/>
          <a:p>
            <a:r>
              <a:rPr lang="en-US" sz="900" i="1">
                <a:solidFill>
                  <a:srgbClr val="808080"/>
                </a:solidFill>
              </a:rPr>
              <a:t>Source: Microsoft Learn - Accelerated database recovery concepts; Optimized locking</a:t>
            </a:r>
          </a:p>
        </p:txBody>
      </p:sp>
    </p:spTree>
    <p:extLst>
      <p:ext uri="{BB962C8B-B14F-4D97-AF65-F5344CB8AC3E}">
        <p14:creationId xmlns:p14="http://schemas.microsoft.com/office/powerpoint/2010/main" val="1053959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C6F7-40B7-4E6F-C272-2CF0A239C6CF}"/>
              </a:ext>
            </a:extLst>
          </p:cNvPr>
          <p:cNvSpPr>
            <a:spLocks noGrp="1"/>
          </p:cNvSpPr>
          <p:nvPr>
            <p:ph type="title"/>
          </p:nvPr>
        </p:nvSpPr>
        <p:spPr/>
        <p:txBody>
          <a:bodyPr/>
          <a:lstStyle/>
          <a:p>
            <a:r>
              <a:rPr lang="en-US" dirty="0"/>
              <a:t>Best Practices for ADR	</a:t>
            </a:r>
          </a:p>
        </p:txBody>
      </p:sp>
      <p:sp>
        <p:nvSpPr>
          <p:cNvPr id="3" name="Content Placeholder 2">
            <a:extLst>
              <a:ext uri="{FF2B5EF4-FFF2-40B4-BE49-F238E27FC236}">
                <a16:creationId xmlns:a16="http://schemas.microsoft.com/office/drawing/2014/main" id="{67F9A355-574B-CAE4-3C78-BDDF87224453}"/>
              </a:ext>
            </a:extLst>
          </p:cNvPr>
          <p:cNvSpPr>
            <a:spLocks noGrp="1"/>
          </p:cNvSpPr>
          <p:nvPr>
            <p:ph idx="1"/>
          </p:nvPr>
        </p:nvSpPr>
        <p:spPr/>
        <p:txBody>
          <a:bodyPr>
            <a:normAutofit/>
          </a:bodyPr>
          <a:lstStyle/>
          <a:p>
            <a:r>
              <a:rPr lang="en-US" sz="2000"/>
              <a:t>Leave free space in the database for PVS - if PVS can't grow, DML statements fail</a:t>
            </a:r>
          </a:p>
          <a:p>
            <a:r>
              <a:rPr lang="en-US" sz="2000"/>
              <a:t>Avoid unnecessary long-running transactions - they delay PVS cleanup</a:t>
            </a:r>
          </a:p>
          <a:p>
            <a:r>
              <a:rPr lang="en-US" sz="2000"/>
              <a:t>Avoid large transactions with many DDL operations - they bloat the SLOG</a:t>
            </a:r>
          </a:p>
          <a:p>
            <a:r>
              <a:rPr lang="en-US" sz="2000"/>
              <a:t>Reduce aborted transactions (deadlocks, timeouts, constraint violations) - they pressure the cleaner</a:t>
            </a:r>
          </a:p>
          <a:p>
            <a:r>
              <a:rPr lang="en-US" sz="2000"/>
              <a:t>Replication / CDC: aggressive log truncation is disabled - size the transaction log accordingly</a:t>
            </a:r>
          </a:p>
          <a:p>
            <a:r>
              <a:rPr lang="en-US" sz="2000"/>
              <a:t>SQL Server 2022+: increase ADR Cleaner Thread Count if cleanup can't keep up</a:t>
            </a:r>
            <a:endParaRPr lang="en-US" sz="2000" dirty="0"/>
          </a:p>
        </p:txBody>
      </p:sp>
    </p:spTree>
    <p:extLst>
      <p:ext uri="{BB962C8B-B14F-4D97-AF65-F5344CB8AC3E}">
        <p14:creationId xmlns:p14="http://schemas.microsoft.com/office/powerpoint/2010/main" val="384289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D4126-6518-42C2-867C-283F42381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34E41-3C2A-EE68-B2DE-FB19E6500980}"/>
              </a:ext>
            </a:extLst>
          </p:cNvPr>
          <p:cNvSpPr>
            <a:spLocks noGrp="1"/>
          </p:cNvSpPr>
          <p:nvPr>
            <p:ph type="title"/>
          </p:nvPr>
        </p:nvSpPr>
        <p:spPr/>
        <p:txBody>
          <a:bodyPr/>
          <a:lstStyle/>
          <a:p>
            <a:r>
              <a:rPr lang="en-US"/>
              <a:t>Monitoring: What to Watch</a:t>
            </a:r>
            <a:endParaRPr lang="en-US" dirty="0"/>
          </a:p>
        </p:txBody>
      </p:sp>
      <p:sp>
        <p:nvSpPr>
          <p:cNvPr id="3" name="Content Placeholder 2">
            <a:extLst>
              <a:ext uri="{FF2B5EF4-FFF2-40B4-BE49-F238E27FC236}">
                <a16:creationId xmlns:a16="http://schemas.microsoft.com/office/drawing/2014/main" id="{3513E45F-E16C-7331-C840-595FAD3F0397}"/>
              </a:ext>
            </a:extLst>
          </p:cNvPr>
          <p:cNvSpPr>
            <a:spLocks noGrp="1"/>
          </p:cNvSpPr>
          <p:nvPr>
            <p:ph idx="1"/>
          </p:nvPr>
        </p:nvSpPr>
        <p:spPr/>
        <p:txBody>
          <a:bodyPr>
            <a:normAutofit/>
          </a:bodyPr>
          <a:lstStyle/>
          <a:p>
            <a:pPr>
              <a:buFont typeface="+mj-lt"/>
              <a:buChar char="•"/>
            </a:pPr>
            <a:r>
              <a:rPr lang="en-US" sz="2200" dirty="0" err="1"/>
              <a:t>sys.dm_tran_persistent_version_store_stats</a:t>
            </a:r>
            <a:r>
              <a:rPr lang="en-US" sz="2200" dirty="0"/>
              <a:t> - PVS size, cleaner start/end times, oldest active and aborted transaction</a:t>
            </a:r>
          </a:p>
          <a:p>
            <a:pPr>
              <a:buFont typeface="+mj-lt"/>
              <a:buChar char="•"/>
            </a:pPr>
            <a:r>
              <a:rPr lang="en-US" sz="2200" dirty="0"/>
              <a:t>PVS is "large" if it is near 50% of the database size or far above your baseline</a:t>
            </a:r>
          </a:p>
          <a:p>
            <a:pPr>
              <a:buFont typeface="+mj-lt"/>
              <a:buChar char="•"/>
            </a:pPr>
            <a:r>
              <a:rPr lang="en-US" sz="2200" dirty="0"/>
              <a:t>SQL Server 2022+: </a:t>
            </a:r>
            <a:r>
              <a:rPr lang="en-US" sz="2200" b="1" dirty="0"/>
              <a:t>tx_mtvc2_sweep_stats </a:t>
            </a:r>
            <a:r>
              <a:rPr lang="en-US" sz="2200" dirty="0"/>
              <a:t>extended event; cleanup failures logged in the error log</a:t>
            </a:r>
          </a:p>
          <a:p>
            <a:pPr>
              <a:buFont typeface="+mj-lt"/>
              <a:buChar char="•"/>
            </a:pPr>
            <a:r>
              <a:rPr lang="en-US" sz="2200" dirty="0"/>
              <a:t>Why it matters: Microsoft's main production issue was cleanup blocked by user transactions - PVS grew until disk ran out</a:t>
            </a:r>
          </a:p>
        </p:txBody>
      </p:sp>
    </p:spTree>
    <p:extLst>
      <p:ext uri="{BB962C8B-B14F-4D97-AF65-F5344CB8AC3E}">
        <p14:creationId xmlns:p14="http://schemas.microsoft.com/office/powerpoint/2010/main" val="2425186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7C27A-DE0B-5940-5A47-EA7EFCE4C3A3}"/>
              </a:ext>
            </a:extLst>
          </p:cNvPr>
          <p:cNvSpPr>
            <a:spLocks noGrp="1"/>
          </p:cNvSpPr>
          <p:nvPr>
            <p:ph type="title"/>
          </p:nvPr>
        </p:nvSpPr>
        <p:spPr/>
        <p:txBody>
          <a:bodyPr/>
          <a:lstStyle/>
          <a:p>
            <a:r>
              <a:rPr lang="en-US"/>
              <a:t>Troubleshooting a Large PVS</a:t>
            </a:r>
          </a:p>
        </p:txBody>
      </p:sp>
      <p:graphicFrame>
        <p:nvGraphicFramePr>
          <p:cNvPr id="4" name="Table 3">
            <a:extLst>
              <a:ext uri="{FF2B5EF4-FFF2-40B4-BE49-F238E27FC236}">
                <a16:creationId xmlns:a16="http://schemas.microsoft.com/office/drawing/2014/main" id="{BC154D3A-06B6-D8B1-AE8C-64BBD9D36DF7}"/>
              </a:ext>
            </a:extLst>
          </p:cNvPr>
          <p:cNvGraphicFramePr>
            <a:graphicFrameLocks noGrp="1"/>
          </p:cNvGraphicFramePr>
          <p:nvPr>
            <p:extLst>
              <p:ext uri="{D42A27DB-BD31-4B8C-83A1-F6EECF244321}">
                <p14:modId xmlns:p14="http://schemas.microsoft.com/office/powerpoint/2010/main" val="3381532063"/>
              </p:ext>
            </p:extLst>
          </p:nvPr>
        </p:nvGraphicFramePr>
        <p:xfrm>
          <a:off x="508000" y="1778000"/>
          <a:ext cx="11176000" cy="38100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1393440489"/>
                    </a:ext>
                  </a:extLst>
                </a:gridCol>
                <a:gridCol w="4953000">
                  <a:extLst>
                    <a:ext uri="{9D8B030D-6E8A-4147-A177-3AD203B41FA5}">
                      <a16:colId xmlns:a16="http://schemas.microsoft.com/office/drawing/2014/main" val="3225712333"/>
                    </a:ext>
                  </a:extLst>
                </a:gridCol>
                <a:gridCol w="3556000">
                  <a:extLst>
                    <a:ext uri="{9D8B030D-6E8A-4147-A177-3AD203B41FA5}">
                      <a16:colId xmlns:a16="http://schemas.microsoft.com/office/drawing/2014/main" val="3516874338"/>
                    </a:ext>
                  </a:extLst>
                </a:gridCol>
              </a:tblGrid>
              <a:tr h="762000">
                <a:tc>
                  <a:txBody>
                    <a:bodyPr/>
                    <a:lstStyle/>
                    <a:p>
                      <a:r>
                        <a:rPr lang="en-US" sz="1500" b="1"/>
                        <a:t>Cause</a:t>
                      </a:r>
                    </a:p>
                  </a:txBody>
                  <a:tcPr/>
                </a:tc>
                <a:tc>
                  <a:txBody>
                    <a:bodyPr/>
                    <a:lstStyle/>
                    <a:p>
                      <a:r>
                        <a:rPr lang="en-US" sz="1500" b="1"/>
                        <a:t>Check</a:t>
                      </a:r>
                    </a:p>
                  </a:txBody>
                  <a:tcPr/>
                </a:tc>
                <a:tc>
                  <a:txBody>
                    <a:bodyPr/>
                    <a:lstStyle/>
                    <a:p>
                      <a:r>
                        <a:rPr lang="en-US" sz="1500" b="1"/>
                        <a:t>Fix</a:t>
                      </a:r>
                    </a:p>
                  </a:txBody>
                  <a:tcPr/>
                </a:tc>
                <a:extLst>
                  <a:ext uri="{0D108BD9-81ED-4DB2-BD59-A6C34878D82A}">
                    <a16:rowId xmlns:a16="http://schemas.microsoft.com/office/drawing/2014/main" val="160405157"/>
                  </a:ext>
                </a:extLst>
              </a:tr>
              <a:tr h="762000">
                <a:tc>
                  <a:txBody>
                    <a:bodyPr/>
                    <a:lstStyle/>
                    <a:p>
                      <a:r>
                        <a:rPr lang="en-US" sz="1500" b="1"/>
                        <a:t>Long-running active transactions</a:t>
                      </a:r>
                    </a:p>
                  </a:txBody>
                  <a:tcPr/>
                </a:tc>
                <a:tc>
                  <a:txBody>
                    <a:bodyPr/>
                    <a:lstStyle/>
                    <a:p>
                      <a:r>
                        <a:rPr lang="en-US" sz="1500"/>
                        <a:t>sys.dm_tran_database_transactions (oldest begin time)</a:t>
                      </a:r>
                    </a:p>
                  </a:txBody>
                  <a:tcPr/>
                </a:tc>
                <a:tc>
                  <a:txBody>
                    <a:bodyPr/>
                    <a:lstStyle/>
                    <a:p>
                      <a:r>
                        <a:rPr lang="en-US" sz="1500"/>
                        <a:t>Commit, roll back, or kill the session</a:t>
                      </a:r>
                    </a:p>
                  </a:txBody>
                  <a:tcPr/>
                </a:tc>
                <a:extLst>
                  <a:ext uri="{0D108BD9-81ED-4DB2-BD59-A6C34878D82A}">
                    <a16:rowId xmlns:a16="http://schemas.microsoft.com/office/drawing/2014/main" val="4066336197"/>
                  </a:ext>
                </a:extLst>
              </a:tr>
              <a:tr h="762000">
                <a:tc>
                  <a:txBody>
                    <a:bodyPr/>
                    <a:lstStyle/>
                    <a:p>
                      <a:r>
                        <a:rPr lang="en-US" sz="1500" b="1"/>
                        <a:t>Long RCSI / snapshot scans</a:t>
                      </a:r>
                    </a:p>
                  </a:txBody>
                  <a:tcPr/>
                </a:tc>
                <a:tc>
                  <a:txBody>
                    <a:bodyPr/>
                    <a:lstStyle/>
                    <a:p>
                      <a:r>
                        <a:rPr lang="en-US" sz="1500"/>
                        <a:t>sys.dm_tran_active_snapshot_database_transactions</a:t>
                      </a:r>
                    </a:p>
                  </a:txBody>
                  <a:tcPr/>
                </a:tc>
                <a:tc>
                  <a:txBody>
                    <a:bodyPr/>
                    <a:lstStyle/>
                    <a:p>
                      <a:r>
                        <a:rPr lang="en-US" sz="1500"/>
                        <a:t>Tune the query, or use READ COMMITTED for long reports</a:t>
                      </a:r>
                    </a:p>
                  </a:txBody>
                  <a:tcPr/>
                </a:tc>
                <a:extLst>
                  <a:ext uri="{0D108BD9-81ED-4DB2-BD59-A6C34878D82A}">
                    <a16:rowId xmlns:a16="http://schemas.microsoft.com/office/drawing/2014/main" val="3481582077"/>
                  </a:ext>
                </a:extLst>
              </a:tr>
              <a:tr h="762000">
                <a:tc>
                  <a:txBody>
                    <a:bodyPr/>
                    <a:lstStyle/>
                    <a:p>
                      <a:r>
                        <a:rPr lang="en-US" sz="1500" b="1"/>
                        <a:t>Long queries on readable secondaries</a:t>
                      </a:r>
                    </a:p>
                  </a:txBody>
                  <a:tcPr/>
                </a:tc>
                <a:tc>
                  <a:txBody>
                    <a:bodyPr/>
                    <a:lstStyle/>
                    <a:p>
                      <a:r>
                        <a:rPr lang="en-US" sz="1500"/>
                        <a:t>low_water_mark_for_ghosts in sys.dm_hadr_database_replica_states</a:t>
                      </a:r>
                    </a:p>
                  </a:txBody>
                  <a:tcPr/>
                </a:tc>
                <a:tc>
                  <a:txBody>
                    <a:bodyPr/>
                    <a:lstStyle/>
                    <a:p>
                      <a:r>
                        <a:rPr lang="en-US" sz="1500"/>
                        <a:t>Find and end the query on the secondary</a:t>
                      </a:r>
                    </a:p>
                  </a:txBody>
                  <a:tcPr/>
                </a:tc>
                <a:extLst>
                  <a:ext uri="{0D108BD9-81ED-4DB2-BD59-A6C34878D82A}">
                    <a16:rowId xmlns:a16="http://schemas.microsoft.com/office/drawing/2014/main" val="1551507468"/>
                  </a:ext>
                </a:extLst>
              </a:tr>
              <a:tr h="762000">
                <a:tc>
                  <a:txBody>
                    <a:bodyPr/>
                    <a:lstStyle/>
                    <a:p>
                      <a:r>
                        <a:rPr lang="en-US" sz="1500" b="1"/>
                        <a:t>Many aborted transactions</a:t>
                      </a:r>
                    </a:p>
                  </a:txBody>
                  <a:tcPr/>
                </a:tc>
                <a:tc>
                  <a:txBody>
                    <a:bodyPr/>
                    <a:lstStyle/>
                    <a:p>
                      <a:r>
                        <a:rPr lang="en-US" sz="1500"/>
                        <a:t>sys.dm_tran_aborted_transactions</a:t>
                      </a:r>
                    </a:p>
                  </a:txBody>
                  <a:tcPr/>
                </a:tc>
                <a:tc>
                  <a:txBody>
                    <a:bodyPr/>
                    <a:lstStyle/>
                    <a:p>
                      <a:r>
                        <a:rPr lang="en-US" sz="1500"/>
                        <a:t>Reduce deadlocks / timeouts; SQL 2022+: raise ADR Cleaner Thread Count</a:t>
                      </a:r>
                    </a:p>
                  </a:txBody>
                  <a:tcPr/>
                </a:tc>
                <a:extLst>
                  <a:ext uri="{0D108BD9-81ED-4DB2-BD59-A6C34878D82A}">
                    <a16:rowId xmlns:a16="http://schemas.microsoft.com/office/drawing/2014/main" val="492656609"/>
                  </a:ext>
                </a:extLst>
              </a:tr>
            </a:tbl>
          </a:graphicData>
        </a:graphic>
      </p:graphicFrame>
      <p:sp>
        <p:nvSpPr>
          <p:cNvPr id="5" name="TextBox 4">
            <a:extLst>
              <a:ext uri="{FF2B5EF4-FFF2-40B4-BE49-F238E27FC236}">
                <a16:creationId xmlns:a16="http://schemas.microsoft.com/office/drawing/2014/main" id="{C597D4E2-49BA-5F6C-170A-2F071C1BBA7E}"/>
              </a:ext>
            </a:extLst>
          </p:cNvPr>
          <p:cNvSpPr txBox="1"/>
          <p:nvPr/>
        </p:nvSpPr>
        <p:spPr>
          <a:xfrm>
            <a:off x="508000" y="5842000"/>
            <a:ext cx="11176000" cy="381000"/>
          </a:xfrm>
          <a:prstGeom prst="rect">
            <a:avLst/>
          </a:prstGeom>
          <a:noFill/>
        </p:spPr>
        <p:txBody>
          <a:bodyPr vert="horz" wrap="square" rtlCol="0">
            <a:spAutoFit/>
          </a:bodyPr>
          <a:lstStyle/>
          <a:p>
            <a:r>
              <a:rPr lang="en-US" b="1">
                <a:solidFill>
                  <a:srgbClr val="0072C6"/>
                </a:solidFill>
              </a:rPr>
              <a:t>Force cleanup between workloads: EXEC sys.sp_persistent_version_cleanup [db_name]</a:t>
            </a:r>
          </a:p>
        </p:txBody>
      </p:sp>
      <p:sp>
        <p:nvSpPr>
          <p:cNvPr id="6" name="TextBox 5">
            <a:extLst>
              <a:ext uri="{FF2B5EF4-FFF2-40B4-BE49-F238E27FC236}">
                <a16:creationId xmlns:a16="http://schemas.microsoft.com/office/drawing/2014/main" id="{E8F7B9F0-36E8-B223-C3B6-EA85C58F0305}"/>
              </a:ext>
            </a:extLst>
          </p:cNvPr>
          <p:cNvSpPr txBox="1"/>
          <p:nvPr/>
        </p:nvSpPr>
        <p:spPr>
          <a:xfrm>
            <a:off x="508000" y="6413500"/>
            <a:ext cx="11176000" cy="230832"/>
          </a:xfrm>
          <a:prstGeom prst="rect">
            <a:avLst/>
          </a:prstGeom>
          <a:noFill/>
        </p:spPr>
        <p:txBody>
          <a:bodyPr vert="horz" wrap="square" rtlCol="0">
            <a:spAutoFit/>
          </a:bodyPr>
          <a:lstStyle/>
          <a:p>
            <a:r>
              <a:rPr lang="en-US" sz="900" i="1">
                <a:solidFill>
                  <a:srgbClr val="808080"/>
                </a:solidFill>
              </a:rPr>
              <a:t>Source: Microsoft Learn - Monitor and troubleshoot accelerated database recovery</a:t>
            </a:r>
          </a:p>
        </p:txBody>
      </p:sp>
    </p:spTree>
    <p:extLst>
      <p:ext uri="{BB962C8B-B14F-4D97-AF65-F5344CB8AC3E}">
        <p14:creationId xmlns:p14="http://schemas.microsoft.com/office/powerpoint/2010/main" val="2983517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054A-0BC7-A09F-F193-F1D41220E362}"/>
              </a:ext>
            </a:extLst>
          </p:cNvPr>
          <p:cNvSpPr>
            <a:spLocks noGrp="1"/>
          </p:cNvSpPr>
          <p:nvPr>
            <p:ph type="title"/>
          </p:nvPr>
        </p:nvSpPr>
        <p:spPr/>
        <p:txBody>
          <a:bodyPr/>
          <a:lstStyle/>
          <a:p>
            <a:r>
              <a:rPr lang="en-US" dirty="0"/>
              <a:t>Watch out!</a:t>
            </a:r>
          </a:p>
        </p:txBody>
      </p:sp>
      <p:sp>
        <p:nvSpPr>
          <p:cNvPr id="3" name="Content Placeholder 2">
            <a:extLst>
              <a:ext uri="{FF2B5EF4-FFF2-40B4-BE49-F238E27FC236}">
                <a16:creationId xmlns:a16="http://schemas.microsoft.com/office/drawing/2014/main" id="{543A7D20-D441-CAF0-EFEF-68518CBE0D74}"/>
              </a:ext>
            </a:extLst>
          </p:cNvPr>
          <p:cNvSpPr>
            <a:spLocks noGrp="1"/>
          </p:cNvSpPr>
          <p:nvPr>
            <p:ph idx="1"/>
          </p:nvPr>
        </p:nvSpPr>
        <p:spPr/>
        <p:txBody>
          <a:bodyPr>
            <a:normAutofit/>
          </a:bodyPr>
          <a:lstStyle/>
          <a:p>
            <a:r>
              <a:rPr lang="en-US" sz="2400" dirty="0"/>
              <a:t>ADR in tempdb is new in SQL Server 2025 - test before enabling in production</a:t>
            </a:r>
          </a:p>
          <a:p>
            <a:r>
              <a:rPr lang="en-US" sz="2400" b="1" dirty="0">
                <a:solidFill>
                  <a:srgbClr val="FF0000"/>
                </a:solidFill>
              </a:rPr>
              <a:t>Known issue</a:t>
            </a:r>
            <a:r>
              <a:rPr lang="en-US" sz="2400" dirty="0"/>
              <a:t>: creating and dropping (or truncating) temp tables at a high rate can cause latch contention on </a:t>
            </a:r>
            <a:r>
              <a:rPr lang="en-US" sz="2400" dirty="0" err="1"/>
              <a:t>sys.sysseobjvalues</a:t>
            </a:r>
            <a:r>
              <a:rPr lang="en-US" sz="2400" dirty="0"/>
              <a:t> - fix planned for a later release</a:t>
            </a:r>
          </a:p>
          <a:p>
            <a:r>
              <a:rPr lang="en-US" sz="2400" dirty="0"/>
              <a:t>Enabling or disabling ADR in tempdb requires a SQL Server restart</a:t>
            </a:r>
          </a:p>
          <a:p>
            <a:r>
              <a:rPr lang="en-US" sz="2400" dirty="0"/>
              <a:t>ADR isn't supported with database mirroring</a:t>
            </a:r>
          </a:p>
        </p:txBody>
      </p:sp>
    </p:spTree>
    <p:extLst>
      <p:ext uri="{BB962C8B-B14F-4D97-AF65-F5344CB8AC3E}">
        <p14:creationId xmlns:p14="http://schemas.microsoft.com/office/powerpoint/2010/main" val="3717145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C90D6-FD56-2FE7-7F53-FB3D1F759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A28F1-E38D-9B32-8C65-1FBC1006EC0C}"/>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AD3BD72B-546C-51A5-A2C6-511E8812466E}"/>
              </a:ext>
            </a:extLst>
          </p:cNvPr>
          <p:cNvSpPr>
            <a:spLocks noGrp="1"/>
          </p:cNvSpPr>
          <p:nvPr>
            <p:ph idx="1"/>
          </p:nvPr>
        </p:nvSpPr>
        <p:spPr/>
        <p:txBody>
          <a:bodyPr>
            <a:normAutofit/>
          </a:bodyPr>
          <a:lstStyle/>
          <a:p>
            <a:r>
              <a:rPr lang="en-US" sz="2200" dirty="0"/>
              <a:t>Traditional recovery time grows with your longest-running transaction</a:t>
            </a:r>
          </a:p>
          <a:p>
            <a:r>
              <a:rPr lang="en-US" sz="2200" dirty="0"/>
              <a:t>ADR versions row changes in PVS and logs only non-versioned operations in SLOG</a:t>
            </a:r>
          </a:p>
          <a:p>
            <a:r>
              <a:rPr lang="en-US" sz="2200" dirty="0"/>
              <a:t>Recovery reads the log only from the last checkpoint - </a:t>
            </a:r>
            <a:r>
              <a:rPr lang="en-US" sz="2200" b="1" dirty="0"/>
              <a:t>undo is near-instant</a:t>
            </a:r>
          </a:p>
          <a:p>
            <a:r>
              <a:rPr lang="en-US" sz="2200" dirty="0"/>
              <a:t>Rollback is instant, and the log can truncate even with long transactions open</a:t>
            </a:r>
          </a:p>
          <a:p>
            <a:r>
              <a:rPr lang="en-US" sz="2200" dirty="0"/>
              <a:t>Enable it on SQL Server 2019+, then monitor PVS size and cleanup</a:t>
            </a:r>
          </a:p>
          <a:p>
            <a:r>
              <a:rPr lang="en-US" sz="2200" dirty="0"/>
              <a:t>SQL Server 2025: optimized locking requires ADR - one more reason to turn it on</a:t>
            </a:r>
          </a:p>
        </p:txBody>
      </p:sp>
    </p:spTree>
    <p:extLst>
      <p:ext uri="{BB962C8B-B14F-4D97-AF65-F5344CB8AC3E}">
        <p14:creationId xmlns:p14="http://schemas.microsoft.com/office/powerpoint/2010/main" val="1571384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EEE1A-5B71-21F6-C5B7-B8F6EDBA6DEF}"/>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FC70809E-78E5-FF2A-1BC4-A373F8D743D4}"/>
              </a:ext>
            </a:extLst>
          </p:cNvPr>
          <p:cNvSpPr>
            <a:spLocks noGrp="1"/>
          </p:cNvSpPr>
          <p:nvPr>
            <p:ph idx="1"/>
          </p:nvPr>
        </p:nvSpPr>
        <p:spPr/>
        <p:txBody>
          <a:bodyPr/>
          <a:lstStyle/>
          <a:p>
            <a:r>
              <a:rPr lang="en-US" dirty="0">
                <a:hlinkClick r:id="rId3"/>
              </a:rPr>
              <a:t>https://learn.microsoft.com/en-us/sql/relational-databases/accelerated-database-recovery-concepts?view=sql-server-ver17</a:t>
            </a:r>
            <a:endParaRPr lang="en-US" dirty="0"/>
          </a:p>
          <a:p>
            <a:r>
              <a:rPr lang="en-US" dirty="0">
                <a:hlinkClick r:id="rId4"/>
              </a:rPr>
              <a:t>https://learn.microsoft.com/en-us/sql/relational-databases/accelerated-database-recovery-troubleshoot?view=sql-server-ver17&amp;tabs=sql-server-sql-mi</a:t>
            </a:r>
            <a:endParaRPr lang="en-US" dirty="0"/>
          </a:p>
          <a:p>
            <a:r>
              <a:rPr lang="en-US" dirty="0">
                <a:hlinkClick r:id="rId5"/>
              </a:rPr>
              <a:t>https://www.microsoft.com/en-us/research/publication/constant-time-recovery-in-azure-sql-database/</a:t>
            </a:r>
            <a:endParaRPr lang="en-US" dirty="0"/>
          </a:p>
          <a:p>
            <a:r>
              <a:rPr lang="en-US" dirty="0">
                <a:hlinkClick r:id="rId6"/>
              </a:rPr>
              <a:t>https://www.youtube.com/watch?v=ro-iryiNkrg</a:t>
            </a:r>
            <a:endParaRPr lang="en-US" dirty="0"/>
          </a:p>
        </p:txBody>
      </p:sp>
    </p:spTree>
    <p:extLst>
      <p:ext uri="{BB962C8B-B14F-4D97-AF65-F5344CB8AC3E}">
        <p14:creationId xmlns:p14="http://schemas.microsoft.com/office/powerpoint/2010/main" val="24272764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B1641-20AD-6F50-F103-06BA07ADE8F2}"/>
              </a:ext>
            </a:extLst>
          </p:cNvPr>
          <p:cNvSpPr>
            <a:spLocks noGrp="1"/>
          </p:cNvSpPr>
          <p:nvPr>
            <p:ph type="title"/>
          </p:nvPr>
        </p:nvSpPr>
        <p:spPr/>
        <p:txBody>
          <a:bodyPr/>
          <a:lstStyle/>
          <a:p>
            <a:endParaRPr lang="en-US" dirty="0"/>
          </a:p>
        </p:txBody>
      </p:sp>
      <p:sp>
        <p:nvSpPr>
          <p:cNvPr id="4" name="TextBox 3">
            <a:extLst>
              <a:ext uri="{FF2B5EF4-FFF2-40B4-BE49-F238E27FC236}">
                <a16:creationId xmlns:a16="http://schemas.microsoft.com/office/drawing/2014/main" id="{AF0F8966-7307-CCEF-923F-13968C6AAEC7}"/>
              </a:ext>
            </a:extLst>
          </p:cNvPr>
          <p:cNvSpPr txBox="1"/>
          <p:nvPr/>
        </p:nvSpPr>
        <p:spPr>
          <a:xfrm>
            <a:off x="838200" y="2413000"/>
            <a:ext cx="10515600" cy="707886"/>
          </a:xfrm>
          <a:prstGeom prst="rect">
            <a:avLst/>
          </a:prstGeom>
          <a:noFill/>
        </p:spPr>
        <p:txBody>
          <a:bodyPr vert="horz" wrap="square" rtlCol="0">
            <a:spAutoFit/>
          </a:bodyPr>
          <a:lstStyle/>
          <a:p>
            <a:pPr algn="ctr"/>
            <a:r>
              <a:rPr lang="en-US" sz="4000" b="1">
                <a:solidFill>
                  <a:srgbClr val="0072C6"/>
                </a:solidFill>
              </a:rPr>
              <a:t>Thank you!</a:t>
            </a:r>
          </a:p>
        </p:txBody>
      </p:sp>
      <p:sp>
        <p:nvSpPr>
          <p:cNvPr id="5" name="TextBox 4">
            <a:extLst>
              <a:ext uri="{FF2B5EF4-FFF2-40B4-BE49-F238E27FC236}">
                <a16:creationId xmlns:a16="http://schemas.microsoft.com/office/drawing/2014/main" id="{5A1ACDD8-D0CD-0BFB-79F8-386C7D3441C4}"/>
              </a:ext>
            </a:extLst>
          </p:cNvPr>
          <p:cNvSpPr txBox="1"/>
          <p:nvPr/>
        </p:nvSpPr>
        <p:spPr>
          <a:xfrm>
            <a:off x="838200" y="3556000"/>
            <a:ext cx="10515600" cy="1107996"/>
          </a:xfrm>
          <a:prstGeom prst="rect">
            <a:avLst/>
          </a:prstGeom>
          <a:noFill/>
        </p:spPr>
        <p:txBody>
          <a:bodyPr vert="horz" wrap="square" rtlCol="0">
            <a:spAutoFit/>
          </a:bodyPr>
          <a:lstStyle/>
          <a:p>
            <a:pPr algn="ctr"/>
            <a:r>
              <a:rPr lang="en-US" sz="2200">
                <a:solidFill>
                  <a:srgbClr val="1A1A2E"/>
                </a:solidFill>
              </a:rPr>
              <a:t>gohigh.substack.com</a:t>
            </a:r>
          </a:p>
          <a:p>
            <a:pPr algn="ctr"/>
            <a:r>
              <a:rPr lang="en-US" sz="2200">
                <a:solidFill>
                  <a:srgbClr val="1A1A2E"/>
                </a:solidFill>
              </a:rPr>
              <a:t>linkedin.com/in/haripriya-naidu1215/</a:t>
            </a:r>
          </a:p>
          <a:p>
            <a:pPr algn="ctr"/>
            <a:r>
              <a:rPr lang="en-US" sz="2200">
                <a:solidFill>
                  <a:srgbClr val="1A1A2E"/>
                </a:solidFill>
              </a:rPr>
              <a:t>github.com/haripriyasb/ADR</a:t>
            </a:r>
          </a:p>
        </p:txBody>
      </p:sp>
    </p:spTree>
    <p:extLst>
      <p:ext uri="{BB962C8B-B14F-4D97-AF65-F5344CB8AC3E}">
        <p14:creationId xmlns:p14="http://schemas.microsoft.com/office/powerpoint/2010/main" val="497896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1435</TotalTime>
  <Words>4003</Words>
  <Application>Microsoft Office PowerPoint</Application>
  <PresentationFormat>Widescreen</PresentationFormat>
  <Paragraphs>458</Paragraphs>
  <Slides>33</Slides>
  <Notes>33</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Cascadia Mono</vt:lpstr>
      <vt:lpstr>Office Theme</vt:lpstr>
      <vt:lpstr>Accelerated Database Recovery (ADR)</vt:lpstr>
      <vt:lpstr>Haripriya Naidu</vt:lpstr>
      <vt:lpstr>Agenda</vt:lpstr>
      <vt:lpstr>Pain point</vt:lpstr>
      <vt:lpstr>Traditional Recovery Process</vt:lpstr>
      <vt:lpstr>ADR</vt:lpstr>
      <vt:lpstr>1. Persistent Version Store -  PVS</vt:lpstr>
      <vt:lpstr>Version Store vs Persistent Version Store</vt:lpstr>
      <vt:lpstr>PVS with Availability Groups</vt:lpstr>
      <vt:lpstr>2. Logical Revert</vt:lpstr>
      <vt:lpstr>3. Secondary Log Stream (SLOG)</vt:lpstr>
      <vt:lpstr>4. Cleanup</vt:lpstr>
      <vt:lpstr>Three Kinds of Operations, Three Ways to Recover</vt:lpstr>
      <vt:lpstr>ADR’s Core Trick -  Version Everything</vt:lpstr>
      <vt:lpstr>Recovery with ADR</vt:lpstr>
      <vt:lpstr>PowerPoint Presentation</vt:lpstr>
      <vt:lpstr>PowerPoint Presentation</vt:lpstr>
      <vt:lpstr>PowerPoint Presentation</vt:lpstr>
      <vt:lpstr>PowerPoint Presentation</vt:lpstr>
      <vt:lpstr>Components of ADR</vt:lpstr>
      <vt:lpstr>Results from Production and Lab</vt:lpstr>
      <vt:lpstr>Aggressive Log Truncation</vt:lpstr>
      <vt:lpstr>Workloads that benefit from ADR</vt:lpstr>
      <vt:lpstr>Enable ADR</vt:lpstr>
      <vt:lpstr>PowerPoint Presentation</vt:lpstr>
      <vt:lpstr>What's New in SQL Server 2022 and 2025</vt:lpstr>
      <vt:lpstr>Best Practices for ADR </vt:lpstr>
      <vt:lpstr>Monitoring: What to Watch</vt:lpstr>
      <vt:lpstr>Troubleshooting a Large PVS</vt:lpstr>
      <vt:lpstr>Watch out!</vt:lpstr>
      <vt:lpstr>Takeaways</vt:lpstr>
      <vt:lpstr>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Haripriya Naidu</dc:creator>
  <cp:lastModifiedBy>Siddhaya babunaidu, Haripriya</cp:lastModifiedBy>
  <cp:revision>63</cp:revision>
  <dcterms:created xsi:type="dcterms:W3CDTF">2026-09-13T21:33:51Z</dcterms:created>
  <dcterms:modified xsi:type="dcterms:W3CDTF">2026-10-01T20:50:24Z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267e522-0091-4d88-9989-f382df9eb3cc_Enabled">
    <vt:lpwstr>true</vt:lpwstr>
  </property>
  <property fmtid="{D5CDD505-2E9C-101B-9397-08002B2CF9AE}" pid="3" name="MSIP_Label_6267e522-0091-4d88-9989-f382df9eb3cc_SetDate">
    <vt:lpwstr>2026-10-01T20:50:23Z</vt:lpwstr>
  </property>
  <property fmtid="{D5CDD505-2E9C-101B-9397-08002B2CF9AE}" pid="4" name="MSIP_Label_6267e522-0091-4d88-9989-f382df9eb3cc_Method">
    <vt:lpwstr>Privileged</vt:lpwstr>
  </property>
  <property fmtid="{D5CDD505-2E9C-101B-9397-08002B2CF9AE}" pid="5" name="MSIP_Label_6267e522-0091-4d88-9989-f382df9eb3cc_Name">
    <vt:lpwstr>General</vt:lpwstr>
  </property>
  <property fmtid="{D5CDD505-2E9C-101B-9397-08002B2CF9AE}" pid="6" name="MSIP_Label_6267e522-0091-4d88-9989-f382df9eb3cc_SiteId">
    <vt:lpwstr>8f3e36ea-8039-4b40-81a7-7dc0599e8645</vt:lpwstr>
  </property>
  <property fmtid="{D5CDD505-2E9C-101B-9397-08002B2CF9AE}" pid="7" name="MSIP_Label_6267e522-0091-4d88-9989-f382df9eb3cc_ActionId">
    <vt:lpwstr>44505774-927c-417a-9693-7142a752fc5c</vt:lpwstr>
  </property>
  <property fmtid="{D5CDD505-2E9C-101B-9397-08002B2CF9AE}" pid="8" name="MSIP_Label_6267e522-0091-4d88-9989-f382df9eb3cc_ContentBits">
    <vt:lpwstr>0</vt:lpwstr>
  </property>
  <property fmtid="{D5CDD505-2E9C-101B-9397-08002B2CF9AE}" pid="9" name="MSIP_Label_6267e522-0091-4d88-9989-f382df9eb3cc_Tag">
    <vt:lpwstr>10, 0, 1, 1</vt:lpwstr>
  </property>
</Properties>
</file>